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naive</c:v>
                </c:pt>
              </c:strCache>
            </c:strRef>
          </c:tx>
          <c:spPr>
            <a:ln w="34925">
              <a:solidFill>
                <a:srgbClr val="E87BA4"/>
              </a:solidFill>
            </a:ln>
          </c:spPr>
          <c:marker>
            <c:symbol val="circle"/>
            <c:size val="8"/>
            <c:spPr>
              <a:solidFill>
                <a:srgbClr val="E87BA4"/>
              </a:solidFill>
              <a:ln>
                <a:solidFill>
                  <a:srgbClr val="FFFFFF"/>
                </a:solidFill>
              </a:ln>
            </c:spPr>
          </c:marker>
          <c:cat>
            <c:strRef>
              <c:f>Sheet1!$A$2:$A$4</c:f>
              <c:strCache>
                <c:ptCount val="3"/>
                <c:pt idx="0">
                  <c:v>after task 1</c:v>
                </c:pt>
                <c:pt idx="1">
                  <c:v>after task 2</c:v>
                </c:pt>
                <c:pt idx="2">
                  <c:v>after task 3</c:v>
                </c:pt>
              </c:strCache>
            </c:strRef>
          </c:cat>
          <c:val>
            <c:numRef>
              <c:f>Sheet1!$B$2:$B$4</c:f>
              <c:numCache>
                <c:formatCode>General</c:formatCode>
                <c:ptCount val="3"/>
                <c:pt idx="0">
                  <c:v>0.9772</c:v>
                </c:pt>
                <c:pt idx="1">
                  <c:v>0.3231</c:v>
                </c:pt>
                <c:pt idx="2">
                  <c:v>0.0481</c:v>
                </c:pt>
              </c:numCache>
            </c:numRef>
          </c:val>
          <c:smooth val="0"/>
        </c:ser>
        <c:ser>
          <c:idx val="1"/>
          <c:order val="1"/>
          <c:tx>
            <c:strRef>
              <c:f>Sheet1!$C$1</c:f>
              <c:strCache>
                <c:ptCount val="1"/>
                <c:pt idx="0">
                  <c:v>replay</c:v>
                </c:pt>
              </c:strCache>
            </c:strRef>
          </c:tx>
          <c:spPr>
            <a:ln w="34925">
              <a:solidFill>
                <a:srgbClr val="EB6834"/>
              </a:solidFill>
              <a:prstDash val="dash"/>
            </a:ln>
          </c:spPr>
          <c:marker>
            <c:symbol val="circle"/>
            <c:size val="8"/>
            <c:spPr>
              <a:solidFill>
                <a:srgbClr val="EB6834"/>
              </a:solidFill>
              <a:ln>
                <a:solidFill>
                  <a:srgbClr val="FFFFFF"/>
                </a:solidFill>
              </a:ln>
            </c:spPr>
          </c:marker>
          <c:cat>
            <c:strRef>
              <c:f>Sheet1!$A$2:$A$4</c:f>
              <c:strCache>
                <c:ptCount val="3"/>
                <c:pt idx="0">
                  <c:v>after task 1</c:v>
                </c:pt>
                <c:pt idx="1">
                  <c:v>after task 2</c:v>
                </c:pt>
                <c:pt idx="2">
                  <c:v>after task 3</c:v>
                </c:pt>
              </c:strCache>
            </c:strRef>
          </c:cat>
          <c:val>
            <c:numRef>
              <c:f>Sheet1!$C$2:$C$4</c:f>
              <c:numCache>
                <c:formatCode>General</c:formatCode>
                <c:ptCount val="3"/>
                <c:pt idx="0">
                  <c:v>0.9741</c:v>
                </c:pt>
                <c:pt idx="1">
                  <c:v>0.9773</c:v>
                </c:pt>
                <c:pt idx="2">
                  <c:v>0.9773</c:v>
                </c:pt>
              </c:numCache>
            </c:numRef>
          </c:val>
          <c:smooth val="0"/>
        </c:ser>
        <c:ser>
          <c:idx val="2"/>
          <c:order val="2"/>
          <c:tx>
            <c:strRef>
              <c:f>Sheet1!$D$1</c:f>
              <c:strCache>
                <c:ptCount val="1"/>
                <c:pt idx="0">
                  <c:v>sleep</c:v>
                </c:pt>
              </c:strCache>
            </c:strRef>
          </c:tx>
          <c:spPr>
            <a:ln w="34925">
              <a:solidFill>
                <a:srgbClr val="2A78D6"/>
              </a:solidFill>
            </a:ln>
          </c:spPr>
          <c:marker>
            <c:symbol val="circle"/>
            <c:size val="8"/>
            <c:spPr>
              <a:solidFill>
                <a:srgbClr val="2A78D6"/>
              </a:solidFill>
              <a:ln>
                <a:solidFill>
                  <a:srgbClr val="FFFFFF"/>
                </a:solidFill>
              </a:ln>
            </c:spPr>
          </c:marker>
          <c:cat>
            <c:strRef>
              <c:f>Sheet1!$A$2:$A$4</c:f>
              <c:strCache>
                <c:ptCount val="3"/>
                <c:pt idx="0">
                  <c:v>after task 1</c:v>
                </c:pt>
                <c:pt idx="1">
                  <c:v>after task 2</c:v>
                </c:pt>
                <c:pt idx="2">
                  <c:v>after task 3</c:v>
                </c:pt>
              </c:strCache>
            </c:strRef>
          </c:cat>
          <c:val>
            <c:numRef>
              <c:f>Sheet1!$D$2:$D$4</c:f>
              <c:numCache>
                <c:formatCode>General</c:formatCode>
                <c:ptCount val="3"/>
                <c:pt idx="0">
                  <c:v>0.977</c:v>
                </c:pt>
                <c:pt idx="1">
                  <c:v>0.9767</c:v>
                </c:pt>
                <c:pt idx="2">
                  <c:v>0.9762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6E5E0"/>
            </a:solidFill>
          </a:ln>
        </c:spPr>
        <c:txPr>
          <a:bodyPr/>
          <a:lstStyle/>
          <a:p>
            <a:pPr>
              <a:defRPr sz="1100">
                <a:solidFill>
                  <a:srgbClr val="85837D"/>
                </a:solidFill>
                <a:latin typeface="Calibri"/>
              </a:defRPr>
            </a:pPr>
          </a:p>
        </c:txPr>
        <c:crossAx val="2140495176"/>
        <c:crosses val="autoZero"/>
        <c:auto val="1"/>
        <c:lblAlgn val="ctr"/>
        <c:lblOffset val="100"/>
        <c:noMultiLvlLbl val="0"/>
      </c:catAx>
      <c:valAx>
        <c:axId val="2140495176"/>
        <c:scaling>
          <c:max val="1.0"/>
          <c:min val="0.0"/>
        </c:scaling>
        <c:delete val="0"/>
        <c:axPos val="l"/>
        <c:majorGridlines>
          <c:spPr>
            <a:ln>
              <a:solidFill>
                <a:srgbClr val="E6E5E0"/>
              </a:solidFill>
            </a:ln>
          </c:spPr>
        </c:majorGridlines>
        <c:numFmt formatCode="0.00" sourceLinked="0"/>
        <c:majorTickMark val="out"/>
        <c:minorTickMark val="none"/>
        <c:tickLblPos val="nextTo"/>
        <c:spPr>
          <a:ln>
            <a:noFill/>
          </a:ln>
        </c:spPr>
        <c:txPr>
          <a:bodyPr/>
          <a:lstStyle/>
          <a:p>
            <a:pPr>
              <a:defRPr sz="1100">
                <a:solidFill>
                  <a:srgbClr val="85837D"/>
                </a:solidFill>
                <a:latin typeface="Calibri"/>
              </a:defRPr>
            </a:pPr>
          </a:p>
        </c:txPr>
        <c:crossAx val="2118791784"/>
        <c:crosses val="autoZero"/>
        <c:majorUnit val="0.25"/>
      </c:valAx>
    </c:plotArea>
    <c:legend>
      <c:legendPos val="b"/>
      <c:layout/>
      <c:overlay val="0"/>
      <c:txPr>
        <a:bodyPr/>
        <a:lstStyle/>
        <a:p>
          <a:pPr>
            <a:defRPr sz="1200">
              <a:solidFill>
                <a:srgbClr val="5251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project asks a simple question: when people add brain-inspired mechanisms to a reinforcement-learning agent, such as spiking neurons, local learning rules or a sleep phase, which of them actually help? I built one agent, switched each mechanism on and off against a matched control, and measured the effect. The short answer is that no mechanism gave a statistically reliable improvement beyond its matched control; one narrow effect survived and two are conditional. Every number in this talk comes from the frozen results and is the same number that appears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Continual learning means the agent learns tasks in sequence. In my setting the agent sees a small room with three objects and must fetch a different object in each task. With plain fine-tuning, learning the second and third tasks destroys the first: on the right, the naive agent's return on task 1 drops from about 0.98 to 0.05. Replay and sleep keep it near 1. The standard remedies follow three strategies: regularisation like EWC, replaying stored experience, or capacity isolation, which gives each task its own network. Brain-inspired remedies are popular, but papers usually add several at once, so it is hard to say which one did the work. That is the gap this project addresses.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is: which of these mechanisms actually helps, when each one is isolated? Each card shows a mechanism and the control it is compared against. The controls are chosen to remove the most obvious alternative explanation. For example, if STDP helps, is it because STDP is useful, or because any extra update of that size helps? So STDP is compared with a random update of exactly the same size. If sleep helps, is it because of sleep, or because it replays more old data? So sleep is compared with replay at the same number of replayed samples. Six of these were tested. The Transformer comparison is inconclusive, because no benchmark we tried both required memory and was learnable, so benchmark validity was never established. The project was set up so that negative results are results, not failures.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strands of work. In continual RL, the standard baselines follow three strategies: regularisation such as EWC (and LwF, which I added in a follow-up), replay, and parameter isolation; the CLEAR paper showed that replay with behavioural cloning is extremely strong, which is why it is my main comparator for sleep. Tadros and colleagues showed a sleep-like phase can recover forgotten tasks in classifiers; my sleep phase is inspired by that but is replay plus distillation in RL. On the spiking side, surrogate gradients make SNNs trainable, and recent work shows RL is sensitive to how they are set. Local rules like three-factor STDP, DFA and homeostasis are proposed as brain-like alternatives to backprop. The gap: they are usually tested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 The environment gives a 7 by 7 view of the room and the task ID. The encoder is a spiking network: three convolutional layers of leaky integrate-and-fire neurons, simulated for 4 time steps per frame; the control is an ordinary CNN with the same shape. Optionally a small Transformer attends over the last 4 frames. The encoder is a shared trunk; each task adds an actor-critic head and a task embedding, 17,160 parameters per task, trained with PPO. For continual learning, the sleep variant alternates two phases: in the wake phase the agent learns the current task online; at the end of each task it stores 5,000 states in a replay buffer. Every 25 updates it sleeps: 700 offline gradient steps that distil its old policies from the buffer, with no environment interaction. Every part can be swapped independently, which is what makes the ablations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experiments use MiniGrid. The continual sequences are fetch3 and fetch5, where the agent is told which task it is doing. DoorKey is used for the plasticity questions, and the Memory maps for the Transformer question. All agents are small and train with PPO on a CPU; in total the frozen results are 289 runs and about 110 CPU hours. The right-hand side is the part I want to stress. Each comparison keeps everything else equal, and in two places I matched a resource that is usually ignored: the number of replayed samples, and total memory including the replay buffer. The final tests were prospectively specified in a version-controlled experiment log before the runs, with Holm correction where several tests share a family, and all arms of each comparison used the same seeds. I label every result as confirmatory, exploratory or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result on one slide, grouped the same way as the conclusion. Did not survive: the tested STDP rule, which was not distinguishable from a random update of the same size, with a wide interval; homeostasis with ordinary backprop, which looked positive but did not survive the multiple-comparison correction; and sleep, which removes forgetting but showed no detectable advantage over replay once the replay budget was matched. Survived: homeostasis speeds up learning when the encoder's credit assignment is backprop-free, with DFA. Conditional: the spiking encoder works at fewer operations in an estimate, but its measured CPU cost is higher; and a shared trunk with a small buffer matches full-width isolation in less memory, but a post-freeze follow-up showed narrower isolation networks beat it. Unresolved: the Transformer question, because benchmark validity was not established. The next slides go through each 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the return on the first task as later tasks are learned; the bottom row is the average over tasks seen so far. Naive fine-tuning, in pink, forgets: its final accuracy on the 3-task CNN sequence is 0.555. Replay and sleep both remove almost all of that forgetting, reaching 0.970 and 0.978. On the SNN plus Transformer agent sleep originally looked slightly better than replay, but it was replaying 28 percent more data. In the prospectively specified test with the replayed samples matched exactly, the difference is +0.017 [−0.026, +0.060], p = 0.415, with 8 seeds per arm, the same seeds in both. That interval is narrow, so it excludes a large accuracy difference in this setup. In my implementation sleep is a way of scheduling replay, and at an equal replay budget I found no advantage for it. That is one sleep schedule on one agent, not proof that offline consolidation can never help.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one network per task, never forgets by construction, so the fair question is memory. Per parameter, the shared trunk with per-task heads looks 2.5–3.3 times more efficient, which is the usual way this is reported. But the shared trunk needs a replay buffer, and at the default 5,000 states per task the buffer outweighs the extra networks: isolation gets 1.8–2.9 times more accuracy per megabyte. The exception is a small buffer: on the SNN, sleep with 200 states per task reaches a similar mean accuracy to isolation, 0.838 against 0.833, in 0.89 instead of 1.92 megabytes, about 46 percent of the memory. But this is 3 seeds per arm, and the 95 percent interval for the difference runs from −0.167 to +0.177, so it is a similar mean, not evidence of equal accuracy. And all of this is against full-width isolation, which the next slide revisits.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freezing the results I ran one more prospectively specified test, because the memory comparison had kept isolation's networks at full width. On the five-task CNN sequence, with 10 fresh seeds per arm, I shrank each isolated network to a quarter of the width. At 0.90 megabytes it reached 0.972, against 0.944 for a shared trunk trained with LwF at 0.91 megabytes and 0.920 for the same trunk with replay at 1.83. Both differences are significant after Holm correction, and the narrow networks lose almost nothing against full width. So the small-buffer advantage of the shared trunk holds only against full-width isolation. Two limits: I did not shrink the shared trunk the same way, and the SNN case is untested, because the only narrow SNN runs were a two-seed pilot at too small a training budget.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DoorKey, a task where the encoder's learning matters. On the left, backprop is the learning signal. The tested rule, stabilised reward-modulated STDP added to backprop, was not distinguishable from a random update of the same size: the AUC difference is +0.033 [−0.260, +0.326], p = 0.818. That interval is wide, so it does not rule out a large effect; it is no detectable effect for this rule in this setup. Without stabilisation, STDP makes things worse through runaway firing. Homeostasis with backprop looked positive, raw p = 0.029, but not after Holm correction. On the right the encoder's credit assignment is backprop-free, by direct feedback alignment; the heads still use exact gradients. Here homeostasis clearly speeds up learning: AUC difference +0.326 [+0.101, +0.551], Holm p = 0.017. It solved 7/10 runs against 2/10, but that difference is not significant, so it makes DFA faster, not reliable. This is the one effect that survived.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compare encoders without RL noise, both were trained to copy a DoorKey teacher, with a penalty that trades operations for accuracy. Where both work, they are equally accurate. The difference is at the low end: the sparsified CNN collapses below about 33k operations per frame, while the SNN still works at 16.6k, with accuracy 0.986. So the SNN reaches a lower-operation regime, not higher accuracy. Two caveats: the measured cost in my implementation, CPU process time for one training step on a minibatch of 256 observations on one thread, is 80 milliseconds for the SNN against 16 for the CNN, 5.2 times more, because it simulates several time steps; and the energy numbers are an estimated arithmetic energy proxy that assumes neuromorphic hardware, which I did not measure.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 think, the most useful part of the project. Seven findings looked positive early on, and each shrank or disappeared once the right control was in place. Sleep beating replay came from three seeds and from sleep replaying more data. Shared weights looked far more efficient only because the replay buffer was not counted as memory. Sleep beating isolation on five tasks came from a training budget too small for fresh networks. The two homeostasis results came from small seed counts, and the Transformer result came from a benchmark that did not need memory at all. The last row is from the post-freeze follow-up: the shared trunk's small-buffer advantage disappeared once isolation's networks were allowed to be narrower. The common pattern: the effects shrank or disappeared once the seed counts, training budgets, replay budgets, memory accounting and network width were made fair. The one that survived is the speed-up homeostasis gives DFA, in its area-under-the-curve, not its solve rate.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demo I will switch to the dashboard, which is a single offline HTML file built from the same frozen results. It shows the two CNN agents after learning all three tasks, in the same rooms, chosen before seeing the outcomes. The naive agent's first task-1 episode happens to succeed, but its average task-1 return over 100 evaluation episodes is only 0.126, while the sleep agent stays at 0.978. If time allows I will also run one live episode on the CPU with live_episode.py, first the naive agent, then the sleep agent, on task 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real. The agent is told which task it is doing, the scale is small, many continual arms have only 3 seeds, the energy numbers are an estimated proxy, the frozen isolation baseline used full-width networks while the shared trunk was never shrunk, and the Transformer question is inconclusive because no benchmark we tried both required memory and was learnable within budget. The tests were specified in advance, but in a version-controlled project log rather than a public registry. The next two slides are the plan for addressing the biggest of these, which is scale.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slides are plans, not results. The main limitation of this project is scale, and the reason is specific: the agents are small, but everything ran on a four-core CPU and most of the time went to stepping the environments. The plan is to port the agent, the mechanisms and the baselines to JAX and run them on cloud GPUs with XLand-MiniGrid, a GPU-native version of MiniGrid that its authors report runs millions of steps per second on one GPU and can generate many related tasks. Validation comes first: before trusting anything new, I will replicate three headline results on its MiniGrid ports. The rough timeline is one to two weeks for the port and the replication, two to four weeks for the scaled study, then revising the paper and submitting it, with TMLR as the first choice.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questions for the scaled study: longer sequences of ten to fifty related tasks, where transfer matters, with accuracy-versus-memory curves in which every method is shrunk along its own size setting, so isolation width, shared-trunk width and buffer size; ten to twenty seeds per arm, with a power analysis and equivalence tests, so that today's no-large-effect nulls become informative; a memory benchmark that agents can actually learn, so that the Transformer question can be answered; the SNN version of the isolation-width test at 450k frames per task; network size; and a task-agnostic setting. On the right are smaller follow-ups. The replay-budget sweep is motivated by an exploratory observation only. None of this is a prediction of what the study will find.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No brain-inspired mechanism gave a statistically reliable improvement in accuracy or forgetting beyond its matched control, and with these seed counts that rules out large effects only where the intervals are narrow; it never shows equivalence. One effect survived: homeostasis speeds up learning when the encoder's credit assignment is backprop-free. Two are conditional: the shared trunk with a small buffer, which narrower isolation networks beat after the freeze, and the spiking encoder, whose energy advantage is only an estimate while its measured CPU cost is higher. STDP, homeostasis with backprop and sleep against matched replay did not survive, and the Transformer question and the SNN width test are unresolved. The broader lesson is methodological: effects shrank or disappeared once seed counts, training budgets, replay budgets, memory accounting and network width were made fair. 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full continual results table from the paper, final accuracy with standard deviation over seeds, and forgetting. Sleep, matched is the prospectively specified budget-matched arm, run only on the SNN plus Transformer agent, where the replay budgets differed.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exact prospectively specified contrasts. The only effect that survives correction is the AUC effect of homeostasis under DFA, in the last row.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protocol constants, read from the stored run configurations (paper appendix 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main references. The full list, with the verification status of each entry, is in paper/refs.bib.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4"/>
        </a:solidFill>
        <a:effectLst/>
      </p:bgPr>
    </p:bg>
    <p:spTree>
      <p:nvGrpSpPr>
        <p:cNvPr id="1" name=""/>
        <p:cNvGrpSpPr/>
        <p:nvPr/>
      </p:nvGrpSpPr>
      <p:grpSpPr/>
      <p:sp>
        <p:nvSpPr>
          <p:cNvPr id="2" name="TextBox 1"/>
          <p:cNvSpPr txBox="1"/>
          <p:nvPr/>
        </p:nvSpPr>
        <p:spPr>
          <a:xfrm>
            <a:off x="640080" y="914400"/>
            <a:ext cx="10058400" cy="365760"/>
          </a:xfrm>
          <a:prstGeom prst="rect">
            <a:avLst/>
          </a:prstGeom>
          <a:noFill/>
        </p:spPr>
        <p:txBody>
          <a:bodyPr wrap="square" anchor="t" lIns="0" rIns="0" tIns="0" bIns="0">
            <a:spAutoFit/>
          </a:bodyPr>
          <a:lstStyle/>
          <a:p>
            <a:pPr algn="l"/>
            <a:r>
              <a:rPr sz="1300" b="1" i="0">
                <a:solidFill>
                  <a:srgbClr val="9CC3F2"/>
                </a:solidFill>
                <a:latin typeface="Calibri"/>
              </a:rPr>
              <a:t>CAPSTONE PROJECT · FINAL REVIEW</a:t>
            </a:r>
          </a:p>
        </p:txBody>
      </p:sp>
      <p:sp>
        <p:nvSpPr>
          <p:cNvPr id="3" name="TextBox 2"/>
          <p:cNvSpPr txBox="1"/>
          <p:nvPr/>
        </p:nvSpPr>
        <p:spPr>
          <a:xfrm>
            <a:off x="640080" y="1371600"/>
            <a:ext cx="10789920" cy="1828800"/>
          </a:xfrm>
          <a:prstGeom prst="rect">
            <a:avLst/>
          </a:prstGeom>
          <a:noFill/>
        </p:spPr>
        <p:txBody>
          <a:bodyPr wrap="square" anchor="t" lIns="0" rIns="0" tIns="0" bIns="0">
            <a:spAutoFit/>
          </a:bodyPr>
          <a:lstStyle/>
          <a:p>
            <a:pPr algn="l">
              <a:lnSpc>
                <a:spcPct val="100000"/>
              </a:lnSpc>
            </a:pPr>
            <a:r>
              <a:rPr sz="3600" b="1" i="0">
                <a:solidFill>
                  <a:srgbClr val="FFFFFF"/>
                </a:solidFill>
                <a:latin typeface="Cambria"/>
              </a:rPr>
              <a:t>Testing Brain-Inspired Mechanisms for Task-Incremental Continual Reinforcement Learning</a:t>
            </a:r>
          </a:p>
        </p:txBody>
      </p:sp>
      <p:sp>
        <p:nvSpPr>
          <p:cNvPr id="4" name="TextBox 3"/>
          <p:cNvSpPr txBox="1"/>
          <p:nvPr/>
        </p:nvSpPr>
        <p:spPr>
          <a:xfrm>
            <a:off x="640080" y="3154680"/>
            <a:ext cx="10058400" cy="457200"/>
          </a:xfrm>
          <a:prstGeom prst="rect">
            <a:avLst/>
          </a:prstGeom>
          <a:noFill/>
        </p:spPr>
        <p:txBody>
          <a:bodyPr wrap="square" anchor="t" lIns="0" rIns="0" tIns="0" bIns="0">
            <a:spAutoFit/>
          </a:bodyPr>
          <a:lstStyle/>
          <a:p>
            <a:pPr algn="l"/>
            <a:r>
              <a:rPr sz="2200" b="0" i="0">
                <a:solidFill>
                  <a:srgbClr val="C3C2B7"/>
                </a:solidFill>
                <a:latin typeface="Calibri"/>
              </a:rPr>
              <a:t>A Controlled Ablation Study</a:t>
            </a:r>
          </a:p>
        </p:txBody>
      </p:sp>
      <p:sp>
        <p:nvSpPr>
          <p:cNvPr id="5" name="TextBox 4"/>
          <p:cNvSpPr txBox="1"/>
          <p:nvPr/>
        </p:nvSpPr>
        <p:spPr>
          <a:xfrm>
            <a:off x="640080" y="4160520"/>
            <a:ext cx="6400800" cy="2194560"/>
          </a:xfrm>
          <a:prstGeom prst="rect">
            <a:avLst/>
          </a:prstGeom>
          <a:noFill/>
        </p:spPr>
        <p:txBody>
          <a:bodyPr wrap="square" anchor="t" lIns="0" rIns="0" tIns="0" bIns="0">
            <a:spAutoFit/>
          </a:bodyPr>
          <a:lstStyle/>
          <a:p>
            <a:pPr algn="l">
              <a:spcAft>
                <a:spcPts val="300"/>
              </a:spcAft>
            </a:pPr>
            <a:r>
              <a:rPr sz="1800" b="1" i="0">
                <a:solidFill>
                  <a:srgbClr val="FFFFFF"/>
                </a:solidFill>
                <a:latin typeface="Calibri"/>
              </a:rPr>
              <a:t>Vaibhav Tiwari</a:t>
            </a:r>
          </a:p>
          <a:p>
            <a:pPr algn="l">
              <a:spcAft>
                <a:spcPts val="300"/>
              </a:spcAft>
            </a:pPr>
            <a:r>
              <a:rPr sz="1500" b="0" i="0">
                <a:solidFill>
                  <a:srgbClr val="C3C2B7"/>
                </a:solidFill>
                <a:latin typeface="Calibri"/>
              </a:rPr>
              <a:t>Roll number: [to fill in]</a:t>
            </a:r>
          </a:p>
          <a:p>
            <a:pPr algn="l">
              <a:spcAft>
                <a:spcPts val="300"/>
              </a:spcAft>
            </a:pPr>
            <a:r>
              <a:rPr sz="1500" b="0" i="0">
                <a:solidFill>
                  <a:srgbClr val="C3C2B7"/>
                </a:solidFill>
                <a:latin typeface="Calibri"/>
              </a:rPr>
              <a:t>Guide: [to fill in]</a:t>
            </a:r>
          </a:p>
          <a:p>
            <a:pPr algn="l">
              <a:spcAft>
                <a:spcPts val="300"/>
              </a:spcAft>
            </a:pPr>
            <a:r>
              <a:rPr sz="1500" b="0" i="0">
                <a:solidFill>
                  <a:srgbClr val="C3C2B7"/>
                </a:solidFill>
                <a:latin typeface="Calibri"/>
              </a:rPr>
              <a:t>Department: [to fill in]</a:t>
            </a:r>
          </a:p>
          <a:p>
            <a:pPr algn="l">
              <a:spcAft>
                <a:spcPts val="300"/>
              </a:spcAft>
            </a:pPr>
            <a:r>
              <a:rPr sz="1500" b="0" i="0">
                <a:solidFill>
                  <a:srgbClr val="C3C2B7"/>
                </a:solidFill>
                <a:latin typeface="Calibri"/>
              </a:rPr>
              <a:t>Institution: [to fill in]</a:t>
            </a:r>
          </a:p>
          <a:p>
            <a:pPr algn="l">
              <a:spcAft>
                <a:spcPts val="300"/>
              </a:spcAft>
            </a:pPr>
            <a:r>
              <a:rPr sz="1500" b="0" i="0">
                <a:solidFill>
                  <a:srgbClr val="C3C2B7"/>
                </a:solidFill>
                <a:latin typeface="Calibri"/>
              </a:rPr>
              <a:t>Date: [to fill in]</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F8D86"/>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F8D86"/>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THE PROBLEM</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Learning a new task erases the old one</a:t>
            </a:r>
          </a:p>
        </p:txBody>
      </p:sp>
      <p:sp>
        <p:nvSpPr>
          <p:cNvPr id="4" name="TextBox 3"/>
          <p:cNvSpPr txBox="1"/>
          <p:nvPr/>
        </p:nvSpPr>
        <p:spPr>
          <a:xfrm>
            <a:off x="548640" y="1737360"/>
            <a:ext cx="5120640" cy="4114800"/>
          </a:xfrm>
          <a:prstGeom prst="rect">
            <a:avLst/>
          </a:prstGeom>
          <a:noFill/>
        </p:spPr>
        <p:txBody>
          <a:bodyPr wrap="square" anchor="t" lIns="0" rIns="0" tIns="0" bIns="0">
            <a:spAutoFit/>
          </a:bodyPr>
          <a:lstStyle/>
          <a:p>
            <a:pPr algn="l" marL="256032" indent="-201168">
              <a:spcAft>
                <a:spcPts val="1000"/>
              </a:spcAft>
              <a:buClr>
                <a:srgbClr val="85837D"/>
              </a:buClr>
              <a:buFont typeface="Arial"/>
              <a:buChar char="•"/>
            </a:pPr>
            <a:r>
              <a:rPr sz="1700" b="0" i="0">
                <a:solidFill>
                  <a:srgbClr val="151514"/>
                </a:solidFill>
                <a:latin typeface="Calibri"/>
              </a:rPr>
              <a:t>An agent learns tasks one after another: fetch the red ball, then the green key, then the blue box</a:t>
            </a:r>
          </a:p>
          <a:p>
            <a:pPr algn="l" marL="256032" indent="-201168">
              <a:spcAft>
                <a:spcPts val="1000"/>
              </a:spcAft>
              <a:buClr>
                <a:srgbClr val="85837D"/>
              </a:buClr>
              <a:buFont typeface="Arial"/>
              <a:buChar char="•"/>
            </a:pPr>
            <a:r>
              <a:rPr sz="1700" b="0" i="0">
                <a:solidFill>
                  <a:srgbClr val="151514"/>
                </a:solidFill>
                <a:latin typeface="Calibri"/>
              </a:rPr>
              <a:t>Plain fine-tuning overwrites what earlier tasks needed: catastrophic forgetting</a:t>
            </a:r>
          </a:p>
          <a:p>
            <a:pPr algn="l" marL="256032" indent="-201168">
              <a:spcAft>
                <a:spcPts val="1000"/>
              </a:spcAft>
              <a:buClr>
                <a:srgbClr val="85837D"/>
              </a:buClr>
              <a:buFont typeface="Arial"/>
              <a:buChar char="•"/>
            </a:pPr>
            <a:r>
              <a:rPr sz="1700" b="0" i="0">
                <a:solidFill>
                  <a:srgbClr val="151514"/>
                </a:solidFill>
                <a:latin typeface="Calibri"/>
              </a:rPr>
              <a:t>Three standard strategies: regularisation (EWC), replay of stored experience, capacity isolation (one network per task)</a:t>
            </a:r>
          </a:p>
          <a:p>
            <a:pPr algn="l" marL="256032" indent="-201168">
              <a:spcAft>
                <a:spcPts val="1000"/>
              </a:spcAft>
              <a:buClr>
                <a:srgbClr val="85837D"/>
              </a:buClr>
              <a:buFont typeface="Arial"/>
              <a:buChar char="•"/>
            </a:pPr>
            <a:r>
              <a:rPr sz="1700" b="0" i="0">
                <a:solidFill>
                  <a:srgbClr val="151514"/>
                </a:solidFill>
                <a:latin typeface="Calibri"/>
              </a:rPr>
              <a:t>Brain-inspired fixes (spikes, local plasticity, sleep) are popular, but are usually added all at once</a:t>
            </a:r>
          </a:p>
        </p:txBody>
      </p:sp>
      <p:sp>
        <p:nvSpPr>
          <p:cNvPr id="5" name="Rounded Rectangle 4"/>
          <p:cNvSpPr/>
          <p:nvPr/>
        </p:nvSpPr>
        <p:spPr>
          <a:xfrm>
            <a:off x="6172200" y="1691640"/>
            <a:ext cx="5486400" cy="4343400"/>
          </a:xfrm>
          <a:prstGeom prst="roundRect">
            <a:avLst>
              <a:gd name="adj" fmla="val 5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0" y="1828800"/>
            <a:ext cx="5120640" cy="365760"/>
          </a:xfrm>
          <a:prstGeom prst="rect">
            <a:avLst/>
          </a:prstGeom>
          <a:noFill/>
        </p:spPr>
        <p:txBody>
          <a:bodyPr wrap="square" anchor="t" lIns="0" rIns="0" tIns="0" bIns="0">
            <a:spAutoFit/>
          </a:bodyPr>
          <a:lstStyle/>
          <a:p>
            <a:pPr algn="l"/>
            <a:r>
              <a:rPr sz="1500" b="1" i="0">
                <a:solidFill>
                  <a:srgbClr val="151514"/>
                </a:solidFill>
                <a:latin typeface="Calibri"/>
              </a:rPr>
              <a:t>Return on task 1 as later tasks are learned</a:t>
            </a:r>
          </a:p>
        </p:txBody>
      </p:sp>
      <p:sp>
        <p:nvSpPr>
          <p:cNvPr id="7" name="TextBox 6"/>
          <p:cNvSpPr txBox="1"/>
          <p:nvPr/>
        </p:nvSpPr>
        <p:spPr>
          <a:xfrm>
            <a:off x="6400800" y="2148840"/>
            <a:ext cx="5120640" cy="320040"/>
          </a:xfrm>
          <a:prstGeom prst="rect">
            <a:avLst/>
          </a:prstGeom>
          <a:noFill/>
        </p:spPr>
        <p:txBody>
          <a:bodyPr wrap="square" anchor="t" lIns="0" rIns="0" tIns="0" bIns="0">
            <a:spAutoFit/>
          </a:bodyPr>
          <a:lstStyle/>
          <a:p>
            <a:pPr algn="l"/>
            <a:r>
              <a:rPr sz="1200" b="0" i="0">
                <a:solidFill>
                  <a:srgbClr val="85837D"/>
                </a:solidFill>
                <a:latin typeface="Calibri"/>
              </a:rPr>
              <a:t>CNN agent, 3 tasks, mean of 3 seeds; replay (dashed) and sleep overlap near 1.0</a:t>
            </a:r>
          </a:p>
        </p:txBody>
      </p:sp>
      <p:graphicFrame>
        <p:nvGraphicFramePr>
          <p:cNvPr id="8" name="Chart 7"/>
          <p:cNvGraphicFramePr>
            <a:graphicFrameLocks noGrp="1"/>
          </p:cNvGraphicFramePr>
          <p:nvPr/>
        </p:nvGraphicFramePr>
        <p:xfrm>
          <a:off x="6309360" y="2468880"/>
          <a:ext cx="5212080" cy="3474720"/>
        </p:xfrm>
        <a:graphic>
          <a:graphicData uri="http://schemas.openxmlformats.org/drawingml/2006/chart">
            <c:chart xmlns:c="http://schemas.openxmlformats.org/drawingml/2006/chart" r:id="rId2"/>
          </a:graphicData>
        </a:graphic>
      </p:graphicFrame>
      <p:sp>
        <p:nvSpPr>
          <p:cNvPr id="9" name="TextBox 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0" name="TextBox 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RESEARCH QUESTION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Which brain-inspired mechanisms actually help?</a:t>
            </a:r>
          </a:p>
        </p:txBody>
      </p:sp>
      <p:sp>
        <p:nvSpPr>
          <p:cNvPr id="4" name="TextBox 3"/>
          <p:cNvSpPr txBox="1"/>
          <p:nvPr/>
        </p:nvSpPr>
        <p:spPr>
          <a:xfrm>
            <a:off x="548640" y="1783080"/>
            <a:ext cx="11094415" cy="731520"/>
          </a:xfrm>
          <a:prstGeom prst="rect">
            <a:avLst/>
          </a:prstGeom>
          <a:noFill/>
        </p:spPr>
        <p:txBody>
          <a:bodyPr wrap="square" anchor="t" lIns="0" rIns="0" tIns="0" bIns="0">
            <a:spAutoFit/>
          </a:bodyPr>
          <a:lstStyle/>
          <a:p>
            <a:pPr algn="l"/>
            <a:r>
              <a:rPr sz="1800" b="0" i="0">
                <a:solidFill>
                  <a:srgbClr val="52514E"/>
                </a:solidFill>
                <a:latin typeface="Calibri"/>
              </a:rPr>
              <a:t>Switch each mechanism on alone and compare it with a control that is not brain-inspired but matches its resources. Six were tested; the seventh was inconclusive.</a:t>
            </a:r>
          </a:p>
        </p:txBody>
      </p:sp>
      <p:sp>
        <p:nvSpPr>
          <p:cNvPr id="5" name="Rounded Rectangle 4"/>
          <p:cNvSpPr/>
          <p:nvPr/>
        </p:nvSpPr>
        <p:spPr>
          <a:xfrm>
            <a:off x="548640"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Spiking encoder</a:t>
            </a:r>
          </a:p>
        </p:txBody>
      </p:sp>
      <p:sp>
        <p:nvSpPr>
          <p:cNvPr id="7" name="TextBox 6"/>
          <p:cNvSpPr txBox="1"/>
          <p:nvPr/>
        </p:nvSpPr>
        <p:spPr>
          <a:xfrm>
            <a:off x="731520"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same-shape CNN, matched operations</a:t>
            </a:r>
          </a:p>
        </p:txBody>
      </p:sp>
      <p:sp>
        <p:nvSpPr>
          <p:cNvPr id="8" name="Rounded Rectangle 7"/>
          <p:cNvSpPr/>
          <p:nvPr/>
        </p:nvSpPr>
        <p:spPr>
          <a:xfrm>
            <a:off x="3401568"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84448"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STDP (local plasticity)</a:t>
            </a:r>
          </a:p>
        </p:txBody>
      </p:sp>
      <p:sp>
        <p:nvSpPr>
          <p:cNvPr id="10" name="TextBox 9"/>
          <p:cNvSpPr txBox="1"/>
          <p:nvPr/>
        </p:nvSpPr>
        <p:spPr>
          <a:xfrm>
            <a:off x="3584448"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a random update of the same size</a:t>
            </a:r>
          </a:p>
        </p:txBody>
      </p:sp>
      <p:sp>
        <p:nvSpPr>
          <p:cNvPr id="11" name="Rounded Rectangle 10"/>
          <p:cNvSpPr/>
          <p:nvPr/>
        </p:nvSpPr>
        <p:spPr>
          <a:xfrm>
            <a:off x="6254496"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37376"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Homeostasis</a:t>
            </a:r>
          </a:p>
        </p:txBody>
      </p:sp>
      <p:sp>
        <p:nvSpPr>
          <p:cNvPr id="13" name="TextBox 12"/>
          <p:cNvSpPr txBox="1"/>
          <p:nvPr/>
        </p:nvSpPr>
        <p:spPr>
          <a:xfrm>
            <a:off x="6437376"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the same agent without it</a:t>
            </a:r>
          </a:p>
        </p:txBody>
      </p:sp>
      <p:sp>
        <p:nvSpPr>
          <p:cNvPr id="14" name="Rounded Rectangle 13"/>
          <p:cNvSpPr/>
          <p:nvPr/>
        </p:nvSpPr>
        <p:spPr>
          <a:xfrm>
            <a:off x="9107424"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90303"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DFA: backprop-free encoder credit</a:t>
            </a:r>
          </a:p>
        </p:txBody>
      </p:sp>
      <p:sp>
        <p:nvSpPr>
          <p:cNvPr id="16" name="TextBox 15"/>
          <p:cNvSpPr txBox="1"/>
          <p:nvPr/>
        </p:nvSpPr>
        <p:spPr>
          <a:xfrm>
            <a:off x="9290303"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ordinary backpropagation (heads exact in both)</a:t>
            </a:r>
          </a:p>
        </p:txBody>
      </p:sp>
      <p:sp>
        <p:nvSpPr>
          <p:cNvPr id="17" name="Rounded Rectangle 16"/>
          <p:cNvSpPr/>
          <p:nvPr/>
        </p:nvSpPr>
        <p:spPr>
          <a:xfrm>
            <a:off x="1975104"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157984"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Sleep-like consolidation</a:t>
            </a:r>
          </a:p>
        </p:txBody>
      </p:sp>
      <p:sp>
        <p:nvSpPr>
          <p:cNvPr id="19" name="TextBox 18"/>
          <p:cNvSpPr txBox="1"/>
          <p:nvPr/>
        </p:nvSpPr>
        <p:spPr>
          <a:xfrm>
            <a:off x="2157984"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replay with an exactly matched replay budget</a:t>
            </a:r>
          </a:p>
        </p:txBody>
      </p:sp>
      <p:sp>
        <p:nvSpPr>
          <p:cNvPr id="20" name="Rounded Rectangle 19"/>
          <p:cNvSpPr/>
          <p:nvPr/>
        </p:nvSpPr>
        <p:spPr>
          <a:xfrm>
            <a:off x="4828032"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10912"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Shared trunk, per-task heads</a:t>
            </a:r>
          </a:p>
        </p:txBody>
      </p:sp>
      <p:sp>
        <p:nvSpPr>
          <p:cNvPr id="22" name="TextBox 21"/>
          <p:cNvSpPr txBox="1"/>
          <p:nvPr/>
        </p:nvSpPr>
        <p:spPr>
          <a:xfrm>
            <a:off x="5010912"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one network per task, at equal total memory</a:t>
            </a:r>
          </a:p>
        </p:txBody>
      </p:sp>
      <p:sp>
        <p:nvSpPr>
          <p:cNvPr id="23" name="Rounded Rectangle 22"/>
          <p:cNvSpPr/>
          <p:nvPr/>
        </p:nvSpPr>
        <p:spPr>
          <a:xfrm>
            <a:off x="7680960"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63840"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Transformer memory (inconclusive)</a:t>
            </a:r>
          </a:p>
        </p:txBody>
      </p:sp>
      <p:sp>
        <p:nvSpPr>
          <p:cNvPr id="25" name="TextBox 24"/>
          <p:cNvSpPr txBox="1"/>
          <p:nvPr/>
        </p:nvSpPr>
        <p:spPr>
          <a:xfrm>
            <a:off x="7863840"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no memory, and a stack of recent frames</a:t>
            </a:r>
          </a:p>
        </p:txBody>
      </p:sp>
      <p:sp>
        <p:nvSpPr>
          <p:cNvPr id="26" name="TextBox 25"/>
          <p:cNvSpPr txBox="1"/>
          <p:nvPr/>
        </p:nvSpPr>
        <p:spPr>
          <a:xfrm>
            <a:off x="548640" y="5806440"/>
            <a:ext cx="11094415" cy="457200"/>
          </a:xfrm>
          <a:prstGeom prst="rect">
            <a:avLst/>
          </a:prstGeom>
          <a:noFill/>
        </p:spPr>
        <p:txBody>
          <a:bodyPr wrap="square" anchor="t" lIns="0" rIns="0" tIns="0" bIns="0">
            <a:spAutoFit/>
          </a:bodyPr>
          <a:lstStyle/>
          <a:p>
            <a:pPr algn="l"/>
            <a:r>
              <a:rPr sz="1400" b="0" i="1">
                <a:solidFill>
                  <a:srgbClr val="52514E"/>
                </a:solidFill>
                <a:latin typeface="Calibri"/>
              </a:rPr>
              <a:t>Negative results count: the aim is to find out which mechanisms contribute, not to make all of them win.</a:t>
            </a:r>
          </a:p>
        </p:txBody>
      </p:sp>
      <p:sp>
        <p:nvSpPr>
          <p:cNvPr id="27" name="TextBox 2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8" name="TextBox 2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WHERE THIS SITS</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Related work</a:t>
            </a:r>
          </a:p>
        </p:txBody>
      </p:sp>
      <p:sp>
        <p:nvSpPr>
          <p:cNvPr id="4" name="Rounded Rectangle 3"/>
          <p:cNvSpPr/>
          <p:nvPr/>
        </p:nvSpPr>
        <p:spPr>
          <a:xfrm>
            <a:off x="548640" y="17373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870551" cy="365760"/>
          </a:xfrm>
          <a:prstGeom prst="rect">
            <a:avLst/>
          </a:prstGeom>
          <a:noFill/>
        </p:spPr>
        <p:txBody>
          <a:bodyPr wrap="square" anchor="t" lIns="0" rIns="0" tIns="0" bIns="0">
            <a:spAutoFit/>
          </a:bodyPr>
          <a:lstStyle/>
          <a:p>
            <a:pPr algn="l"/>
            <a:r>
              <a:rPr sz="1600" b="1" i="0">
                <a:solidFill>
                  <a:srgbClr val="151514"/>
                </a:solidFill>
                <a:latin typeface="Calibri"/>
              </a:rPr>
              <a:t>Continual RL: three strategies</a:t>
            </a:r>
          </a:p>
        </p:txBody>
      </p:sp>
      <p:sp>
        <p:nvSpPr>
          <p:cNvPr id="7" name="TextBox 6"/>
          <p:cNvSpPr txBox="1"/>
          <p:nvPr/>
        </p:nvSpPr>
        <p:spPr>
          <a:xfrm>
            <a:off x="749808" y="22402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Regularisation: EWC (Kirkpatrick et al., 2017); LwF distils old outputs, no stored data (Li &amp; Hoiem, 2018)</a:t>
            </a:r>
          </a:p>
          <a:p>
            <a:pPr algn="l">
              <a:spcAft>
                <a:spcPts val="200"/>
              </a:spcAft>
            </a:pPr>
            <a:r>
              <a:rPr sz="1350" b="0" i="0">
                <a:solidFill>
                  <a:srgbClr val="52514E"/>
                </a:solidFill>
                <a:latin typeface="Calibri"/>
              </a:rPr>
              <a:t>Replay: CLEAR, a very strong baseline (Rolnick et al., 2019)</a:t>
            </a:r>
          </a:p>
          <a:p>
            <a:pPr algn="l">
              <a:spcAft>
                <a:spcPts val="200"/>
              </a:spcAft>
            </a:pPr>
            <a:r>
              <a:rPr sz="1350" b="0" i="0">
                <a:solidFill>
                  <a:srgbClr val="52514E"/>
                </a:solidFill>
                <a:latin typeface="Calibri"/>
              </a:rPr>
              <a:t>Isolation: PackNet, parameters per task (Mallya &amp; Lazebnik, 2018)</a:t>
            </a:r>
          </a:p>
        </p:txBody>
      </p:sp>
      <p:sp>
        <p:nvSpPr>
          <p:cNvPr id="8" name="Rounded Rectangle 7"/>
          <p:cNvSpPr/>
          <p:nvPr/>
        </p:nvSpPr>
        <p:spPr>
          <a:xfrm>
            <a:off x="6233007" y="17373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34175"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35343" y="1865376"/>
            <a:ext cx="4870551" cy="365760"/>
          </a:xfrm>
          <a:prstGeom prst="rect">
            <a:avLst/>
          </a:prstGeom>
          <a:noFill/>
        </p:spPr>
        <p:txBody>
          <a:bodyPr wrap="square" anchor="t" lIns="0" rIns="0" tIns="0" bIns="0">
            <a:spAutoFit/>
          </a:bodyPr>
          <a:lstStyle/>
          <a:p>
            <a:pPr algn="l"/>
            <a:r>
              <a:rPr sz="1600" b="1" i="0">
                <a:solidFill>
                  <a:srgbClr val="151514"/>
                </a:solidFill>
                <a:latin typeface="Calibri"/>
              </a:rPr>
              <a:t>Sleep and consolidation</a:t>
            </a:r>
          </a:p>
        </p:txBody>
      </p:sp>
      <p:sp>
        <p:nvSpPr>
          <p:cNvPr id="11" name="TextBox 10"/>
          <p:cNvSpPr txBox="1"/>
          <p:nvPr/>
        </p:nvSpPr>
        <p:spPr>
          <a:xfrm>
            <a:off x="6434175" y="22402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Sleep-like unsupervised replay recovers forgotten tasks in classifiers (Tadros et al., 2022)</a:t>
            </a:r>
          </a:p>
          <a:p>
            <a:pPr algn="l">
              <a:spcAft>
                <a:spcPts val="200"/>
              </a:spcAft>
            </a:pPr>
            <a:r>
              <a:rPr sz="1350" b="0" i="0">
                <a:solidFill>
                  <a:srgbClr val="52514E"/>
                </a:solidFill>
                <a:latin typeface="Calibri"/>
              </a:rPr>
              <a:t>Ours: offline replay + distillation in RL, compared with CLEAR-style replay</a:t>
            </a:r>
          </a:p>
        </p:txBody>
      </p:sp>
      <p:sp>
        <p:nvSpPr>
          <p:cNvPr id="12" name="Rounded Rectangle 11"/>
          <p:cNvSpPr/>
          <p:nvPr/>
        </p:nvSpPr>
        <p:spPr>
          <a:xfrm>
            <a:off x="548640" y="37947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01421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922776"/>
            <a:ext cx="4870551" cy="365760"/>
          </a:xfrm>
          <a:prstGeom prst="rect">
            <a:avLst/>
          </a:prstGeom>
          <a:noFill/>
        </p:spPr>
        <p:txBody>
          <a:bodyPr wrap="square" anchor="t" lIns="0" rIns="0" tIns="0" bIns="0">
            <a:spAutoFit/>
          </a:bodyPr>
          <a:lstStyle/>
          <a:p>
            <a:pPr algn="l"/>
            <a:r>
              <a:rPr sz="1600" b="1" i="0">
                <a:solidFill>
                  <a:srgbClr val="151514"/>
                </a:solidFill>
                <a:latin typeface="Calibri"/>
              </a:rPr>
              <a:t>Spiking networks for RL</a:t>
            </a:r>
          </a:p>
        </p:txBody>
      </p:sp>
      <p:sp>
        <p:nvSpPr>
          <p:cNvPr id="15" name="TextBox 14"/>
          <p:cNvSpPr txBox="1"/>
          <p:nvPr/>
        </p:nvSpPr>
        <p:spPr>
          <a:xfrm>
            <a:off x="749808" y="42976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Surrogate gradients make SNNs trainable (Neftci et al., 2019)</a:t>
            </a:r>
          </a:p>
          <a:p>
            <a:pPr algn="l">
              <a:spcAft>
                <a:spcPts val="200"/>
              </a:spcAft>
            </a:pPr>
            <a:r>
              <a:rPr sz="1350" b="0" i="0">
                <a:solidFill>
                  <a:srgbClr val="52514E"/>
                </a:solidFill>
                <a:latin typeface="Calibri"/>
              </a:rPr>
              <a:t>The surrogate slope matters more in RL (Van den Berghe et al., 2025)</a:t>
            </a:r>
          </a:p>
          <a:p>
            <a:pPr algn="l">
              <a:spcAft>
                <a:spcPts val="200"/>
              </a:spcAft>
            </a:pPr>
            <a:r>
              <a:rPr sz="1350" b="0" i="0">
                <a:solidFill>
                  <a:srgbClr val="52514E"/>
                </a:solidFill>
                <a:latin typeface="Calibri"/>
              </a:rPr>
              <a:t>Spiking decision transformers (Pandey &amp; Biswas, 2025)</a:t>
            </a:r>
          </a:p>
        </p:txBody>
      </p:sp>
      <p:sp>
        <p:nvSpPr>
          <p:cNvPr id="16" name="Rounded Rectangle 15"/>
          <p:cNvSpPr/>
          <p:nvPr/>
        </p:nvSpPr>
        <p:spPr>
          <a:xfrm>
            <a:off x="6233007" y="37947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34175" y="4014216"/>
            <a:ext cx="128016" cy="12801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35343" y="3922776"/>
            <a:ext cx="4870551" cy="365760"/>
          </a:xfrm>
          <a:prstGeom prst="rect">
            <a:avLst/>
          </a:prstGeom>
          <a:noFill/>
        </p:spPr>
        <p:txBody>
          <a:bodyPr wrap="square" anchor="t" lIns="0" rIns="0" tIns="0" bIns="0">
            <a:spAutoFit/>
          </a:bodyPr>
          <a:lstStyle/>
          <a:p>
            <a:pPr algn="l"/>
            <a:r>
              <a:rPr sz="1600" b="1" i="0">
                <a:solidFill>
                  <a:srgbClr val="151514"/>
                </a:solidFill>
                <a:latin typeface="Calibri"/>
              </a:rPr>
              <a:t>Local learning rules</a:t>
            </a:r>
          </a:p>
        </p:txBody>
      </p:sp>
      <p:sp>
        <p:nvSpPr>
          <p:cNvPr id="19" name="TextBox 18"/>
          <p:cNvSpPr txBox="1"/>
          <p:nvPr/>
        </p:nvSpPr>
        <p:spPr>
          <a:xfrm>
            <a:off x="6434175" y="42976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Three-factor, reward-modulated STDP (Frémaux &amp; Gerstner, 2016)</a:t>
            </a:r>
          </a:p>
          <a:p>
            <a:pPr algn="l">
              <a:spcAft>
                <a:spcPts val="200"/>
              </a:spcAft>
            </a:pPr>
            <a:r>
              <a:rPr sz="1350" b="0" i="0">
                <a:solidFill>
                  <a:srgbClr val="52514E"/>
                </a:solidFill>
                <a:latin typeface="Calibri"/>
              </a:rPr>
              <a:t>Direct feedback alignment: no weight transport (Nøkland, 2016)</a:t>
            </a:r>
          </a:p>
          <a:p>
            <a:pPr algn="l">
              <a:spcAft>
                <a:spcPts val="200"/>
              </a:spcAft>
            </a:pPr>
            <a:r>
              <a:rPr sz="1350" b="0" i="0">
                <a:solidFill>
                  <a:srgbClr val="52514E"/>
                </a:solidFill>
                <a:latin typeface="Calibri"/>
              </a:rPr>
              <a:t>Homeostatic plasticity (Turrigiano &amp; Nelson, 2004)</a:t>
            </a:r>
          </a:p>
        </p:txBody>
      </p:sp>
      <p:sp>
        <p:nvSpPr>
          <p:cNvPr id="20" name="TextBox 19"/>
          <p:cNvSpPr txBox="1"/>
          <p:nvPr/>
        </p:nvSpPr>
        <p:spPr>
          <a:xfrm>
            <a:off x="548640" y="5852160"/>
            <a:ext cx="11094415" cy="457200"/>
          </a:xfrm>
          <a:prstGeom prst="rect">
            <a:avLst/>
          </a:prstGeom>
          <a:noFill/>
        </p:spPr>
        <p:txBody>
          <a:bodyPr wrap="square" anchor="t" lIns="0" rIns="0" tIns="0" bIns="0">
            <a:spAutoFit/>
          </a:bodyPr>
          <a:lstStyle/>
          <a:p>
            <a:pPr algn="l"/>
            <a:r>
              <a:rPr sz="1400" b="1" i="0">
                <a:solidFill>
                  <a:srgbClr val="52514E"/>
                </a:solidFill>
                <a:latin typeface="Calibri"/>
              </a:rPr>
              <a:t>Gap: </a:t>
            </a:r>
            <a:r>
              <a:rPr sz="1400" b="0" i="0">
                <a:solidFill>
                  <a:srgbClr val="52514E"/>
                </a:solidFill>
                <a:latin typeface="Calibri"/>
              </a:rPr>
              <a:t>these mechanisms are usually tested together, against an unmodified baseline, so it is unclear which one did the work.</a:t>
            </a:r>
          </a:p>
        </p:txBody>
      </p:sp>
      <p:sp>
        <p:nvSpPr>
          <p:cNvPr id="21" name="TextBox 2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2" name="TextBox 21"/>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WHAT I BUILT</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System architecture</a:t>
            </a:r>
          </a:p>
        </p:txBody>
      </p:sp>
      <p:sp>
        <p:nvSpPr>
          <p:cNvPr id="4" name="Rounded Rectangle 3"/>
          <p:cNvSpPr/>
          <p:nvPr/>
        </p:nvSpPr>
        <p:spPr>
          <a:xfrm>
            <a:off x="548640"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9808" y="1911095"/>
            <a:ext cx="2176272" cy="365760"/>
          </a:xfrm>
          <a:prstGeom prst="rect">
            <a:avLst/>
          </a:prstGeom>
          <a:noFill/>
        </p:spPr>
        <p:txBody>
          <a:bodyPr wrap="square" anchor="t" lIns="0" rIns="0" tIns="0" bIns="0">
            <a:spAutoFit/>
          </a:bodyPr>
          <a:lstStyle/>
          <a:p>
            <a:pPr algn="l"/>
            <a:r>
              <a:rPr sz="1600" b="1" i="0">
                <a:solidFill>
                  <a:srgbClr val="151514"/>
                </a:solidFill>
                <a:latin typeface="Calibri"/>
              </a:rPr>
              <a:t>Environment</a:t>
            </a:r>
          </a:p>
        </p:txBody>
      </p:sp>
      <p:sp>
        <p:nvSpPr>
          <p:cNvPr id="6" name="TextBox 5"/>
          <p:cNvSpPr txBox="1"/>
          <p:nvPr/>
        </p:nvSpPr>
        <p:spPr>
          <a:xfrm>
            <a:off x="749808"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MiniGrid, 7×7 view of the room</a:t>
            </a:r>
          </a:p>
          <a:p>
            <a:pPr algn="l">
              <a:spcAft>
                <a:spcPts val="200"/>
              </a:spcAft>
            </a:pPr>
            <a:r>
              <a:rPr sz="1250" b="0" i="0">
                <a:solidFill>
                  <a:srgbClr val="52514E"/>
                </a:solidFill>
                <a:latin typeface="Calibri"/>
              </a:rPr>
              <a:t>task ID given each episode</a:t>
            </a:r>
          </a:p>
          <a:p>
            <a:pPr algn="l">
              <a:spcAft>
                <a:spcPts val="200"/>
              </a:spcAft>
            </a:pPr>
            <a:r>
              <a:rPr sz="1250" b="0" i="0">
                <a:solidFill>
                  <a:srgbClr val="52514E"/>
                </a:solidFill>
                <a:latin typeface="Calibri"/>
              </a:rPr>
              <a:t>reward for the right object</a:t>
            </a:r>
          </a:p>
        </p:txBody>
      </p:sp>
      <p:sp>
        <p:nvSpPr>
          <p:cNvPr id="7" name="Rounded Rectangle 6"/>
          <p:cNvSpPr/>
          <p:nvPr/>
        </p:nvSpPr>
        <p:spPr>
          <a:xfrm>
            <a:off x="3447288"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648456" y="2002536"/>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9624" y="1911095"/>
            <a:ext cx="1975104" cy="365760"/>
          </a:xfrm>
          <a:prstGeom prst="rect">
            <a:avLst/>
          </a:prstGeom>
          <a:noFill/>
        </p:spPr>
        <p:txBody>
          <a:bodyPr wrap="square" anchor="t" lIns="0" rIns="0" tIns="0" bIns="0">
            <a:spAutoFit/>
          </a:bodyPr>
          <a:lstStyle/>
          <a:p>
            <a:pPr algn="l"/>
            <a:r>
              <a:rPr sz="1600" b="1" i="0">
                <a:solidFill>
                  <a:srgbClr val="151514"/>
                </a:solidFill>
                <a:latin typeface="Calibri"/>
              </a:rPr>
              <a:t>Spiking encoder</a:t>
            </a:r>
          </a:p>
        </p:txBody>
      </p:sp>
      <p:sp>
        <p:nvSpPr>
          <p:cNvPr id="10" name="TextBox 9"/>
          <p:cNvSpPr txBox="1"/>
          <p:nvPr/>
        </p:nvSpPr>
        <p:spPr>
          <a:xfrm>
            <a:off x="3648456"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3 conv layers of LIF neurons</a:t>
            </a:r>
          </a:p>
          <a:p>
            <a:pPr algn="l">
              <a:spcAft>
                <a:spcPts val="200"/>
              </a:spcAft>
            </a:pPr>
            <a:r>
              <a:rPr sz="1250" b="0" i="0">
                <a:solidFill>
                  <a:srgbClr val="52514E"/>
                </a:solidFill>
                <a:latin typeface="Calibri"/>
              </a:rPr>
              <a:t>4 spike steps per frame</a:t>
            </a:r>
          </a:p>
          <a:p>
            <a:pPr algn="l">
              <a:spcAft>
                <a:spcPts val="200"/>
              </a:spcAft>
            </a:pPr>
            <a:r>
              <a:rPr sz="1250" b="0" i="0">
                <a:solidFill>
                  <a:srgbClr val="52514E"/>
                </a:solidFill>
                <a:latin typeface="Calibri"/>
              </a:rPr>
              <a:t>control: same-shape CNN</a:t>
            </a:r>
          </a:p>
        </p:txBody>
      </p:sp>
      <p:sp>
        <p:nvSpPr>
          <p:cNvPr id="11" name="Rounded Rectangle 10"/>
          <p:cNvSpPr/>
          <p:nvPr/>
        </p:nvSpPr>
        <p:spPr>
          <a:xfrm>
            <a:off x="6345936"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547103" y="200253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48272" y="1911095"/>
            <a:ext cx="1975103" cy="365760"/>
          </a:xfrm>
          <a:prstGeom prst="rect">
            <a:avLst/>
          </a:prstGeom>
          <a:noFill/>
        </p:spPr>
        <p:txBody>
          <a:bodyPr wrap="square" anchor="t" lIns="0" rIns="0" tIns="0" bIns="0">
            <a:spAutoFit/>
          </a:bodyPr>
          <a:lstStyle/>
          <a:p>
            <a:pPr algn="l"/>
            <a:r>
              <a:rPr sz="1600" b="1" i="0">
                <a:solidFill>
                  <a:srgbClr val="151514"/>
                </a:solidFill>
                <a:latin typeface="Calibri"/>
              </a:rPr>
              <a:t>Transformer memory</a:t>
            </a:r>
          </a:p>
        </p:txBody>
      </p:sp>
      <p:sp>
        <p:nvSpPr>
          <p:cNvPr id="14" name="TextBox 13"/>
          <p:cNvSpPr txBox="1"/>
          <p:nvPr/>
        </p:nvSpPr>
        <p:spPr>
          <a:xfrm>
            <a:off x="6547103"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1 layer, 4 attention heads</a:t>
            </a:r>
          </a:p>
          <a:p>
            <a:pPr algn="l">
              <a:spcAft>
                <a:spcPts val="200"/>
              </a:spcAft>
            </a:pPr>
            <a:r>
              <a:rPr sz="1250" b="0" i="0">
                <a:solidFill>
                  <a:srgbClr val="52514E"/>
                </a:solidFill>
                <a:latin typeface="Calibri"/>
              </a:rPr>
              <a:t>attends over the last 4 frames</a:t>
            </a:r>
          </a:p>
          <a:p>
            <a:pPr algn="l">
              <a:spcAft>
                <a:spcPts val="200"/>
              </a:spcAft>
            </a:pPr>
            <a:r>
              <a:rPr sz="1250" b="0" i="0">
                <a:solidFill>
                  <a:srgbClr val="52514E"/>
                </a:solidFill>
                <a:latin typeface="Calibri"/>
              </a:rPr>
              <a:t>SNN+Transformer agent only</a:t>
            </a:r>
          </a:p>
        </p:txBody>
      </p:sp>
      <p:sp>
        <p:nvSpPr>
          <p:cNvPr id="15" name="Rounded Rectangle 14"/>
          <p:cNvSpPr/>
          <p:nvPr/>
        </p:nvSpPr>
        <p:spPr>
          <a:xfrm>
            <a:off x="9244584"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445752" y="1911095"/>
            <a:ext cx="2176271" cy="365760"/>
          </a:xfrm>
          <a:prstGeom prst="rect">
            <a:avLst/>
          </a:prstGeom>
          <a:noFill/>
        </p:spPr>
        <p:txBody>
          <a:bodyPr wrap="square" anchor="t" lIns="0" rIns="0" tIns="0" bIns="0">
            <a:spAutoFit/>
          </a:bodyPr>
          <a:lstStyle/>
          <a:p>
            <a:pPr algn="l"/>
            <a:r>
              <a:rPr sz="1600" b="1" i="0">
                <a:solidFill>
                  <a:srgbClr val="151514"/>
                </a:solidFill>
                <a:latin typeface="Calibri"/>
              </a:rPr>
              <a:t>Actor-critic heads</a:t>
            </a:r>
          </a:p>
        </p:txBody>
      </p:sp>
      <p:sp>
        <p:nvSpPr>
          <p:cNvPr id="17" name="TextBox 16"/>
          <p:cNvSpPr txBox="1"/>
          <p:nvPr/>
        </p:nvSpPr>
        <p:spPr>
          <a:xfrm>
            <a:off x="9445752"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policy + value head per task</a:t>
            </a:r>
          </a:p>
          <a:p>
            <a:pPr algn="l">
              <a:spcAft>
                <a:spcPts val="200"/>
              </a:spcAft>
            </a:pPr>
            <a:r>
              <a:rPr sz="1250" b="0" i="0">
                <a:solidFill>
                  <a:srgbClr val="52514E"/>
                </a:solidFill>
                <a:latin typeface="Calibri"/>
              </a:rPr>
              <a:t>task embedding on features</a:t>
            </a:r>
          </a:p>
          <a:p>
            <a:pPr algn="l">
              <a:spcAft>
                <a:spcPts val="200"/>
              </a:spcAft>
            </a:pPr>
            <a:r>
              <a:rPr sz="1250" b="0" i="0">
                <a:solidFill>
                  <a:srgbClr val="52514E"/>
                </a:solidFill>
                <a:latin typeface="Calibri"/>
              </a:rPr>
              <a:t>trained with PPO</a:t>
            </a:r>
          </a:p>
        </p:txBody>
      </p:sp>
      <p:cxnSp>
        <p:nvCxnSpPr>
          <p:cNvPr id="18" name="Connector 17"/>
          <p:cNvCxnSpPr/>
          <p:nvPr/>
        </p:nvCxnSpPr>
        <p:spPr>
          <a:xfrm>
            <a:off x="3108960" y="2491740"/>
            <a:ext cx="292608"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07607" y="2491740"/>
            <a:ext cx="292609"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906256" y="2491740"/>
            <a:ext cx="292607"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501884" y="3246120"/>
            <a:ext cx="0" cy="274320"/>
          </a:xfrm>
          <a:prstGeom prst="line">
            <a:avLst/>
          </a:prstGeom>
          <a:ln w="22225">
            <a:solidFill>
              <a:srgbClr val="A9A79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805940" y="3520440"/>
            <a:ext cx="8695944" cy="0"/>
          </a:xfrm>
          <a:prstGeom prst="line">
            <a:avLst/>
          </a:prstGeom>
          <a:ln w="22225">
            <a:solidFill>
              <a:srgbClr val="A9A79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805940" y="3246120"/>
            <a:ext cx="0" cy="27432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38647" y="3364992"/>
            <a:ext cx="914400"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38647" y="3364992"/>
            <a:ext cx="914400" cy="310896"/>
          </a:xfrm>
          <a:prstGeom prst="rect">
            <a:avLst/>
          </a:prstGeom>
          <a:noFill/>
        </p:spPr>
        <p:txBody>
          <a:bodyPr wrap="square" anchor="ctr" lIns="0" rIns="0" tIns="0" bIns="0">
            <a:spAutoFit/>
          </a:bodyPr>
          <a:lstStyle/>
          <a:p>
            <a:pPr algn="ctr"/>
            <a:r>
              <a:rPr sz="1200" b="0" i="0">
                <a:solidFill>
                  <a:srgbClr val="85837D"/>
                </a:solidFill>
                <a:latin typeface="Calibri"/>
              </a:rPr>
              <a:t>action</a:t>
            </a:r>
          </a:p>
        </p:txBody>
      </p:sp>
      <p:sp>
        <p:nvSpPr>
          <p:cNvPr id="26" name="TextBox 25"/>
          <p:cNvSpPr txBox="1"/>
          <p:nvPr/>
        </p:nvSpPr>
        <p:spPr>
          <a:xfrm>
            <a:off x="548640" y="4069080"/>
            <a:ext cx="10972800" cy="320040"/>
          </a:xfrm>
          <a:prstGeom prst="rect">
            <a:avLst/>
          </a:prstGeom>
          <a:noFill/>
        </p:spPr>
        <p:txBody>
          <a:bodyPr wrap="square" anchor="t" lIns="0" rIns="0" tIns="0" bIns="0">
            <a:spAutoFit/>
          </a:bodyPr>
          <a:lstStyle/>
          <a:p>
            <a:pPr algn="l"/>
            <a:r>
              <a:rPr sz="1300" b="0" i="0">
                <a:solidFill>
                  <a:srgbClr val="85837D"/>
                </a:solidFill>
                <a:latin typeface="Calibri"/>
              </a:rPr>
              <a:t>Continual training of the sleep variant: wake and sleep phases alternate on the same shared trunk</a:t>
            </a:r>
          </a:p>
        </p:txBody>
      </p:sp>
      <p:sp>
        <p:nvSpPr>
          <p:cNvPr id="27" name="Rounded Rectangle 26"/>
          <p:cNvSpPr/>
          <p:nvPr/>
        </p:nvSpPr>
        <p:spPr>
          <a:xfrm>
            <a:off x="548640" y="4480560"/>
            <a:ext cx="4206240" cy="14630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49808" y="4700016"/>
            <a:ext cx="128016" cy="128016"/>
          </a:xfrm>
          <a:prstGeom prst="ellipse">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4608576"/>
            <a:ext cx="3666743" cy="365760"/>
          </a:xfrm>
          <a:prstGeom prst="rect">
            <a:avLst/>
          </a:prstGeom>
          <a:noFill/>
        </p:spPr>
        <p:txBody>
          <a:bodyPr wrap="square" anchor="t" lIns="0" rIns="0" tIns="0" bIns="0">
            <a:spAutoFit/>
          </a:bodyPr>
          <a:lstStyle/>
          <a:p>
            <a:pPr algn="l"/>
            <a:r>
              <a:rPr sz="1600" b="1" i="0">
                <a:solidFill>
                  <a:srgbClr val="151514"/>
                </a:solidFill>
                <a:latin typeface="Calibri"/>
              </a:rPr>
              <a:t>Wake: online learning</a:t>
            </a:r>
          </a:p>
        </p:txBody>
      </p:sp>
      <p:sp>
        <p:nvSpPr>
          <p:cNvPr id="30" name="TextBox 29"/>
          <p:cNvSpPr txBox="1"/>
          <p:nvPr/>
        </p:nvSpPr>
        <p:spPr>
          <a:xfrm>
            <a:off x="749808" y="4983480"/>
            <a:ext cx="3840479" cy="91440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PPO on the current task, acting in the environment</a:t>
            </a:r>
          </a:p>
          <a:p>
            <a:pPr algn="l">
              <a:spcAft>
                <a:spcPts val="200"/>
              </a:spcAft>
            </a:pPr>
            <a:r>
              <a:rPr sz="1250" b="0" i="0">
                <a:solidFill>
                  <a:srgbClr val="52514E"/>
                </a:solidFill>
                <a:latin typeface="Calibri"/>
              </a:rPr>
              <a:t>states stored in the buffer at the end of each task</a:t>
            </a:r>
          </a:p>
        </p:txBody>
      </p:sp>
      <p:sp>
        <p:nvSpPr>
          <p:cNvPr id="31" name="Can 30"/>
          <p:cNvSpPr/>
          <p:nvPr/>
        </p:nvSpPr>
        <p:spPr>
          <a:xfrm>
            <a:off x="5257800" y="4572000"/>
            <a:ext cx="1691640" cy="1280160"/>
          </a:xfrm>
          <a:prstGeom prst="can">
            <a:avLst/>
          </a:prstGeom>
          <a:solidFill>
            <a:srgbClr val="EBE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57800" y="4983480"/>
            <a:ext cx="1691640" cy="822960"/>
          </a:xfrm>
          <a:prstGeom prst="rect">
            <a:avLst/>
          </a:prstGeom>
          <a:noFill/>
        </p:spPr>
        <p:txBody>
          <a:bodyPr wrap="square" anchor="t" lIns="0" rIns="0" tIns="0" bIns="0">
            <a:spAutoFit/>
          </a:bodyPr>
          <a:lstStyle/>
          <a:p>
            <a:pPr algn="ctr"/>
            <a:r>
              <a:rPr sz="1400" b="1" i="0">
                <a:solidFill>
                  <a:srgbClr val="151514"/>
                </a:solidFill>
                <a:latin typeface="Calibri"/>
              </a:rPr>
              <a:t>Replay buffer</a:t>
            </a:r>
          </a:p>
          <a:p>
            <a:pPr algn="ctr"/>
            <a:r>
              <a:rPr sz="1200" b="0" i="0">
                <a:solidFill>
                  <a:srgbClr val="52514E"/>
                </a:solidFill>
                <a:latin typeface="Calibri"/>
              </a:rPr>
              <a:t>5,000 states / task</a:t>
            </a:r>
          </a:p>
        </p:txBody>
      </p:sp>
      <p:sp>
        <p:nvSpPr>
          <p:cNvPr id="33" name="Rounded Rectangle 32"/>
          <p:cNvSpPr/>
          <p:nvPr/>
        </p:nvSpPr>
        <p:spPr>
          <a:xfrm>
            <a:off x="7434072" y="4480560"/>
            <a:ext cx="4208983" cy="14630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635240" y="4700016"/>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36408" y="4608576"/>
            <a:ext cx="3669487" cy="365760"/>
          </a:xfrm>
          <a:prstGeom prst="rect">
            <a:avLst/>
          </a:prstGeom>
          <a:noFill/>
        </p:spPr>
        <p:txBody>
          <a:bodyPr wrap="square" anchor="t" lIns="0" rIns="0" tIns="0" bIns="0">
            <a:spAutoFit/>
          </a:bodyPr>
          <a:lstStyle/>
          <a:p>
            <a:pPr algn="l"/>
            <a:r>
              <a:rPr sz="1600" b="1" i="0">
                <a:solidFill>
                  <a:srgbClr val="151514"/>
                </a:solidFill>
                <a:latin typeface="Calibri"/>
              </a:rPr>
              <a:t>Sleep: offline consolidation</a:t>
            </a:r>
          </a:p>
        </p:txBody>
      </p:sp>
      <p:sp>
        <p:nvSpPr>
          <p:cNvPr id="36" name="TextBox 35"/>
          <p:cNvSpPr txBox="1"/>
          <p:nvPr/>
        </p:nvSpPr>
        <p:spPr>
          <a:xfrm>
            <a:off x="7635240" y="4983480"/>
            <a:ext cx="3843223" cy="91440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every 25 updates and at each task end: 700 gradient steps, no environment</a:t>
            </a:r>
          </a:p>
          <a:p>
            <a:pPr algn="l">
              <a:spcAft>
                <a:spcPts val="200"/>
              </a:spcAft>
            </a:pPr>
            <a:r>
              <a:rPr sz="1250" b="0" i="0">
                <a:solidFill>
                  <a:srgbClr val="52514E"/>
                </a:solidFill>
                <a:latin typeface="Calibri"/>
              </a:rPr>
              <a:t>distil old tasks' policies + rehearse the current task</a:t>
            </a:r>
          </a:p>
        </p:txBody>
      </p:sp>
      <p:cxnSp>
        <p:nvCxnSpPr>
          <p:cNvPr id="37" name="Connector 36"/>
          <p:cNvCxnSpPr/>
          <p:nvPr/>
        </p:nvCxnSpPr>
        <p:spPr>
          <a:xfrm>
            <a:off x="4800599" y="5212080"/>
            <a:ext cx="411481"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995160" y="5212080"/>
            <a:ext cx="393192"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40" name="TextBox 3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HOW IT WAS TESTED</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Experimental setup and fairness controls</a:t>
            </a:r>
          </a:p>
        </p:txBody>
      </p:sp>
      <p:sp>
        <p:nvSpPr>
          <p:cNvPr id="4" name="Rounded Rectangle 3"/>
          <p:cNvSpPr/>
          <p:nvPr/>
        </p:nvSpPr>
        <p:spPr>
          <a:xfrm>
            <a:off x="548640" y="1737360"/>
            <a:ext cx="5212080" cy="30175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672583" cy="365760"/>
          </a:xfrm>
          <a:prstGeom prst="rect">
            <a:avLst/>
          </a:prstGeom>
          <a:noFill/>
        </p:spPr>
        <p:txBody>
          <a:bodyPr wrap="square" anchor="t" lIns="0" rIns="0" tIns="0" bIns="0">
            <a:spAutoFit/>
          </a:bodyPr>
          <a:lstStyle/>
          <a:p>
            <a:pPr algn="l"/>
            <a:r>
              <a:rPr sz="1600" b="1" i="0">
                <a:solidFill>
                  <a:srgbClr val="151514"/>
                </a:solidFill>
                <a:latin typeface="Calibri"/>
              </a:rPr>
              <a:t>Setup</a:t>
            </a:r>
          </a:p>
        </p:txBody>
      </p:sp>
      <p:sp>
        <p:nvSpPr>
          <p:cNvPr id="7" name="TextBox 6"/>
          <p:cNvSpPr txBox="1"/>
          <p:nvPr/>
        </p:nvSpPr>
        <p:spPr>
          <a:xfrm>
            <a:off x="749808" y="2240280"/>
            <a:ext cx="4846320" cy="2468879"/>
          </a:xfrm>
          <a:prstGeom prst="rect">
            <a:avLst/>
          </a:prstGeom>
          <a:noFill/>
        </p:spPr>
        <p:txBody>
          <a:bodyPr wrap="square" anchor="t" lIns="0" rIns="0" tIns="0" bIns="0">
            <a:spAutoFit/>
          </a:bodyPr>
          <a:lstStyle/>
          <a:p/>
        </p:txBody>
      </p:sp>
      <p:sp>
        <p:nvSpPr>
          <p:cNvPr id="8" name="TextBox 7"/>
          <p:cNvSpPr txBox="1"/>
          <p:nvPr/>
        </p:nvSpPr>
        <p:spPr>
          <a:xfrm>
            <a:off x="749808" y="2286000"/>
            <a:ext cx="4846320" cy="2468880"/>
          </a:xfrm>
          <a:prstGeom prst="rect">
            <a:avLst/>
          </a:prstGeom>
          <a:noFill/>
        </p:spPr>
        <p:txBody>
          <a:bodyPr wrap="square" anchor="t" lIns="0" rIns="0" tIns="0" bIns="0">
            <a:spAutoFit/>
          </a:bodyPr>
          <a:lstStyle/>
          <a:p>
            <a:pPr algn="l" marL="256032" indent="-201168">
              <a:spcAft>
                <a:spcPts val="800"/>
              </a:spcAft>
              <a:buClr>
                <a:srgbClr val="85837D"/>
              </a:buClr>
              <a:buFont typeface="Arial"/>
              <a:buChar char="•"/>
            </a:pPr>
            <a:r>
              <a:rPr sz="1500" b="0" i="0">
                <a:solidFill>
                  <a:srgbClr val="151514"/>
                </a:solidFill>
                <a:latin typeface="Calibri"/>
              </a:rPr>
              <a:t>MiniGrid: fetch3 / fetch5 sequences (task ID given), DoorKey-6x6, Memory S7/S11/S13</a:t>
            </a:r>
          </a:p>
          <a:p>
            <a:pPr algn="l" marL="256032" indent="-201168">
              <a:spcAft>
                <a:spcPts val="800"/>
              </a:spcAft>
              <a:buClr>
                <a:srgbClr val="85837D"/>
              </a:buClr>
              <a:buFont typeface="Arial"/>
              <a:buChar char="•"/>
            </a:pPr>
            <a:r>
              <a:rPr sz="1500" b="0" i="0">
                <a:solidFill>
                  <a:srgbClr val="151514"/>
                </a:solidFill>
                <a:latin typeface="Calibri"/>
              </a:rPr>
              <a:t>PPO, small agents (159,864–327,800 parameters)</a:t>
            </a:r>
          </a:p>
          <a:p>
            <a:pPr algn="l" marL="256032" indent="-201168">
              <a:spcAft>
                <a:spcPts val="800"/>
              </a:spcAft>
              <a:buClr>
                <a:srgbClr val="85837D"/>
              </a:buClr>
              <a:buFont typeface="Arial"/>
              <a:buChar char="•"/>
            </a:pPr>
            <a:r>
              <a:rPr sz="1500" b="0" i="0">
                <a:solidFill>
                  <a:srgbClr val="151514"/>
                </a:solidFill>
                <a:latin typeface="Calibri"/>
              </a:rPr>
              <a:t>Metrics: final accuracy (ACC), forgetting, learning speed (AUC), solve rate</a:t>
            </a:r>
          </a:p>
        </p:txBody>
      </p:sp>
      <p:sp>
        <p:nvSpPr>
          <p:cNvPr id="9" name="TextBox 8"/>
          <p:cNvSpPr txBox="1"/>
          <p:nvPr/>
        </p:nvSpPr>
        <p:spPr>
          <a:xfrm>
            <a:off x="64008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3–10</a:t>
            </a:r>
          </a:p>
        </p:txBody>
      </p:sp>
      <p:sp>
        <p:nvSpPr>
          <p:cNvPr id="10" name="TextBox 9"/>
          <p:cNvSpPr txBox="1"/>
          <p:nvPr/>
        </p:nvSpPr>
        <p:spPr>
          <a:xfrm>
            <a:off x="64008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seeds per arm</a:t>
            </a:r>
          </a:p>
        </p:txBody>
      </p:sp>
      <p:sp>
        <p:nvSpPr>
          <p:cNvPr id="11" name="TextBox 10"/>
          <p:cNvSpPr txBox="1"/>
          <p:nvPr/>
        </p:nvSpPr>
        <p:spPr>
          <a:xfrm>
            <a:off x="242316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289</a:t>
            </a:r>
          </a:p>
        </p:txBody>
      </p:sp>
      <p:sp>
        <p:nvSpPr>
          <p:cNvPr id="12" name="TextBox 11"/>
          <p:cNvSpPr txBox="1"/>
          <p:nvPr/>
        </p:nvSpPr>
        <p:spPr>
          <a:xfrm>
            <a:off x="242316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PPO runs</a:t>
            </a:r>
          </a:p>
        </p:txBody>
      </p:sp>
      <p:sp>
        <p:nvSpPr>
          <p:cNvPr id="13" name="TextBox 12"/>
          <p:cNvSpPr txBox="1"/>
          <p:nvPr/>
        </p:nvSpPr>
        <p:spPr>
          <a:xfrm>
            <a:off x="420624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110</a:t>
            </a:r>
          </a:p>
        </p:txBody>
      </p:sp>
      <p:sp>
        <p:nvSpPr>
          <p:cNvPr id="14" name="TextBox 13"/>
          <p:cNvSpPr txBox="1"/>
          <p:nvPr/>
        </p:nvSpPr>
        <p:spPr>
          <a:xfrm>
            <a:off x="420624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single-thread CPU hours, no GPU</a:t>
            </a:r>
          </a:p>
        </p:txBody>
      </p:sp>
      <p:sp>
        <p:nvSpPr>
          <p:cNvPr id="15" name="Rounded Rectangle 14"/>
          <p:cNvSpPr/>
          <p:nvPr/>
        </p:nvSpPr>
        <p:spPr>
          <a:xfrm>
            <a:off x="6035040" y="1737360"/>
            <a:ext cx="5608015"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236207"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1865376"/>
            <a:ext cx="5068519" cy="365760"/>
          </a:xfrm>
          <a:prstGeom prst="rect">
            <a:avLst/>
          </a:prstGeom>
          <a:noFill/>
        </p:spPr>
        <p:txBody>
          <a:bodyPr wrap="square" anchor="t" lIns="0" rIns="0" tIns="0" bIns="0">
            <a:spAutoFit/>
          </a:bodyPr>
          <a:lstStyle/>
          <a:p>
            <a:pPr algn="l"/>
            <a:r>
              <a:rPr sz="1600" b="1" i="0">
                <a:solidFill>
                  <a:srgbClr val="151514"/>
                </a:solidFill>
                <a:latin typeface="Calibri"/>
              </a:rPr>
              <a:t>Fairness controls</a:t>
            </a:r>
          </a:p>
        </p:txBody>
      </p:sp>
      <p:sp>
        <p:nvSpPr>
          <p:cNvPr id="18" name="TextBox 17"/>
          <p:cNvSpPr txBox="1"/>
          <p:nvPr/>
        </p:nvSpPr>
        <p:spPr>
          <a:xfrm>
            <a:off x="6236207" y="2240280"/>
            <a:ext cx="5242255" cy="3703320"/>
          </a:xfrm>
          <a:prstGeom prst="rect">
            <a:avLst/>
          </a:prstGeom>
          <a:noFill/>
        </p:spPr>
        <p:txBody>
          <a:bodyPr wrap="square" anchor="t" lIns="0" rIns="0" tIns="0" bIns="0">
            <a:spAutoFit/>
          </a:bodyPr>
          <a:lstStyle/>
          <a:p/>
        </p:txBody>
      </p:sp>
      <p:sp>
        <p:nvSpPr>
          <p:cNvPr id="19" name="TextBox 18"/>
          <p:cNvSpPr txBox="1"/>
          <p:nvPr/>
        </p:nvSpPr>
        <p:spPr>
          <a:xfrm>
            <a:off x="6236208" y="2286000"/>
            <a:ext cx="5333695" cy="3657600"/>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600" b="0" i="0">
                <a:solidFill>
                  <a:srgbClr val="151514"/>
                </a:solidFill>
                <a:latin typeface="Calibri"/>
              </a:rPr>
              <a:t>Same frames, seeds and learning rate in every arm of a comparison</a:t>
            </a:r>
          </a:p>
          <a:p>
            <a:pPr algn="l" marL="256032" indent="-201168">
              <a:spcAft>
                <a:spcPts val="1200"/>
              </a:spcAft>
              <a:buClr>
                <a:srgbClr val="85837D"/>
              </a:buClr>
              <a:buFont typeface="Arial"/>
              <a:buChar char="•"/>
            </a:pPr>
            <a:r>
              <a:rPr sz="1600" b="0" i="0">
                <a:solidFill>
                  <a:srgbClr val="151514"/>
                </a:solidFill>
                <a:latin typeface="Calibri"/>
              </a:rPr>
              <a:t>STDP vs a random update of exactly the same size</a:t>
            </a:r>
          </a:p>
          <a:p>
            <a:pPr algn="l" marL="256032" indent="-201168">
              <a:spcAft>
                <a:spcPts val="1200"/>
              </a:spcAft>
              <a:buClr>
                <a:srgbClr val="85837D"/>
              </a:buClr>
              <a:buFont typeface="Arial"/>
              <a:buChar char="•"/>
            </a:pPr>
            <a:r>
              <a:rPr sz="1600" b="0" i="0">
                <a:solidFill>
                  <a:srgbClr val="151514"/>
                </a:solidFill>
                <a:latin typeface="Calibri"/>
              </a:rPr>
              <a:t>Sleep vs replay with the number of replayed samples matched exactly</a:t>
            </a:r>
          </a:p>
          <a:p>
            <a:pPr algn="l" marL="256032" indent="-201168">
              <a:spcAft>
                <a:spcPts val="1200"/>
              </a:spcAft>
              <a:buClr>
                <a:srgbClr val="85837D"/>
              </a:buClr>
              <a:buFont typeface="Arial"/>
              <a:buChar char="•"/>
            </a:pPr>
            <a:r>
              <a:rPr sz="1600" b="0" i="0">
                <a:solidFill>
                  <a:srgbClr val="151514"/>
                </a:solidFill>
                <a:latin typeface="Calibri"/>
              </a:rPr>
              <a:t>Memory counted as parameters plus replay buffer, not parameters alone</a:t>
            </a:r>
          </a:p>
          <a:p>
            <a:pPr algn="l" marL="256032" indent="-201168">
              <a:spcAft>
                <a:spcPts val="1200"/>
              </a:spcAft>
              <a:buClr>
                <a:srgbClr val="85837D"/>
              </a:buClr>
              <a:buFont typeface="Arial"/>
              <a:buChar char="•"/>
            </a:pPr>
            <a:r>
              <a:rPr sz="1600" b="0" i="0">
                <a:solidFill>
                  <a:srgbClr val="151514"/>
                </a:solidFill>
                <a:latin typeface="Calibri"/>
              </a:rPr>
              <a:t>Tests prospectively specified in a version-controlled experiment log; same seeds in every arm; Welch / Fisher; Holm; 95% CIs</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1" name="TextBox 20"/>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MECHANISM SCORECARD: RESULTS AT A GLANCE</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No reliable improvement beyond the matched controls</a:t>
            </a:r>
          </a:p>
        </p:txBody>
      </p:sp>
      <p:sp>
        <p:nvSpPr>
          <p:cNvPr id="4" name="TextBox 3"/>
          <p:cNvSpPr txBox="1"/>
          <p:nvPr/>
        </p:nvSpPr>
        <p:spPr>
          <a:xfrm>
            <a:off x="731520" y="1719072"/>
            <a:ext cx="3291840" cy="274320"/>
          </a:xfrm>
          <a:prstGeom prst="rect">
            <a:avLst/>
          </a:prstGeom>
          <a:noFill/>
        </p:spPr>
        <p:txBody>
          <a:bodyPr wrap="square" anchor="t" lIns="0" rIns="0" tIns="0" bIns="0">
            <a:spAutoFit/>
          </a:bodyPr>
          <a:lstStyle/>
          <a:p>
            <a:pPr algn="l"/>
            <a:r>
              <a:rPr sz="1050" b="1" i="0">
                <a:solidFill>
                  <a:srgbClr val="85837D"/>
                </a:solidFill>
                <a:latin typeface="Calibri"/>
              </a:rPr>
              <a:t>MECHANISM</a:t>
            </a:r>
          </a:p>
        </p:txBody>
      </p:sp>
      <p:sp>
        <p:nvSpPr>
          <p:cNvPr id="5" name="TextBox 4"/>
          <p:cNvSpPr txBox="1"/>
          <p:nvPr/>
        </p:nvSpPr>
        <p:spPr>
          <a:xfrm>
            <a:off x="3840480" y="1719072"/>
            <a:ext cx="3108960" cy="274320"/>
          </a:xfrm>
          <a:prstGeom prst="rect">
            <a:avLst/>
          </a:prstGeom>
          <a:noFill/>
        </p:spPr>
        <p:txBody>
          <a:bodyPr wrap="square" anchor="t" lIns="0" rIns="0" tIns="0" bIns="0">
            <a:spAutoFit/>
          </a:bodyPr>
          <a:lstStyle/>
          <a:p>
            <a:pPr algn="l"/>
            <a:r>
              <a:rPr sz="1050" b="1" i="0">
                <a:solidFill>
                  <a:srgbClr val="85837D"/>
                </a:solidFill>
                <a:latin typeface="Calibri"/>
              </a:rPr>
              <a:t>VERDICT</a:t>
            </a:r>
          </a:p>
        </p:txBody>
      </p:sp>
      <p:sp>
        <p:nvSpPr>
          <p:cNvPr id="6" name="TextBox 5"/>
          <p:cNvSpPr txBox="1"/>
          <p:nvPr/>
        </p:nvSpPr>
        <p:spPr>
          <a:xfrm>
            <a:off x="7178040" y="1719072"/>
            <a:ext cx="4572000" cy="274320"/>
          </a:xfrm>
          <a:prstGeom prst="rect">
            <a:avLst/>
          </a:prstGeom>
          <a:noFill/>
        </p:spPr>
        <p:txBody>
          <a:bodyPr wrap="square" anchor="t" lIns="0" rIns="0" tIns="0" bIns="0">
            <a:spAutoFit/>
          </a:bodyPr>
          <a:lstStyle/>
          <a:p>
            <a:pPr algn="l"/>
            <a:r>
              <a:rPr sz="1050" b="1" i="0">
                <a:solidFill>
                  <a:srgbClr val="85837D"/>
                </a:solidFill>
                <a:latin typeface="Calibri"/>
              </a:rPr>
              <a:t>KEY NUMBER (95% CI)</a:t>
            </a:r>
          </a:p>
        </p:txBody>
      </p:sp>
      <p:sp>
        <p:nvSpPr>
          <p:cNvPr id="7" name="Rounded Rectangle 6"/>
          <p:cNvSpPr/>
          <p:nvPr/>
        </p:nvSpPr>
        <p:spPr>
          <a:xfrm>
            <a:off x="548640" y="2057400"/>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057400"/>
            <a:ext cx="3200400" cy="512064"/>
          </a:xfrm>
          <a:prstGeom prst="rect">
            <a:avLst/>
          </a:prstGeom>
          <a:noFill/>
        </p:spPr>
        <p:txBody>
          <a:bodyPr wrap="square" anchor="ctr" lIns="0" rIns="0" tIns="0" bIns="0">
            <a:spAutoFit/>
          </a:bodyPr>
          <a:lstStyle/>
          <a:p>
            <a:pPr algn="l"/>
            <a:r>
              <a:rPr sz="1450" b="1" i="0">
                <a:solidFill>
                  <a:srgbClr val="151514"/>
                </a:solidFill>
                <a:latin typeface="Calibri"/>
              </a:rPr>
              <a:t>Spiking encoder</a:t>
            </a:r>
          </a:p>
        </p:txBody>
      </p:sp>
      <p:sp>
        <p:nvSpPr>
          <p:cNvPr id="9" name="Rounded Rectangle 8"/>
          <p:cNvSpPr/>
          <p:nvPr/>
        </p:nvSpPr>
        <p:spPr>
          <a:xfrm>
            <a:off x="3840480" y="2148840"/>
            <a:ext cx="3154680" cy="365760"/>
          </a:xfrm>
          <a:prstGeom prst="roundRect">
            <a:avLst>
              <a:gd name="adj" fmla="val 50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7A5300"/>
                </a:solidFill>
                <a:latin typeface="Calibri"/>
              </a:rPr>
              <a:t>◐  Fewer operations in an estimate; higher measured CPU cost</a:t>
            </a:r>
          </a:p>
        </p:txBody>
      </p:sp>
      <p:sp>
        <p:nvSpPr>
          <p:cNvPr id="10" name="TextBox 9"/>
          <p:cNvSpPr txBox="1"/>
          <p:nvPr/>
        </p:nvSpPr>
        <p:spPr>
          <a:xfrm>
            <a:off x="7178040" y="2057400"/>
            <a:ext cx="4373575" cy="512064"/>
          </a:xfrm>
          <a:prstGeom prst="rect">
            <a:avLst/>
          </a:prstGeom>
          <a:noFill/>
        </p:spPr>
        <p:txBody>
          <a:bodyPr wrap="square" anchor="ctr" lIns="0" rIns="0" tIns="0" bIns="0">
            <a:spAutoFit/>
          </a:bodyPr>
          <a:lstStyle/>
          <a:p>
            <a:pPr algn="l"/>
            <a:r>
              <a:rPr sz="1300" b="0" i="0">
                <a:solidFill>
                  <a:srgbClr val="52514E"/>
                </a:solidFill>
                <a:latin typeface="Calibri"/>
              </a:rPr>
              <a:t>works at 16.6k ops/frame where the CNN needs 33k; measured CPU cost 5.2×</a:t>
            </a:r>
          </a:p>
        </p:txBody>
      </p:sp>
      <p:sp>
        <p:nvSpPr>
          <p:cNvPr id="11" name="Rounded Rectangle 10"/>
          <p:cNvSpPr/>
          <p:nvPr/>
        </p:nvSpPr>
        <p:spPr>
          <a:xfrm>
            <a:off x="548640" y="2660904"/>
            <a:ext cx="11094415" cy="512064"/>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2660904"/>
            <a:ext cx="3200400" cy="512064"/>
          </a:xfrm>
          <a:prstGeom prst="rect">
            <a:avLst/>
          </a:prstGeom>
          <a:noFill/>
        </p:spPr>
        <p:txBody>
          <a:bodyPr wrap="square" anchor="ctr" lIns="0" rIns="0" tIns="0" bIns="0">
            <a:spAutoFit/>
          </a:bodyPr>
          <a:lstStyle/>
          <a:p>
            <a:pPr algn="l"/>
            <a:r>
              <a:rPr sz="1450" b="1" i="0">
                <a:solidFill>
                  <a:srgbClr val="151514"/>
                </a:solidFill>
                <a:latin typeface="Calibri"/>
              </a:rPr>
              <a:t>Local learning rule (STDP)</a:t>
            </a:r>
          </a:p>
        </p:txBody>
      </p:sp>
      <p:sp>
        <p:nvSpPr>
          <p:cNvPr id="13" name="Rounded Rectangle 12"/>
          <p:cNvSpPr/>
          <p:nvPr/>
        </p:nvSpPr>
        <p:spPr>
          <a:xfrm>
            <a:off x="3840480" y="2752344"/>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Not distinguishable from a same-size random update</a:t>
            </a:r>
          </a:p>
        </p:txBody>
      </p:sp>
      <p:sp>
        <p:nvSpPr>
          <p:cNvPr id="14" name="TextBox 13"/>
          <p:cNvSpPr txBox="1"/>
          <p:nvPr/>
        </p:nvSpPr>
        <p:spPr>
          <a:xfrm>
            <a:off x="7178040" y="2660904"/>
            <a:ext cx="4373575" cy="512064"/>
          </a:xfrm>
          <a:prstGeom prst="rect">
            <a:avLst/>
          </a:prstGeom>
          <a:noFill/>
        </p:spPr>
        <p:txBody>
          <a:bodyPr wrap="square" anchor="ctr" lIns="0" rIns="0" tIns="0" bIns="0">
            <a:spAutoFit/>
          </a:bodyPr>
          <a:lstStyle/>
          <a:p>
            <a:pPr algn="l"/>
            <a:r>
              <a:rPr sz="1300" b="0" i="0">
                <a:solidFill>
                  <a:srgbClr val="52514E"/>
                </a:solidFill>
                <a:latin typeface="Calibri"/>
              </a:rPr>
              <a:t>tested rule vs random update: ΔAUC +0.033 [−0.260, +0.326], p = 0.818</a:t>
            </a:r>
          </a:p>
        </p:txBody>
      </p:sp>
      <p:sp>
        <p:nvSpPr>
          <p:cNvPr id="15" name="Rounded Rectangle 14"/>
          <p:cNvSpPr/>
          <p:nvPr/>
        </p:nvSpPr>
        <p:spPr>
          <a:xfrm>
            <a:off x="548640" y="3264408"/>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264408"/>
            <a:ext cx="3200400" cy="512064"/>
          </a:xfrm>
          <a:prstGeom prst="rect">
            <a:avLst/>
          </a:prstGeom>
          <a:noFill/>
        </p:spPr>
        <p:txBody>
          <a:bodyPr wrap="square" anchor="ctr" lIns="0" rIns="0" tIns="0" bIns="0">
            <a:spAutoFit/>
          </a:bodyPr>
          <a:lstStyle/>
          <a:p>
            <a:pPr algn="l"/>
            <a:r>
              <a:rPr sz="1450" b="1" i="0">
                <a:solidFill>
                  <a:srgbClr val="151514"/>
                </a:solidFill>
                <a:latin typeface="Calibri"/>
              </a:rPr>
              <a:t>Homeostasis, backprop-free encoder</a:t>
            </a:r>
          </a:p>
        </p:txBody>
      </p:sp>
      <p:sp>
        <p:nvSpPr>
          <p:cNvPr id="17" name="Rounded Rectangle 16"/>
          <p:cNvSpPr/>
          <p:nvPr/>
        </p:nvSpPr>
        <p:spPr>
          <a:xfrm>
            <a:off x="3840480" y="3355848"/>
            <a:ext cx="3154680" cy="365760"/>
          </a:xfrm>
          <a:prstGeom prst="roundRect">
            <a:avLst>
              <a:gd name="adj" fmla="val 50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0F6B4A"/>
                </a:solidFill>
                <a:latin typeface="Calibri"/>
              </a:rPr>
              <a:t>✓  Faster learning, not more reliable</a:t>
            </a:r>
          </a:p>
        </p:txBody>
      </p:sp>
      <p:sp>
        <p:nvSpPr>
          <p:cNvPr id="18" name="TextBox 17"/>
          <p:cNvSpPr txBox="1"/>
          <p:nvPr/>
        </p:nvSpPr>
        <p:spPr>
          <a:xfrm>
            <a:off x="7178040" y="3264408"/>
            <a:ext cx="4373575" cy="512064"/>
          </a:xfrm>
          <a:prstGeom prst="rect">
            <a:avLst/>
          </a:prstGeom>
          <a:noFill/>
        </p:spPr>
        <p:txBody>
          <a:bodyPr wrap="square" anchor="ctr" lIns="0" rIns="0" tIns="0" bIns="0">
            <a:spAutoFit/>
          </a:bodyPr>
          <a:lstStyle/>
          <a:p>
            <a:pPr algn="l"/>
            <a:r>
              <a:rPr sz="1300" b="0" i="0">
                <a:solidFill>
                  <a:srgbClr val="52514E"/>
                </a:solidFill>
                <a:latin typeface="Calibri"/>
              </a:rPr>
              <a:t>ΔAUC +0.326 [+0.101, +0.551], Holm p = 0.017; solved 7/10 vs 2/10 (n.s.)</a:t>
            </a:r>
          </a:p>
        </p:txBody>
      </p:sp>
      <p:sp>
        <p:nvSpPr>
          <p:cNvPr id="19" name="Rounded Rectangle 18"/>
          <p:cNvSpPr/>
          <p:nvPr/>
        </p:nvSpPr>
        <p:spPr>
          <a:xfrm>
            <a:off x="548640" y="3867912"/>
            <a:ext cx="11094415" cy="512064"/>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3867912"/>
            <a:ext cx="3200400" cy="512064"/>
          </a:xfrm>
          <a:prstGeom prst="rect">
            <a:avLst/>
          </a:prstGeom>
          <a:noFill/>
        </p:spPr>
        <p:txBody>
          <a:bodyPr wrap="square" anchor="ctr" lIns="0" rIns="0" tIns="0" bIns="0">
            <a:spAutoFit/>
          </a:bodyPr>
          <a:lstStyle/>
          <a:p>
            <a:pPr algn="l"/>
            <a:r>
              <a:rPr sz="1450" b="1" i="0">
                <a:solidFill>
                  <a:srgbClr val="151514"/>
                </a:solidFill>
                <a:latin typeface="Calibri"/>
              </a:rPr>
              <a:t>Homeostasis, with backprop</a:t>
            </a:r>
          </a:p>
        </p:txBody>
      </p:sp>
      <p:sp>
        <p:nvSpPr>
          <p:cNvPr id="21" name="Rounded Rectangle 20"/>
          <p:cNvSpPr/>
          <p:nvPr/>
        </p:nvSpPr>
        <p:spPr>
          <a:xfrm>
            <a:off x="3840480" y="3959352"/>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Not significant after correction</a:t>
            </a:r>
          </a:p>
        </p:txBody>
      </p:sp>
      <p:sp>
        <p:nvSpPr>
          <p:cNvPr id="22" name="TextBox 21"/>
          <p:cNvSpPr txBox="1"/>
          <p:nvPr/>
        </p:nvSpPr>
        <p:spPr>
          <a:xfrm>
            <a:off x="7178040" y="3867912"/>
            <a:ext cx="4373575" cy="512064"/>
          </a:xfrm>
          <a:prstGeom prst="rect">
            <a:avLst/>
          </a:prstGeom>
          <a:noFill/>
        </p:spPr>
        <p:txBody>
          <a:bodyPr wrap="square" anchor="ctr" lIns="0" rIns="0" tIns="0" bIns="0">
            <a:spAutoFit/>
          </a:bodyPr>
          <a:lstStyle/>
          <a:p>
            <a:pPr algn="l"/>
            <a:r>
              <a:rPr sz="1300" b="0" i="0">
                <a:solidFill>
                  <a:srgbClr val="52514E"/>
                </a:solidFill>
                <a:latin typeface="Calibri"/>
              </a:rPr>
              <a:t>ΔAUC +0.200 [+0.024, +0.377]; Holm p = 0.117</a:t>
            </a:r>
          </a:p>
        </p:txBody>
      </p:sp>
      <p:sp>
        <p:nvSpPr>
          <p:cNvPr id="23" name="Rounded Rectangle 22"/>
          <p:cNvSpPr/>
          <p:nvPr/>
        </p:nvSpPr>
        <p:spPr>
          <a:xfrm>
            <a:off x="548640" y="4471416"/>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471416"/>
            <a:ext cx="3200400" cy="512064"/>
          </a:xfrm>
          <a:prstGeom prst="rect">
            <a:avLst/>
          </a:prstGeom>
          <a:noFill/>
        </p:spPr>
        <p:txBody>
          <a:bodyPr wrap="square" anchor="ctr" lIns="0" rIns="0" tIns="0" bIns="0">
            <a:spAutoFit/>
          </a:bodyPr>
          <a:lstStyle/>
          <a:p>
            <a:pPr algn="l"/>
            <a:r>
              <a:rPr sz="1450" b="1" i="0">
                <a:solidFill>
                  <a:srgbClr val="151514"/>
                </a:solidFill>
                <a:latin typeface="Calibri"/>
              </a:rPr>
              <a:t>Sleep-like consolidation</a:t>
            </a:r>
          </a:p>
        </p:txBody>
      </p:sp>
      <p:sp>
        <p:nvSpPr>
          <p:cNvPr id="25" name="Rounded Rectangle 24"/>
          <p:cNvSpPr/>
          <p:nvPr/>
        </p:nvSpPr>
        <p:spPr>
          <a:xfrm>
            <a:off x="3840480" y="4562856"/>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 detectable difference from replay at a matched budget</a:t>
            </a:r>
          </a:p>
        </p:txBody>
      </p:sp>
      <p:sp>
        <p:nvSpPr>
          <p:cNvPr id="26" name="TextBox 25"/>
          <p:cNvSpPr txBox="1"/>
          <p:nvPr/>
        </p:nvSpPr>
        <p:spPr>
          <a:xfrm>
            <a:off x="7178040" y="4471416"/>
            <a:ext cx="4373575" cy="512064"/>
          </a:xfrm>
          <a:prstGeom prst="rect">
            <a:avLst/>
          </a:prstGeom>
          <a:noFill/>
        </p:spPr>
        <p:txBody>
          <a:bodyPr wrap="square" anchor="ctr" lIns="0" rIns="0" tIns="0" bIns="0">
            <a:spAutoFit/>
          </a:bodyPr>
          <a:lstStyle/>
          <a:p>
            <a:pPr algn="l"/>
            <a:r>
              <a:rPr sz="1300" b="0" i="0">
                <a:solidFill>
                  <a:srgbClr val="52514E"/>
                </a:solidFill>
                <a:latin typeface="Calibri"/>
              </a:rPr>
              <a:t>sleep − replay ΔACC +0.017 [−0.026, +0.060], p = 0.415</a:t>
            </a:r>
          </a:p>
        </p:txBody>
      </p:sp>
      <p:sp>
        <p:nvSpPr>
          <p:cNvPr id="27" name="Rounded Rectangle 26"/>
          <p:cNvSpPr/>
          <p:nvPr/>
        </p:nvSpPr>
        <p:spPr>
          <a:xfrm>
            <a:off x="548640" y="5074920"/>
            <a:ext cx="11094415" cy="512064"/>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5074920"/>
            <a:ext cx="3200400" cy="512064"/>
          </a:xfrm>
          <a:prstGeom prst="rect">
            <a:avLst/>
          </a:prstGeom>
          <a:noFill/>
        </p:spPr>
        <p:txBody>
          <a:bodyPr wrap="square" anchor="ctr" lIns="0" rIns="0" tIns="0" bIns="0">
            <a:spAutoFit/>
          </a:bodyPr>
          <a:lstStyle/>
          <a:p>
            <a:pPr algn="l"/>
            <a:r>
              <a:rPr sz="1450" b="1" i="0">
                <a:solidFill>
                  <a:srgbClr val="151514"/>
                </a:solidFill>
                <a:latin typeface="Calibri"/>
              </a:rPr>
              <a:t>Shared trunk with per-task heads</a:t>
            </a:r>
          </a:p>
        </p:txBody>
      </p:sp>
      <p:sp>
        <p:nvSpPr>
          <p:cNvPr id="29" name="Rounded Rectangle 28"/>
          <p:cNvSpPr/>
          <p:nvPr/>
        </p:nvSpPr>
        <p:spPr>
          <a:xfrm>
            <a:off x="3840480" y="5166360"/>
            <a:ext cx="3154680" cy="365760"/>
          </a:xfrm>
          <a:prstGeom prst="roundRect">
            <a:avLst>
              <a:gd name="adj" fmla="val 50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7A5300"/>
                </a:solidFill>
                <a:latin typeface="Calibri"/>
              </a:rPr>
              <a:t>◐  Only with small buffers and full-width isolation</a:t>
            </a:r>
          </a:p>
        </p:txBody>
      </p:sp>
      <p:sp>
        <p:nvSpPr>
          <p:cNvPr id="30" name="TextBox 29"/>
          <p:cNvSpPr txBox="1"/>
          <p:nvPr/>
        </p:nvSpPr>
        <p:spPr>
          <a:xfrm>
            <a:off x="7178040" y="5074920"/>
            <a:ext cx="4373575" cy="512064"/>
          </a:xfrm>
          <a:prstGeom prst="rect">
            <a:avLst/>
          </a:prstGeom>
          <a:noFill/>
        </p:spPr>
        <p:txBody>
          <a:bodyPr wrap="square" anchor="ctr" lIns="0" rIns="0" tIns="0" bIns="0">
            <a:spAutoFit/>
          </a:bodyPr>
          <a:lstStyle/>
          <a:p>
            <a:pPr algn="l"/>
            <a:r>
              <a:rPr sz="1300" b="0" i="0">
                <a:solidFill>
                  <a:srgbClr val="52514E"/>
                </a:solidFill>
                <a:latin typeface="Calibri"/>
              </a:rPr>
              <a:t>200 states/task: similar mean ACC in 0.89 vs 1.92 MB; post-freeze, quarter-width isolation beat it (0.972 vs 0.944)</a:t>
            </a:r>
          </a:p>
        </p:txBody>
      </p:sp>
      <p:sp>
        <p:nvSpPr>
          <p:cNvPr id="31" name="Rounded Rectangle 30"/>
          <p:cNvSpPr/>
          <p:nvPr/>
        </p:nvSpPr>
        <p:spPr>
          <a:xfrm>
            <a:off x="548640" y="5678424"/>
            <a:ext cx="11094415" cy="512064"/>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5678424"/>
            <a:ext cx="3200400" cy="512064"/>
          </a:xfrm>
          <a:prstGeom prst="rect">
            <a:avLst/>
          </a:prstGeom>
          <a:noFill/>
        </p:spPr>
        <p:txBody>
          <a:bodyPr wrap="square" anchor="ctr" lIns="0" rIns="0" tIns="0" bIns="0">
            <a:spAutoFit/>
          </a:bodyPr>
          <a:lstStyle/>
          <a:p>
            <a:pPr algn="l"/>
            <a:r>
              <a:rPr sz="1450" b="1" i="0">
                <a:solidFill>
                  <a:srgbClr val="151514"/>
                </a:solidFill>
                <a:latin typeface="Calibri"/>
              </a:rPr>
              <a:t>Transformer working memory</a:t>
            </a:r>
          </a:p>
        </p:txBody>
      </p:sp>
      <p:sp>
        <p:nvSpPr>
          <p:cNvPr id="33" name="Rounded Rectangle 32"/>
          <p:cNvSpPr/>
          <p:nvPr/>
        </p:nvSpPr>
        <p:spPr>
          <a:xfrm>
            <a:off x="3840480" y="5769864"/>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Inconclusive: benchmark validity not established</a:t>
            </a:r>
          </a:p>
        </p:txBody>
      </p:sp>
      <p:sp>
        <p:nvSpPr>
          <p:cNvPr id="34" name="TextBox 33"/>
          <p:cNvSpPr txBox="1"/>
          <p:nvPr/>
        </p:nvSpPr>
        <p:spPr>
          <a:xfrm>
            <a:off x="7178040" y="5678424"/>
            <a:ext cx="4373575" cy="512064"/>
          </a:xfrm>
          <a:prstGeom prst="rect">
            <a:avLst/>
          </a:prstGeom>
          <a:noFill/>
        </p:spPr>
        <p:txBody>
          <a:bodyPr wrap="square" anchor="ctr" lIns="0" rIns="0" tIns="0" bIns="0">
            <a:spAutoFit/>
          </a:bodyPr>
          <a:lstStyle/>
          <a:p>
            <a:pPr algn="l"/>
            <a:r>
              <a:rPr sz="1300" b="0" i="0">
                <a:solidFill>
                  <a:srgbClr val="52514E"/>
                </a:solidFill>
                <a:latin typeface="Calibri"/>
              </a:rPr>
              <a:t>benchmark validity not established (no map both needed memory and was learnable)</a:t>
            </a:r>
          </a:p>
        </p:txBody>
      </p:sp>
      <p:sp>
        <p:nvSpPr>
          <p:cNvPr id="35" name="TextBox 3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36" name="TextBox 3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FORGETTING</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Sleep and replay stop forgetting; no detectable sleep advantage at a matched budget</a:t>
            </a:r>
          </a:p>
        </p:txBody>
      </p:sp>
      <p:pic>
        <p:nvPicPr>
          <p:cNvPr id="4" name="Picture 3" descr="fig_forgetting.png"/>
          <p:cNvPicPr>
            <a:picLocks noChangeAspect="1"/>
          </p:cNvPicPr>
          <p:nvPr/>
        </p:nvPicPr>
        <p:blipFill>
          <a:blip r:embed="rId2"/>
          <a:stretch>
            <a:fillRect/>
          </a:stretch>
        </p:blipFill>
        <p:spPr>
          <a:xfrm>
            <a:off x="457200" y="1690257"/>
            <a:ext cx="7589520" cy="4391885"/>
          </a:xfrm>
          <a:prstGeom prst="rect">
            <a:avLst/>
          </a:prstGeom>
        </p:spPr>
      </p:pic>
      <p:sp>
        <p:nvSpPr>
          <p:cNvPr id="5" name="TextBox 4"/>
          <p:cNvSpPr txBox="1"/>
          <p:nvPr/>
        </p:nvSpPr>
        <p:spPr>
          <a:xfrm>
            <a:off x="8229600" y="1737360"/>
            <a:ext cx="3474720" cy="685800"/>
          </a:xfrm>
          <a:prstGeom prst="rect">
            <a:avLst/>
          </a:prstGeom>
          <a:noFill/>
        </p:spPr>
        <p:txBody>
          <a:bodyPr wrap="square" anchor="t" lIns="0" rIns="0" tIns="0" bIns="0">
            <a:spAutoFit/>
          </a:bodyPr>
          <a:lstStyle/>
          <a:p>
            <a:pPr algn="l"/>
            <a:r>
              <a:rPr sz="4000" b="1" i="0">
                <a:solidFill>
                  <a:srgbClr val="E87BA4"/>
                </a:solidFill>
                <a:latin typeface="Cambria"/>
              </a:rPr>
              <a:t>0.555</a:t>
            </a:r>
          </a:p>
        </p:txBody>
      </p:sp>
      <p:sp>
        <p:nvSpPr>
          <p:cNvPr id="6" name="TextBox 5"/>
          <p:cNvSpPr txBox="1"/>
          <p:nvPr/>
        </p:nvSpPr>
        <p:spPr>
          <a:xfrm>
            <a:off x="8229600" y="239572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naive fine-tuning, final ACC (CNN, 3 tasks)</a:t>
            </a:r>
          </a:p>
        </p:txBody>
      </p:sp>
      <p:sp>
        <p:nvSpPr>
          <p:cNvPr id="7" name="TextBox 6"/>
          <p:cNvSpPr txBox="1"/>
          <p:nvPr/>
        </p:nvSpPr>
        <p:spPr>
          <a:xfrm>
            <a:off x="8229600" y="3063240"/>
            <a:ext cx="3474720" cy="685800"/>
          </a:xfrm>
          <a:prstGeom prst="rect">
            <a:avLst/>
          </a:prstGeom>
          <a:noFill/>
        </p:spPr>
        <p:txBody>
          <a:bodyPr wrap="square" anchor="t" lIns="0" rIns="0" tIns="0" bIns="0">
            <a:spAutoFit/>
          </a:bodyPr>
          <a:lstStyle/>
          <a:p>
            <a:pPr algn="l"/>
            <a:r>
              <a:rPr sz="3400" b="1" i="0">
                <a:solidFill>
                  <a:srgbClr val="2A78D6"/>
                </a:solidFill>
                <a:latin typeface="Cambria"/>
              </a:rPr>
              <a:t>0.970 · 0.978</a:t>
            </a:r>
          </a:p>
        </p:txBody>
      </p:sp>
      <p:sp>
        <p:nvSpPr>
          <p:cNvPr id="8" name="TextBox 7"/>
          <p:cNvSpPr txBox="1"/>
          <p:nvPr/>
        </p:nvSpPr>
        <p:spPr>
          <a:xfrm>
            <a:off x="8229600" y="372160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replay · sleep, final ACC</a:t>
            </a:r>
          </a:p>
        </p:txBody>
      </p:sp>
      <p:sp>
        <p:nvSpPr>
          <p:cNvPr id="9" name="TextBox 8"/>
          <p:cNvSpPr txBox="1"/>
          <p:nvPr/>
        </p:nvSpPr>
        <p:spPr>
          <a:xfrm>
            <a:off x="8229600" y="4389120"/>
            <a:ext cx="3474720" cy="685800"/>
          </a:xfrm>
          <a:prstGeom prst="rect">
            <a:avLst/>
          </a:prstGeom>
          <a:noFill/>
        </p:spPr>
        <p:txBody>
          <a:bodyPr wrap="square" anchor="t" lIns="0" rIns="0" tIns="0" bIns="0">
            <a:spAutoFit/>
          </a:bodyPr>
          <a:lstStyle/>
          <a:p>
            <a:pPr algn="l"/>
            <a:r>
              <a:rPr sz="3400" b="1" i="0">
                <a:solidFill>
                  <a:srgbClr val="151514"/>
                </a:solidFill>
                <a:latin typeface="Cambria"/>
              </a:rPr>
              <a:t>+0.017</a:t>
            </a:r>
          </a:p>
        </p:txBody>
      </p:sp>
      <p:sp>
        <p:nvSpPr>
          <p:cNvPr id="10" name="TextBox 9"/>
          <p:cNvSpPr txBox="1"/>
          <p:nvPr/>
        </p:nvSpPr>
        <p:spPr>
          <a:xfrm>
            <a:off x="8229600" y="504748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sleep − replay at an exactly matched replay budget, 95% CI [−0.026, +0.060], p = 0.415</a:t>
            </a:r>
          </a:p>
        </p:txBody>
      </p:sp>
      <p:sp>
        <p:nvSpPr>
          <p:cNvPr id="11" name="TextBox 1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2" name="TextBox 11"/>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MEMORY TRADE-OFF</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A shared trunk is competitive only with a small buffer and full-width isolation</a:t>
            </a:r>
          </a:p>
        </p:txBody>
      </p:sp>
      <p:pic>
        <p:nvPicPr>
          <p:cNvPr id="4" name="Picture 3" descr="fig_memory.png"/>
          <p:cNvPicPr>
            <a:picLocks noChangeAspect="1"/>
          </p:cNvPicPr>
          <p:nvPr/>
        </p:nvPicPr>
        <p:blipFill>
          <a:blip r:embed="rId2"/>
          <a:stretch>
            <a:fillRect/>
          </a:stretch>
        </p:blipFill>
        <p:spPr>
          <a:xfrm>
            <a:off x="532580" y="1691640"/>
            <a:ext cx="7621639" cy="3566160"/>
          </a:xfrm>
          <a:prstGeom prst="rect">
            <a:avLst/>
          </a:prstGeom>
        </p:spPr>
      </p:pic>
      <p:sp>
        <p:nvSpPr>
          <p:cNvPr id="5" name="TextBox 4"/>
          <p:cNvSpPr txBox="1"/>
          <p:nvPr/>
        </p:nvSpPr>
        <p:spPr>
          <a:xfrm>
            <a:off x="548640" y="5349240"/>
            <a:ext cx="7589520" cy="822960"/>
          </a:xfrm>
          <a:prstGeom prst="rect">
            <a:avLst/>
          </a:prstGeom>
          <a:noFill/>
        </p:spPr>
        <p:txBody>
          <a:bodyPr wrap="square" anchor="t" lIns="0" rIns="0" tIns="0" bIns="0">
            <a:spAutoFit/>
          </a:bodyPr>
          <a:lstStyle/>
          <a:p>
            <a:pPr algn="l"/>
            <a:r>
              <a:rPr sz="1200" b="0" i="0">
                <a:solidFill>
                  <a:srgbClr val="85837D"/>
                </a:solidFill>
                <a:latin typeface="Calibri"/>
              </a:rPr>
              <a:t>Total memory = fp32 parameters + replay buffer. Numbers above the axis: replay states stored per task.</a:t>
            </a:r>
          </a:p>
        </p:txBody>
      </p:sp>
      <p:sp>
        <p:nvSpPr>
          <p:cNvPr id="6" name="TextBox 5"/>
          <p:cNvSpPr txBox="1"/>
          <p:nvPr/>
        </p:nvSpPr>
        <p:spPr>
          <a:xfrm>
            <a:off x="8412480" y="1737360"/>
            <a:ext cx="3291840" cy="685800"/>
          </a:xfrm>
          <a:prstGeom prst="rect">
            <a:avLst/>
          </a:prstGeom>
          <a:noFill/>
        </p:spPr>
        <p:txBody>
          <a:bodyPr wrap="square" anchor="t" lIns="0" rIns="0" tIns="0" bIns="0">
            <a:spAutoFit/>
          </a:bodyPr>
          <a:lstStyle/>
          <a:p>
            <a:pPr algn="l"/>
            <a:r>
              <a:rPr sz="4800" b="1" i="0">
                <a:solidFill>
                  <a:srgbClr val="2A78D6"/>
                </a:solidFill>
                <a:latin typeface="Cambria"/>
              </a:rPr>
              <a:t>46%</a:t>
            </a:r>
          </a:p>
        </p:txBody>
      </p:sp>
      <p:sp>
        <p:nvSpPr>
          <p:cNvPr id="7" name="TextBox 6"/>
          <p:cNvSpPr txBox="1"/>
          <p:nvPr/>
        </p:nvSpPr>
        <p:spPr>
          <a:xfrm>
            <a:off x="8412480" y="239572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of the memory: SNN sleep, 200 states/task, similar mean ACC to isolation (0.838 vs 0.833; 3 seeds, wide CI)</a:t>
            </a:r>
          </a:p>
        </p:txBody>
      </p:sp>
      <p:sp>
        <p:nvSpPr>
          <p:cNvPr id="8" name="TextBox 7"/>
          <p:cNvSpPr txBox="1"/>
          <p:nvPr/>
        </p:nvSpPr>
        <p:spPr>
          <a:xfrm>
            <a:off x="8412480" y="3246120"/>
            <a:ext cx="3291840" cy="685800"/>
          </a:xfrm>
          <a:prstGeom prst="rect">
            <a:avLst/>
          </a:prstGeom>
          <a:noFill/>
        </p:spPr>
        <p:txBody>
          <a:bodyPr wrap="square" anchor="t" lIns="0" rIns="0" tIns="0" bIns="0">
            <a:spAutoFit/>
          </a:bodyPr>
          <a:lstStyle/>
          <a:p>
            <a:pPr algn="l"/>
            <a:r>
              <a:rPr sz="3400" b="1" i="0">
                <a:solidFill>
                  <a:srgbClr val="151514"/>
                </a:solidFill>
                <a:latin typeface="Cambria"/>
              </a:rPr>
              <a:t>2.5–3.3×</a:t>
            </a:r>
          </a:p>
        </p:txBody>
      </p:sp>
      <p:sp>
        <p:nvSpPr>
          <p:cNvPr id="9" name="TextBox 8"/>
          <p:cNvSpPr txBox="1"/>
          <p:nvPr/>
        </p:nvSpPr>
        <p:spPr>
          <a:xfrm>
            <a:off x="8412480" y="3904487"/>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more accuracy per parameter for the shared trunk</a:t>
            </a:r>
          </a:p>
        </p:txBody>
      </p:sp>
      <p:sp>
        <p:nvSpPr>
          <p:cNvPr id="10" name="TextBox 9"/>
          <p:cNvSpPr txBox="1"/>
          <p:nvPr/>
        </p:nvSpPr>
        <p:spPr>
          <a:xfrm>
            <a:off x="8412480" y="4526280"/>
            <a:ext cx="3291840" cy="685800"/>
          </a:xfrm>
          <a:prstGeom prst="rect">
            <a:avLst/>
          </a:prstGeom>
          <a:noFill/>
        </p:spPr>
        <p:txBody>
          <a:bodyPr wrap="square" anchor="t" lIns="0" rIns="0" tIns="0" bIns="0">
            <a:spAutoFit/>
          </a:bodyPr>
          <a:lstStyle/>
          <a:p>
            <a:pPr algn="l"/>
            <a:r>
              <a:rPr sz="3400" b="1" i="0">
                <a:solidFill>
                  <a:srgbClr val="1BAF7A"/>
                </a:solidFill>
                <a:latin typeface="Cambria"/>
              </a:rPr>
              <a:t>1.8–2.9×</a:t>
            </a:r>
          </a:p>
        </p:txBody>
      </p:sp>
      <p:sp>
        <p:nvSpPr>
          <p:cNvPr id="11" name="TextBox 10"/>
          <p:cNvSpPr txBox="1"/>
          <p:nvPr/>
        </p:nvSpPr>
        <p:spPr>
          <a:xfrm>
            <a:off x="8412480" y="518464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more accuracy per MB for isolation at the default 5,000 states/task</a:t>
            </a:r>
          </a:p>
        </p:txBody>
      </p:sp>
      <p:sp>
        <p:nvSpPr>
          <p:cNvPr id="12" name="TextBox 1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3" name="TextBox 1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ISOLATION WIDTH</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Post-freeze follow-up: narrower isolation networks win at equal memory</a:t>
            </a:r>
          </a:p>
        </p:txBody>
      </p:sp>
      <p:sp>
        <p:nvSpPr>
          <p:cNvPr id="4" name="TextBox 3"/>
          <p:cNvSpPr txBox="1"/>
          <p:nvPr/>
        </p:nvSpPr>
        <p:spPr>
          <a:xfrm>
            <a:off x="548640" y="1737360"/>
            <a:ext cx="6949440" cy="365760"/>
          </a:xfrm>
          <a:prstGeom prst="rect">
            <a:avLst/>
          </a:prstGeom>
          <a:noFill/>
        </p:spPr>
        <p:txBody>
          <a:bodyPr wrap="square" anchor="t" lIns="0" rIns="0" tIns="0" bIns="0">
            <a:spAutoFit/>
          </a:bodyPr>
          <a:lstStyle/>
          <a:p>
            <a:pPr algn="l"/>
            <a:r>
              <a:rPr sz="1300" b="0" i="0">
                <a:solidFill>
                  <a:srgbClr val="85837D"/>
                </a:solidFill>
                <a:latin typeface="Calibri"/>
              </a:rPr>
              <a:t>CNN, 5 tasks · 10 seeds per arm (seeds 201–210, the same in every arm) · confirmatory, post-freeze</a:t>
            </a:r>
          </a:p>
        </p:txBody>
      </p:sp>
      <p:sp>
        <p:nvSpPr>
          <p:cNvPr id="5" name="Rounded Rectangle 4"/>
          <p:cNvSpPr/>
          <p:nvPr/>
        </p:nvSpPr>
        <p:spPr>
          <a:xfrm>
            <a:off x="548640" y="2286000"/>
            <a:ext cx="7635240" cy="58521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286000"/>
            <a:ext cx="3291840" cy="585216"/>
          </a:xfrm>
          <a:prstGeom prst="rect">
            <a:avLst/>
          </a:prstGeom>
          <a:noFill/>
        </p:spPr>
        <p:txBody>
          <a:bodyPr wrap="square" anchor="ctr" lIns="0" rIns="0" tIns="0" bIns="0">
            <a:spAutoFit/>
          </a:bodyPr>
          <a:lstStyle/>
          <a:p>
            <a:pPr algn="l"/>
            <a:r>
              <a:rPr sz="1350" b="1" i="0">
                <a:solidFill>
                  <a:srgbClr val="151514"/>
                </a:solidFill>
                <a:latin typeface="Calibri"/>
              </a:rPr>
              <a:t>Isolation, quarter width</a:t>
            </a:r>
          </a:p>
        </p:txBody>
      </p:sp>
      <p:cxnSp>
        <p:nvCxnSpPr>
          <p:cNvPr id="7" name="Connector 6"/>
          <p:cNvCxnSpPr/>
          <p:nvPr/>
        </p:nvCxnSpPr>
        <p:spPr>
          <a:xfrm>
            <a:off x="3977639" y="2578608"/>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052108" y="2496312"/>
            <a:ext cx="164592" cy="164592"/>
          </a:xfrm>
          <a:prstGeom prst="ellipse">
            <a:avLst/>
          </a:prstGeom>
          <a:solidFill>
            <a:srgbClr val="1BAF7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286000"/>
            <a:ext cx="1325880" cy="585216"/>
          </a:xfrm>
          <a:prstGeom prst="rect">
            <a:avLst/>
          </a:prstGeom>
          <a:noFill/>
        </p:spPr>
        <p:txBody>
          <a:bodyPr wrap="square" anchor="ctr" lIns="0" rIns="0" tIns="0" bIns="0">
            <a:spAutoFit/>
          </a:bodyPr>
          <a:lstStyle/>
          <a:p>
            <a:pPr algn="l"/>
            <a:r>
              <a:rPr sz="1200" b="0" i="0">
                <a:solidFill>
                  <a:srgbClr val="52514E"/>
                </a:solidFill>
                <a:latin typeface="Calibri"/>
              </a:rPr>
              <a:t>0.972 · 0.90 MB</a:t>
            </a:r>
          </a:p>
        </p:txBody>
      </p:sp>
      <p:sp>
        <p:nvSpPr>
          <p:cNvPr id="10" name="Rounded Rectangle 9"/>
          <p:cNvSpPr/>
          <p:nvPr/>
        </p:nvSpPr>
        <p:spPr>
          <a:xfrm>
            <a:off x="548640" y="2999232"/>
            <a:ext cx="7635240" cy="58521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999232"/>
            <a:ext cx="3291840" cy="585216"/>
          </a:xfrm>
          <a:prstGeom prst="rect">
            <a:avLst/>
          </a:prstGeom>
          <a:noFill/>
        </p:spPr>
        <p:txBody>
          <a:bodyPr wrap="square" anchor="ctr" lIns="0" rIns="0" tIns="0" bIns="0">
            <a:spAutoFit/>
          </a:bodyPr>
          <a:lstStyle/>
          <a:p>
            <a:pPr algn="l"/>
            <a:r>
              <a:rPr sz="1350" b="1" i="0">
                <a:solidFill>
                  <a:srgbClr val="151514"/>
                </a:solidFill>
                <a:latin typeface="Calibri"/>
              </a:rPr>
              <a:t>Shared trunk + LwF (int8 teacher)</a:t>
            </a:r>
          </a:p>
        </p:txBody>
      </p:sp>
      <p:cxnSp>
        <p:nvCxnSpPr>
          <p:cNvPr id="12" name="Connector 11"/>
          <p:cNvCxnSpPr/>
          <p:nvPr/>
        </p:nvCxnSpPr>
        <p:spPr>
          <a:xfrm>
            <a:off x="3977639" y="3291840"/>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57113" y="3209544"/>
            <a:ext cx="164592" cy="164592"/>
          </a:xfrm>
          <a:prstGeom prst="ellipse">
            <a:avLst/>
          </a:prstGeom>
          <a:solidFill>
            <a:srgbClr val="4A3AA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999232"/>
            <a:ext cx="1325880" cy="585216"/>
          </a:xfrm>
          <a:prstGeom prst="rect">
            <a:avLst/>
          </a:prstGeom>
          <a:noFill/>
        </p:spPr>
        <p:txBody>
          <a:bodyPr wrap="square" anchor="ctr" lIns="0" rIns="0" tIns="0" bIns="0">
            <a:spAutoFit/>
          </a:bodyPr>
          <a:lstStyle/>
          <a:p>
            <a:pPr algn="l"/>
            <a:r>
              <a:rPr sz="1200" b="0" i="0">
                <a:solidFill>
                  <a:srgbClr val="52514E"/>
                </a:solidFill>
                <a:latin typeface="Calibri"/>
              </a:rPr>
              <a:t>0.944 · 0.91 MB</a:t>
            </a:r>
          </a:p>
        </p:txBody>
      </p:sp>
      <p:sp>
        <p:nvSpPr>
          <p:cNvPr id="15" name="Rounded Rectangle 14"/>
          <p:cNvSpPr/>
          <p:nvPr/>
        </p:nvSpPr>
        <p:spPr>
          <a:xfrm>
            <a:off x="548640" y="3712464"/>
            <a:ext cx="7635240" cy="58521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712464"/>
            <a:ext cx="3291840" cy="585216"/>
          </a:xfrm>
          <a:prstGeom prst="rect">
            <a:avLst/>
          </a:prstGeom>
          <a:noFill/>
        </p:spPr>
        <p:txBody>
          <a:bodyPr wrap="square" anchor="ctr" lIns="0" rIns="0" tIns="0" bIns="0">
            <a:spAutoFit/>
          </a:bodyPr>
          <a:lstStyle/>
          <a:p>
            <a:pPr algn="l"/>
            <a:r>
              <a:rPr sz="1350" b="1" i="0">
                <a:solidFill>
                  <a:srgbClr val="151514"/>
                </a:solidFill>
                <a:latin typeface="Calibri"/>
              </a:rPr>
              <a:t>Shared trunk + replay (973 states/task)</a:t>
            </a:r>
          </a:p>
        </p:txBody>
      </p:sp>
      <p:cxnSp>
        <p:nvCxnSpPr>
          <p:cNvPr id="17" name="Connector 16"/>
          <p:cNvCxnSpPr/>
          <p:nvPr/>
        </p:nvCxnSpPr>
        <p:spPr>
          <a:xfrm>
            <a:off x="3977639" y="4005072"/>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132832" y="3922776"/>
            <a:ext cx="164592" cy="164592"/>
          </a:xfrm>
          <a:prstGeom prst="ellipse">
            <a:avLst/>
          </a:prstGeom>
          <a:solidFill>
            <a:srgbClr val="EB683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3712464"/>
            <a:ext cx="1325880" cy="585216"/>
          </a:xfrm>
          <a:prstGeom prst="rect">
            <a:avLst/>
          </a:prstGeom>
          <a:noFill/>
        </p:spPr>
        <p:txBody>
          <a:bodyPr wrap="square" anchor="ctr" lIns="0" rIns="0" tIns="0" bIns="0">
            <a:spAutoFit/>
          </a:bodyPr>
          <a:lstStyle/>
          <a:p>
            <a:pPr algn="l"/>
            <a:r>
              <a:rPr sz="1200" b="0" i="0">
                <a:solidFill>
                  <a:srgbClr val="52514E"/>
                </a:solidFill>
                <a:latin typeface="Calibri"/>
              </a:rPr>
              <a:t>0.920 · 1.83 MB</a:t>
            </a:r>
          </a:p>
        </p:txBody>
      </p:sp>
      <p:sp>
        <p:nvSpPr>
          <p:cNvPr id="20" name="Rounded Rectangle 19"/>
          <p:cNvSpPr/>
          <p:nvPr/>
        </p:nvSpPr>
        <p:spPr>
          <a:xfrm>
            <a:off x="548640" y="4425696"/>
            <a:ext cx="7635240" cy="58521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425696"/>
            <a:ext cx="3291840" cy="585216"/>
          </a:xfrm>
          <a:prstGeom prst="rect">
            <a:avLst/>
          </a:prstGeom>
          <a:noFill/>
        </p:spPr>
        <p:txBody>
          <a:bodyPr wrap="square" anchor="ctr" lIns="0" rIns="0" tIns="0" bIns="0">
            <a:spAutoFit/>
          </a:bodyPr>
          <a:lstStyle/>
          <a:p>
            <a:pPr algn="l"/>
            <a:r>
              <a:rPr sz="1350" b="1" i="0">
                <a:solidFill>
                  <a:srgbClr val="151514"/>
                </a:solidFill>
                <a:latin typeface="Calibri"/>
              </a:rPr>
              <a:t>Isolation, full width</a:t>
            </a:r>
          </a:p>
        </p:txBody>
      </p:sp>
      <p:cxnSp>
        <p:nvCxnSpPr>
          <p:cNvPr id="22" name="Connector 21"/>
          <p:cNvCxnSpPr/>
          <p:nvPr/>
        </p:nvCxnSpPr>
        <p:spPr>
          <a:xfrm>
            <a:off x="3977639" y="4718304"/>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6105143" y="4636008"/>
            <a:ext cx="164592" cy="164592"/>
          </a:xfrm>
          <a:prstGeom prst="ellipse">
            <a:avLst/>
          </a:prstGeom>
          <a:solidFill>
            <a:srgbClr val="1BAF7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4425696"/>
            <a:ext cx="1325880" cy="585216"/>
          </a:xfrm>
          <a:prstGeom prst="rect">
            <a:avLst/>
          </a:prstGeom>
          <a:noFill/>
        </p:spPr>
        <p:txBody>
          <a:bodyPr wrap="square" anchor="ctr" lIns="0" rIns="0" tIns="0" bIns="0">
            <a:spAutoFit/>
          </a:bodyPr>
          <a:lstStyle/>
          <a:p>
            <a:pPr algn="l"/>
            <a:r>
              <a:rPr sz="1200" b="0" i="0">
                <a:solidFill>
                  <a:srgbClr val="52514E"/>
                </a:solidFill>
                <a:latin typeface="Calibri"/>
              </a:rPr>
              <a:t>0.975 · 3.20 MB</a:t>
            </a:r>
          </a:p>
        </p:txBody>
      </p:sp>
      <p:sp>
        <p:nvSpPr>
          <p:cNvPr id="25" name="TextBox 24"/>
          <p:cNvSpPr txBox="1"/>
          <p:nvPr/>
        </p:nvSpPr>
        <p:spPr>
          <a:xfrm>
            <a:off x="3794759" y="5138928"/>
            <a:ext cx="548640" cy="274320"/>
          </a:xfrm>
          <a:prstGeom prst="rect">
            <a:avLst/>
          </a:prstGeom>
          <a:noFill/>
        </p:spPr>
        <p:txBody>
          <a:bodyPr wrap="square" anchor="t" lIns="0" rIns="0" tIns="0" bIns="0">
            <a:spAutoFit/>
          </a:bodyPr>
          <a:lstStyle/>
          <a:p>
            <a:pPr algn="l"/>
            <a:r>
              <a:rPr sz="1050" b="0" i="0">
                <a:solidFill>
                  <a:srgbClr val="85837D"/>
                </a:solidFill>
                <a:latin typeface="Calibri"/>
              </a:rPr>
              <a:t>0.85</a:t>
            </a:r>
          </a:p>
        </p:txBody>
      </p:sp>
      <p:sp>
        <p:nvSpPr>
          <p:cNvPr id="26" name="TextBox 25"/>
          <p:cNvSpPr txBox="1"/>
          <p:nvPr/>
        </p:nvSpPr>
        <p:spPr>
          <a:xfrm>
            <a:off x="6355080" y="5138928"/>
            <a:ext cx="548640" cy="274320"/>
          </a:xfrm>
          <a:prstGeom prst="rect">
            <a:avLst/>
          </a:prstGeom>
          <a:noFill/>
        </p:spPr>
        <p:txBody>
          <a:bodyPr wrap="square" anchor="t" lIns="0" rIns="0" tIns="0" bIns="0">
            <a:spAutoFit/>
          </a:bodyPr>
          <a:lstStyle/>
          <a:p>
            <a:pPr algn="r"/>
            <a:r>
              <a:rPr sz="1050" b="0" i="0">
                <a:solidFill>
                  <a:srgbClr val="85837D"/>
                </a:solidFill>
                <a:latin typeface="Calibri"/>
              </a:rPr>
              <a:t>1.00</a:t>
            </a:r>
          </a:p>
        </p:txBody>
      </p:sp>
      <p:sp>
        <p:nvSpPr>
          <p:cNvPr id="27" name="TextBox 26"/>
          <p:cNvSpPr txBox="1"/>
          <p:nvPr/>
        </p:nvSpPr>
        <p:spPr>
          <a:xfrm>
            <a:off x="548640" y="5440680"/>
            <a:ext cx="7315200" cy="731520"/>
          </a:xfrm>
          <a:prstGeom prst="rect">
            <a:avLst/>
          </a:prstGeom>
          <a:noFill/>
        </p:spPr>
        <p:txBody>
          <a:bodyPr wrap="square" anchor="t" lIns="0" rIns="0" tIns="0" bIns="0">
            <a:spAutoFit/>
          </a:bodyPr>
          <a:lstStyle/>
          <a:p>
            <a:pPr algn="l"/>
            <a:r>
              <a:rPr sz="1200" b="0" i="0">
                <a:solidFill>
                  <a:srgbClr val="85837D"/>
                </a:solidFill>
                <a:latin typeface="Calibri"/>
              </a:rPr>
              <a:t>Dots: mean final accuracy on a 0.85–1.00 scale. Memory: fp32 parameters plus stored states. The shared trunk was not shrunk the same way; the SNN case is untested.</a:t>
            </a:r>
          </a:p>
        </p:txBody>
      </p:sp>
      <p:sp>
        <p:nvSpPr>
          <p:cNvPr id="28" name="TextBox 27"/>
          <p:cNvSpPr txBox="1"/>
          <p:nvPr/>
        </p:nvSpPr>
        <p:spPr>
          <a:xfrm>
            <a:off x="8503920" y="1737360"/>
            <a:ext cx="3154680" cy="685800"/>
          </a:xfrm>
          <a:prstGeom prst="rect">
            <a:avLst/>
          </a:prstGeom>
          <a:noFill/>
        </p:spPr>
        <p:txBody>
          <a:bodyPr wrap="square" anchor="t" lIns="0" rIns="0" tIns="0" bIns="0">
            <a:spAutoFit/>
          </a:bodyPr>
          <a:lstStyle/>
          <a:p>
            <a:pPr algn="l"/>
            <a:r>
              <a:rPr sz="3400" b="1" i="0">
                <a:solidFill>
                  <a:srgbClr val="1BAF7A"/>
                </a:solidFill>
                <a:latin typeface="Cambria"/>
              </a:rPr>
              <a:t>+0.028</a:t>
            </a:r>
          </a:p>
        </p:txBody>
      </p:sp>
      <p:sp>
        <p:nvSpPr>
          <p:cNvPr id="29" name="TextBox 28"/>
          <p:cNvSpPr txBox="1"/>
          <p:nvPr/>
        </p:nvSpPr>
        <p:spPr>
          <a:xfrm>
            <a:off x="8503920" y="2395728"/>
            <a:ext cx="315468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quarter-width isolation − shared trunk + LwF, at equal memory; 95% CI [+0.015, +0.041], Holm p = 0.002</a:t>
            </a:r>
          </a:p>
        </p:txBody>
      </p:sp>
      <p:sp>
        <p:nvSpPr>
          <p:cNvPr id="30" name="TextBox 29"/>
          <p:cNvSpPr txBox="1"/>
          <p:nvPr/>
        </p:nvSpPr>
        <p:spPr>
          <a:xfrm>
            <a:off x="8503920" y="3154680"/>
            <a:ext cx="3154680" cy="685800"/>
          </a:xfrm>
          <a:prstGeom prst="rect">
            <a:avLst/>
          </a:prstGeom>
          <a:noFill/>
        </p:spPr>
        <p:txBody>
          <a:bodyPr wrap="square" anchor="t" lIns="0" rIns="0" tIns="0" bIns="0">
            <a:spAutoFit/>
          </a:bodyPr>
          <a:lstStyle/>
          <a:p>
            <a:pPr algn="l"/>
            <a:r>
              <a:rPr sz="3400" b="1" i="0">
                <a:solidFill>
                  <a:srgbClr val="1BAF7A"/>
                </a:solidFill>
                <a:latin typeface="Cambria"/>
              </a:rPr>
              <a:t>+0.052</a:t>
            </a:r>
          </a:p>
        </p:txBody>
      </p:sp>
      <p:sp>
        <p:nvSpPr>
          <p:cNvPr id="31" name="TextBox 30"/>
          <p:cNvSpPr txBox="1"/>
          <p:nvPr/>
        </p:nvSpPr>
        <p:spPr>
          <a:xfrm>
            <a:off x="8503920" y="3813048"/>
            <a:ext cx="315468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vs shared trunk + replay with twice the memory; 95% CI [+0.015, +0.089], Holm p = 0.011</a:t>
            </a:r>
          </a:p>
        </p:txBody>
      </p:sp>
      <p:sp>
        <p:nvSpPr>
          <p:cNvPr id="32" name="TextBox 31"/>
          <p:cNvSpPr txBox="1"/>
          <p:nvPr/>
        </p:nvSpPr>
        <p:spPr>
          <a:xfrm>
            <a:off x="8503920" y="4572000"/>
            <a:ext cx="3154680" cy="685800"/>
          </a:xfrm>
          <a:prstGeom prst="rect">
            <a:avLst/>
          </a:prstGeom>
          <a:noFill/>
        </p:spPr>
        <p:txBody>
          <a:bodyPr wrap="square" anchor="t" lIns="0" rIns="0" tIns="0" bIns="0">
            <a:spAutoFit/>
          </a:bodyPr>
          <a:lstStyle/>
          <a:p>
            <a:pPr algn="l"/>
            <a:r>
              <a:rPr sz="3400" b="1" i="0">
                <a:solidFill>
                  <a:srgbClr val="151514"/>
                </a:solidFill>
                <a:latin typeface="Cambria"/>
              </a:rPr>
              <a:t>−0.004</a:t>
            </a:r>
          </a:p>
        </p:txBody>
      </p:sp>
      <p:sp>
        <p:nvSpPr>
          <p:cNvPr id="33" name="TextBox 32"/>
          <p:cNvSpPr txBox="1"/>
          <p:nvPr/>
        </p:nvSpPr>
        <p:spPr>
          <a:xfrm>
            <a:off x="8503920" y="5230368"/>
            <a:ext cx="315468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vs full-width isolation at 3.6× the memory: no large difference</a:t>
            </a:r>
          </a:p>
        </p:txBody>
      </p:sp>
      <p:sp>
        <p:nvSpPr>
          <p:cNvPr id="34" name="TextBox 3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35" name="TextBox 3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LOCAL PLASTICITY</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Tested STDP rule ≈ a same-size random update; homeostasis speeds up DFA</a:t>
            </a:r>
          </a:p>
        </p:txBody>
      </p:sp>
      <p:pic>
        <p:nvPicPr>
          <p:cNvPr id="4" name="Picture 3" descr="fig_rq1.png"/>
          <p:cNvPicPr>
            <a:picLocks noChangeAspect="1"/>
          </p:cNvPicPr>
          <p:nvPr/>
        </p:nvPicPr>
        <p:blipFill>
          <a:blip r:embed="rId2"/>
          <a:stretch>
            <a:fillRect/>
          </a:stretch>
        </p:blipFill>
        <p:spPr>
          <a:xfrm>
            <a:off x="457200" y="1832561"/>
            <a:ext cx="7223759" cy="3284316"/>
          </a:xfrm>
          <a:prstGeom prst="rect">
            <a:avLst/>
          </a:prstGeom>
        </p:spPr>
      </p:pic>
      <p:sp>
        <p:nvSpPr>
          <p:cNvPr id="5" name="TextBox 4"/>
          <p:cNvSpPr txBox="1"/>
          <p:nvPr/>
        </p:nvSpPr>
        <p:spPr>
          <a:xfrm>
            <a:off x="548640" y="5349240"/>
            <a:ext cx="6949440" cy="731520"/>
          </a:xfrm>
          <a:prstGeom prst="rect">
            <a:avLst/>
          </a:prstGeom>
          <a:noFill/>
        </p:spPr>
        <p:txBody>
          <a:bodyPr wrap="square" anchor="t" lIns="0" rIns="0" tIns="0" bIns="0">
            <a:spAutoFit/>
          </a:bodyPr>
          <a:lstStyle/>
          <a:p>
            <a:pPr algn="l"/>
            <a:r>
              <a:rPr sz="1200" b="0" i="0">
                <a:solidFill>
                  <a:srgbClr val="85837D"/>
                </a:solidFill>
                <a:latin typeface="Calibri"/>
              </a:rPr>
              <a:t>DoorKey-6x6, 10 seeds per arm (same seeds), confirmatory. Dots: seeds (filled = solved); bars: mean and 95% CI; numbers: seeds solved.</a:t>
            </a:r>
          </a:p>
        </p:txBody>
      </p:sp>
      <p:sp>
        <p:nvSpPr>
          <p:cNvPr id="6" name="TextBox 5"/>
          <p:cNvSpPr txBox="1"/>
          <p:nvPr/>
        </p:nvSpPr>
        <p:spPr>
          <a:xfrm>
            <a:off x="7818120" y="1783080"/>
            <a:ext cx="3824935" cy="4206240"/>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500" b="1" i="0">
                <a:solidFill>
                  <a:srgbClr val="151514"/>
                </a:solidFill>
                <a:latin typeface="Calibri"/>
              </a:rPr>
              <a:t>Tested STDP rule ≈ random update: </a:t>
            </a:r>
            <a:r>
              <a:rPr sz="1500" b="0" i="0">
                <a:solidFill>
                  <a:srgbClr val="151514"/>
                </a:solidFill>
                <a:latin typeface="Calibri"/>
              </a:rPr>
              <a:t>ΔAUC +0.033 [−0.260, +0.326], p = 0.818 (wide interval)</a:t>
            </a:r>
          </a:p>
          <a:p>
            <a:pPr algn="l" marL="256032" indent="-201168">
              <a:spcAft>
                <a:spcPts val="1200"/>
              </a:spcAft>
              <a:buClr>
                <a:srgbClr val="85837D"/>
              </a:buClr>
              <a:buFont typeface="Arial"/>
              <a:buChar char="•"/>
            </a:pPr>
            <a:r>
              <a:rPr sz="1500" b="1" i="0">
                <a:solidFill>
                  <a:srgbClr val="151514"/>
                </a:solidFill>
                <a:latin typeface="Calibri"/>
              </a:rPr>
              <a:t>Unstabilised STDP hurts: </a:t>
            </a:r>
            <a:r>
              <a:rPr sz="1500" b="0" i="0">
                <a:solidFill>
                  <a:srgbClr val="151514"/>
                </a:solidFill>
                <a:latin typeface="Calibri"/>
              </a:rPr>
              <a:t>solved 0/3 vs 3/3 with backprop (runaway firing)</a:t>
            </a:r>
          </a:p>
          <a:p>
            <a:pPr algn="l" marL="256032" indent="-201168">
              <a:spcAft>
                <a:spcPts val="1200"/>
              </a:spcAft>
              <a:buClr>
                <a:srgbClr val="85837D"/>
              </a:buClr>
              <a:buFont typeface="Arial"/>
              <a:buChar char="•"/>
            </a:pPr>
            <a:r>
              <a:rPr sz="1500" b="1" i="0">
                <a:solidFill>
                  <a:srgbClr val="151514"/>
                </a:solidFill>
                <a:latin typeface="Calibri"/>
              </a:rPr>
              <a:t>Homeostasis + backprop: </a:t>
            </a:r>
            <a:r>
              <a:rPr sz="1500" b="0" i="0">
                <a:solidFill>
                  <a:srgbClr val="151514"/>
                </a:solidFill>
                <a:latin typeface="Calibri"/>
              </a:rPr>
              <a:t>raw p = 0.029, Holm p = 0.117: not significant</a:t>
            </a:r>
          </a:p>
          <a:p>
            <a:pPr algn="l" marL="256032" indent="-201168">
              <a:spcAft>
                <a:spcPts val="1200"/>
              </a:spcAft>
              <a:buClr>
                <a:srgbClr val="85837D"/>
              </a:buClr>
              <a:buFont typeface="Arial"/>
              <a:buChar char="•"/>
            </a:pPr>
            <a:r>
              <a:rPr sz="1500" b="1" i="0">
                <a:solidFill>
                  <a:srgbClr val="151514"/>
                </a:solidFill>
                <a:latin typeface="Calibri"/>
              </a:rPr>
              <a:t>Homeostasis + DFA (backprop-free encoder): </a:t>
            </a:r>
            <a:r>
              <a:rPr sz="1500" b="0" i="0">
                <a:solidFill>
                  <a:srgbClr val="151514"/>
                </a:solidFill>
                <a:latin typeface="Calibri"/>
              </a:rPr>
              <a:t>ΔAUC +0.326 [+0.101, +0.551], Holm p = 0.017; solved 7/10 vs 2/10 (Holm p = 0.070)</a:t>
            </a:r>
          </a:p>
        </p:txBody>
      </p:sp>
      <p:sp>
        <p:nvSpPr>
          <p:cNvPr id="7" name="TextBox 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8" name="TextBox 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EFFICIENCY</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Spiking encoder: fewer operations, not more accuracy</a:t>
            </a:r>
          </a:p>
        </p:txBody>
      </p:sp>
      <p:pic>
        <p:nvPicPr>
          <p:cNvPr id="4" name="Picture 3" descr="fig_frontier.png"/>
          <p:cNvPicPr>
            <a:picLocks noChangeAspect="1"/>
          </p:cNvPicPr>
          <p:nvPr/>
        </p:nvPicPr>
        <p:blipFill>
          <a:blip r:embed="rId2"/>
          <a:stretch>
            <a:fillRect/>
          </a:stretch>
        </p:blipFill>
        <p:spPr>
          <a:xfrm>
            <a:off x="457200" y="1839680"/>
            <a:ext cx="7589520" cy="2995759"/>
          </a:xfrm>
          <a:prstGeom prst="rect">
            <a:avLst/>
          </a:prstGeom>
        </p:spPr>
      </p:pic>
      <p:sp>
        <p:nvSpPr>
          <p:cNvPr id="5" name="TextBox 4"/>
          <p:cNvSpPr txBox="1"/>
          <p:nvPr/>
        </p:nvSpPr>
        <p:spPr>
          <a:xfrm>
            <a:off x="548640" y="5029200"/>
            <a:ext cx="7406640" cy="914400"/>
          </a:xfrm>
          <a:prstGeom prst="rect">
            <a:avLst/>
          </a:prstGeom>
          <a:noFill/>
        </p:spPr>
        <p:txBody>
          <a:bodyPr wrap="square" anchor="t" lIns="0" rIns="0" tIns="0" bIns="0">
            <a:spAutoFit/>
          </a:bodyPr>
          <a:lstStyle/>
          <a:p>
            <a:pPr algn="l"/>
            <a:r>
              <a:rPr sz="1200" b="0" i="0">
                <a:solidFill>
                  <a:srgbClr val="85837D"/>
                </a:solidFill>
                <a:latin typeface="Calibri"/>
              </a:rPr>
              <a:t>Behaviour cloning of a DoorKey-6x6 teacher, activity penalty swept; 2 seeds per point. Operations = synaptic events (SNN) or non-zero multiply-accumulates (sparsified CNN).</a:t>
            </a:r>
          </a:p>
        </p:txBody>
      </p:sp>
      <p:sp>
        <p:nvSpPr>
          <p:cNvPr id="6" name="TextBox 5"/>
          <p:cNvSpPr txBox="1"/>
          <p:nvPr/>
        </p:nvSpPr>
        <p:spPr>
          <a:xfrm>
            <a:off x="8412480" y="1737360"/>
            <a:ext cx="3291840" cy="685800"/>
          </a:xfrm>
          <a:prstGeom prst="rect">
            <a:avLst/>
          </a:prstGeom>
          <a:noFill/>
        </p:spPr>
        <p:txBody>
          <a:bodyPr wrap="square" anchor="t" lIns="0" rIns="0" tIns="0" bIns="0">
            <a:spAutoFit/>
          </a:bodyPr>
          <a:lstStyle/>
          <a:p>
            <a:pPr algn="l"/>
            <a:r>
              <a:rPr sz="4000" b="1" i="0">
                <a:solidFill>
                  <a:srgbClr val="4A3AA7"/>
                </a:solidFill>
                <a:latin typeface="Cambria"/>
              </a:rPr>
              <a:t>16.6k</a:t>
            </a:r>
          </a:p>
        </p:txBody>
      </p:sp>
      <p:sp>
        <p:nvSpPr>
          <p:cNvPr id="7" name="TextBox 6"/>
          <p:cNvSpPr txBox="1"/>
          <p:nvPr/>
        </p:nvSpPr>
        <p:spPr>
          <a:xfrm>
            <a:off x="8412480" y="239572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ops/frame: the SNN still works (accuracy 0.986)</a:t>
            </a:r>
          </a:p>
        </p:txBody>
      </p:sp>
      <p:sp>
        <p:nvSpPr>
          <p:cNvPr id="8" name="TextBox 7"/>
          <p:cNvSpPr txBox="1"/>
          <p:nvPr/>
        </p:nvSpPr>
        <p:spPr>
          <a:xfrm>
            <a:off x="8412480" y="3063240"/>
            <a:ext cx="3291840" cy="685800"/>
          </a:xfrm>
          <a:prstGeom prst="rect">
            <a:avLst/>
          </a:prstGeom>
          <a:noFill/>
        </p:spPr>
        <p:txBody>
          <a:bodyPr wrap="square" anchor="t" lIns="0" rIns="0" tIns="0" bIns="0">
            <a:spAutoFit/>
          </a:bodyPr>
          <a:lstStyle/>
          <a:p>
            <a:pPr algn="l"/>
            <a:r>
              <a:rPr sz="4000" b="1" i="0">
                <a:solidFill>
                  <a:srgbClr val="151514"/>
                </a:solidFill>
                <a:latin typeface="Cambria"/>
              </a:rPr>
              <a:t>33k</a:t>
            </a:r>
          </a:p>
        </p:txBody>
      </p:sp>
      <p:sp>
        <p:nvSpPr>
          <p:cNvPr id="9" name="TextBox 8"/>
          <p:cNvSpPr txBox="1"/>
          <p:nvPr/>
        </p:nvSpPr>
        <p:spPr>
          <a:xfrm>
            <a:off x="8412480" y="372160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ops/frame: below this the sparsified CNN stops working</a:t>
            </a:r>
          </a:p>
        </p:txBody>
      </p:sp>
      <p:sp>
        <p:nvSpPr>
          <p:cNvPr id="10" name="TextBox 9"/>
          <p:cNvSpPr txBox="1"/>
          <p:nvPr/>
        </p:nvSpPr>
        <p:spPr>
          <a:xfrm>
            <a:off x="8412480" y="4389120"/>
            <a:ext cx="3291840" cy="685800"/>
          </a:xfrm>
          <a:prstGeom prst="rect">
            <a:avLst/>
          </a:prstGeom>
          <a:noFill/>
        </p:spPr>
        <p:txBody>
          <a:bodyPr wrap="square" anchor="t" lIns="0" rIns="0" tIns="0" bIns="0">
            <a:spAutoFit/>
          </a:bodyPr>
          <a:lstStyle/>
          <a:p>
            <a:pPr algn="l"/>
            <a:r>
              <a:rPr sz="4000" b="1" i="0">
                <a:solidFill>
                  <a:srgbClr val="EB6834"/>
                </a:solidFill>
                <a:latin typeface="Cambria"/>
              </a:rPr>
              <a:t>5.2×</a:t>
            </a:r>
          </a:p>
        </p:txBody>
      </p:sp>
      <p:sp>
        <p:nvSpPr>
          <p:cNvPr id="11" name="TextBox 10"/>
          <p:cNvSpPr txBox="1"/>
          <p:nvPr/>
        </p:nvSpPr>
        <p:spPr>
          <a:xfrm>
            <a:off x="8412480" y="504748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measured cost in our implementation: CPU ms per training step on 256 observations, 1 thread (80 vs 16); energy is an estimated arithmetic proxy</a:t>
            </a:r>
          </a:p>
        </p:txBody>
      </p:sp>
      <p:sp>
        <p:nvSpPr>
          <p:cNvPr id="12" name="TextBox 1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3" name="TextBox 1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HONEST ACCOUNTING</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What didn't survive controls, and why</a:t>
            </a:r>
          </a:p>
        </p:txBody>
      </p:sp>
      <p:sp>
        <p:nvSpPr>
          <p:cNvPr id="4" name="TextBox 3"/>
          <p:cNvSpPr txBox="1"/>
          <p:nvPr/>
        </p:nvSpPr>
        <p:spPr>
          <a:xfrm>
            <a:off x="685800" y="1719072"/>
            <a:ext cx="3291840" cy="274320"/>
          </a:xfrm>
          <a:prstGeom prst="rect">
            <a:avLst/>
          </a:prstGeom>
          <a:noFill/>
        </p:spPr>
        <p:txBody>
          <a:bodyPr wrap="square" anchor="t" lIns="0" rIns="0" tIns="0" bIns="0">
            <a:spAutoFit/>
          </a:bodyPr>
          <a:lstStyle/>
          <a:p>
            <a:pPr algn="l"/>
            <a:r>
              <a:rPr sz="1050" b="1" i="0">
                <a:solidFill>
                  <a:srgbClr val="85837D"/>
                </a:solidFill>
                <a:latin typeface="Calibri"/>
              </a:rPr>
              <a:t>EARLIER FINDING</a:t>
            </a:r>
          </a:p>
        </p:txBody>
      </p:sp>
      <p:sp>
        <p:nvSpPr>
          <p:cNvPr id="5" name="TextBox 4"/>
          <p:cNvSpPr txBox="1"/>
          <p:nvPr/>
        </p:nvSpPr>
        <p:spPr>
          <a:xfrm>
            <a:off x="4069080" y="1719072"/>
            <a:ext cx="2377440" cy="274320"/>
          </a:xfrm>
          <a:prstGeom prst="rect">
            <a:avLst/>
          </a:prstGeom>
          <a:noFill/>
        </p:spPr>
        <p:txBody>
          <a:bodyPr wrap="square" anchor="t" lIns="0" rIns="0" tIns="0" bIns="0">
            <a:spAutoFit/>
          </a:bodyPr>
          <a:lstStyle/>
          <a:p>
            <a:pPr algn="l"/>
            <a:r>
              <a:rPr sz="1050" b="1" i="0">
                <a:solidFill>
                  <a:srgbClr val="85837D"/>
                </a:solidFill>
                <a:latin typeface="Calibri"/>
              </a:rPr>
              <a:t>EVIDENCE THEN</a:t>
            </a:r>
          </a:p>
        </p:txBody>
      </p:sp>
      <p:sp>
        <p:nvSpPr>
          <p:cNvPr id="6" name="TextBox 5"/>
          <p:cNvSpPr txBox="1"/>
          <p:nvPr/>
        </p:nvSpPr>
        <p:spPr>
          <a:xfrm>
            <a:off x="6537960" y="1719072"/>
            <a:ext cx="3337560" cy="274320"/>
          </a:xfrm>
          <a:prstGeom prst="rect">
            <a:avLst/>
          </a:prstGeom>
          <a:noFill/>
        </p:spPr>
        <p:txBody>
          <a:bodyPr wrap="square" anchor="t" lIns="0" rIns="0" tIns="0" bIns="0">
            <a:spAutoFit/>
          </a:bodyPr>
          <a:lstStyle/>
          <a:p>
            <a:pPr algn="l"/>
            <a:r>
              <a:rPr sz="1050" b="1" i="0">
                <a:solidFill>
                  <a:srgbClr val="85837D"/>
                </a:solidFill>
                <a:latin typeface="Calibri"/>
              </a:rPr>
              <a:t>AFTER THE CONTROL</a:t>
            </a:r>
          </a:p>
        </p:txBody>
      </p:sp>
      <p:sp>
        <p:nvSpPr>
          <p:cNvPr id="7" name="TextBox 6"/>
          <p:cNvSpPr txBox="1"/>
          <p:nvPr/>
        </p:nvSpPr>
        <p:spPr>
          <a:xfrm>
            <a:off x="9966960" y="1719072"/>
            <a:ext cx="1813255" cy="274320"/>
          </a:xfrm>
          <a:prstGeom prst="rect">
            <a:avLst/>
          </a:prstGeom>
          <a:noFill/>
        </p:spPr>
        <p:txBody>
          <a:bodyPr wrap="square" anchor="t" lIns="0" rIns="0" tIns="0" bIns="0">
            <a:spAutoFit/>
          </a:bodyPr>
          <a:lstStyle/>
          <a:p>
            <a:pPr algn="l"/>
            <a:r>
              <a:rPr sz="1050" b="1" i="0">
                <a:solidFill>
                  <a:srgbClr val="85837D"/>
                </a:solidFill>
                <a:latin typeface="Calibri"/>
              </a:rPr>
              <a:t>CAUSE</a:t>
            </a:r>
          </a:p>
        </p:txBody>
      </p:sp>
      <p:sp>
        <p:nvSpPr>
          <p:cNvPr id="8" name="Rounded Rectangle 7"/>
          <p:cNvSpPr/>
          <p:nvPr/>
        </p:nvSpPr>
        <p:spPr>
          <a:xfrm>
            <a:off x="548640" y="201168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2011680"/>
            <a:ext cx="3108960" cy="461771"/>
          </a:xfrm>
          <a:prstGeom prst="rect">
            <a:avLst/>
          </a:prstGeom>
          <a:noFill/>
        </p:spPr>
        <p:txBody>
          <a:bodyPr wrap="square" anchor="ctr" lIns="0" rIns="0" tIns="0" bIns="0">
            <a:spAutoFit/>
          </a:bodyPr>
          <a:lstStyle/>
          <a:p>
            <a:pPr algn="l"/>
            <a:r>
              <a:rPr sz="1250" b="1" i="0">
                <a:solidFill>
                  <a:srgbClr val="151514"/>
                </a:solidFill>
                <a:latin typeface="Calibri"/>
              </a:rPr>
              <a:t>Sleep beats replay (SNN+Transformer)</a:t>
            </a:r>
          </a:p>
        </p:txBody>
      </p:sp>
      <p:sp>
        <p:nvSpPr>
          <p:cNvPr id="10" name="TextBox 9"/>
          <p:cNvSpPr txBox="1"/>
          <p:nvPr/>
        </p:nvSpPr>
        <p:spPr>
          <a:xfrm>
            <a:off x="4069080" y="2011680"/>
            <a:ext cx="2194560" cy="461771"/>
          </a:xfrm>
          <a:prstGeom prst="rect">
            <a:avLst/>
          </a:prstGeom>
          <a:noFill/>
        </p:spPr>
        <p:txBody>
          <a:bodyPr wrap="square" anchor="ctr" lIns="0" rIns="0" tIns="0" bIns="0">
            <a:spAutoFit/>
          </a:bodyPr>
          <a:lstStyle/>
          <a:p>
            <a:pPr algn="l"/>
            <a:r>
              <a:rPr sz="1200" b="0" i="0">
                <a:solidFill>
                  <a:srgbClr val="52514E"/>
                </a:solidFill>
                <a:latin typeface="Calibri"/>
              </a:rPr>
              <a:t>p = 0.072 with 3 seeds</a:t>
            </a:r>
          </a:p>
        </p:txBody>
      </p:sp>
      <p:sp>
        <p:nvSpPr>
          <p:cNvPr id="11" name="TextBox 10"/>
          <p:cNvSpPr txBox="1"/>
          <p:nvPr/>
        </p:nvSpPr>
        <p:spPr>
          <a:xfrm>
            <a:off x="6537960" y="2011680"/>
            <a:ext cx="3154679" cy="461771"/>
          </a:xfrm>
          <a:prstGeom prst="rect">
            <a:avLst/>
          </a:prstGeom>
          <a:noFill/>
        </p:spPr>
        <p:txBody>
          <a:bodyPr wrap="square" anchor="ctr" lIns="0" rIns="0" tIns="0" bIns="0">
            <a:spAutoFit/>
          </a:bodyPr>
          <a:lstStyle/>
          <a:p>
            <a:pPr algn="l"/>
            <a:r>
              <a:rPr sz="1200" b="0" i="0">
                <a:solidFill>
                  <a:srgbClr val="52514E"/>
                </a:solidFill>
                <a:latin typeface="Calibri"/>
              </a:rPr>
              <a:t>tie at a matched replay budget: p = 0.415, 8 seeds</a:t>
            </a:r>
          </a:p>
        </p:txBody>
      </p:sp>
      <p:sp>
        <p:nvSpPr>
          <p:cNvPr id="12" name="TextBox 11"/>
          <p:cNvSpPr txBox="1"/>
          <p:nvPr/>
        </p:nvSpPr>
        <p:spPr>
          <a:xfrm>
            <a:off x="9966960" y="2011680"/>
            <a:ext cx="1630375" cy="461771"/>
          </a:xfrm>
          <a:prstGeom prst="rect">
            <a:avLst/>
          </a:prstGeom>
          <a:noFill/>
        </p:spPr>
        <p:txBody>
          <a:bodyPr wrap="square" anchor="ctr" lIns="0" rIns="0" tIns="0" bIns="0">
            <a:spAutoFit/>
          </a:bodyPr>
          <a:lstStyle/>
          <a:p>
            <a:pPr algn="l"/>
            <a:r>
              <a:rPr sz="1200" b="0" i="0">
                <a:solidFill>
                  <a:srgbClr val="151514"/>
                </a:solidFill>
                <a:latin typeface="Calibri"/>
              </a:rPr>
              <a:t>seeds; replay budget</a:t>
            </a:r>
          </a:p>
        </p:txBody>
      </p:sp>
      <p:sp>
        <p:nvSpPr>
          <p:cNvPr id="13" name="Rounded Rectangle 12"/>
          <p:cNvSpPr/>
          <p:nvPr/>
        </p:nvSpPr>
        <p:spPr>
          <a:xfrm>
            <a:off x="548640" y="2537460"/>
            <a:ext cx="11094415" cy="461771"/>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537460"/>
            <a:ext cx="3108960" cy="461771"/>
          </a:xfrm>
          <a:prstGeom prst="rect">
            <a:avLst/>
          </a:prstGeom>
          <a:noFill/>
        </p:spPr>
        <p:txBody>
          <a:bodyPr wrap="square" anchor="ctr" lIns="0" rIns="0" tIns="0" bIns="0">
            <a:spAutoFit/>
          </a:bodyPr>
          <a:lstStyle/>
          <a:p>
            <a:pPr algn="l"/>
            <a:r>
              <a:rPr sz="1250" b="1" i="0">
                <a:solidFill>
                  <a:srgbClr val="151514"/>
                </a:solidFill>
                <a:latin typeface="Calibri"/>
              </a:rPr>
              <a:t>Shared trunk far more efficient</a:t>
            </a:r>
          </a:p>
        </p:txBody>
      </p:sp>
      <p:sp>
        <p:nvSpPr>
          <p:cNvPr id="15" name="TextBox 14"/>
          <p:cNvSpPr txBox="1"/>
          <p:nvPr/>
        </p:nvSpPr>
        <p:spPr>
          <a:xfrm>
            <a:off x="4069080" y="2537460"/>
            <a:ext cx="2194560" cy="461771"/>
          </a:xfrm>
          <a:prstGeom prst="rect">
            <a:avLst/>
          </a:prstGeom>
          <a:noFill/>
        </p:spPr>
        <p:txBody>
          <a:bodyPr wrap="square" anchor="ctr" lIns="0" rIns="0" tIns="0" bIns="0">
            <a:spAutoFit/>
          </a:bodyPr>
          <a:lstStyle/>
          <a:p>
            <a:pPr algn="l"/>
            <a:r>
              <a:rPr sz="1200" b="0" i="0">
                <a:solidFill>
                  <a:srgbClr val="52514E"/>
                </a:solidFill>
                <a:latin typeface="Calibri"/>
              </a:rPr>
              <a:t>2.5–3.3× per parameter</a:t>
            </a:r>
          </a:p>
        </p:txBody>
      </p:sp>
      <p:sp>
        <p:nvSpPr>
          <p:cNvPr id="16" name="TextBox 15"/>
          <p:cNvSpPr txBox="1"/>
          <p:nvPr/>
        </p:nvSpPr>
        <p:spPr>
          <a:xfrm>
            <a:off x="6537960" y="2537460"/>
            <a:ext cx="3154679" cy="461771"/>
          </a:xfrm>
          <a:prstGeom prst="rect">
            <a:avLst/>
          </a:prstGeom>
          <a:noFill/>
        </p:spPr>
        <p:txBody>
          <a:bodyPr wrap="square" anchor="ctr" lIns="0" rIns="0" tIns="0" bIns="0">
            <a:spAutoFit/>
          </a:bodyPr>
          <a:lstStyle/>
          <a:p>
            <a:pPr algn="l"/>
            <a:r>
              <a:rPr sz="1200" b="0" i="0">
                <a:solidFill>
                  <a:srgbClr val="52514E"/>
                </a:solidFill>
                <a:latin typeface="Calibri"/>
              </a:rPr>
              <a:t>isolation 1.8–2.9× better per MB</a:t>
            </a:r>
          </a:p>
        </p:txBody>
      </p:sp>
      <p:sp>
        <p:nvSpPr>
          <p:cNvPr id="17" name="TextBox 16"/>
          <p:cNvSpPr txBox="1"/>
          <p:nvPr/>
        </p:nvSpPr>
        <p:spPr>
          <a:xfrm>
            <a:off x="9966960" y="2537460"/>
            <a:ext cx="1630375" cy="461771"/>
          </a:xfrm>
          <a:prstGeom prst="rect">
            <a:avLst/>
          </a:prstGeom>
          <a:noFill/>
        </p:spPr>
        <p:txBody>
          <a:bodyPr wrap="square" anchor="ctr" lIns="0" rIns="0" tIns="0" bIns="0">
            <a:spAutoFit/>
          </a:bodyPr>
          <a:lstStyle/>
          <a:p>
            <a:pPr algn="l"/>
            <a:r>
              <a:rPr sz="1200" b="0" i="0">
                <a:solidFill>
                  <a:srgbClr val="151514"/>
                </a:solidFill>
                <a:latin typeface="Calibri"/>
              </a:rPr>
              <a:t>memory accounting</a:t>
            </a:r>
          </a:p>
        </p:txBody>
      </p:sp>
      <p:sp>
        <p:nvSpPr>
          <p:cNvPr id="18" name="Rounded Rectangle 17"/>
          <p:cNvSpPr/>
          <p:nvPr/>
        </p:nvSpPr>
        <p:spPr>
          <a:xfrm>
            <a:off x="548640" y="306324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63240"/>
            <a:ext cx="3108960" cy="461771"/>
          </a:xfrm>
          <a:prstGeom prst="rect">
            <a:avLst/>
          </a:prstGeom>
          <a:noFill/>
        </p:spPr>
        <p:txBody>
          <a:bodyPr wrap="square" anchor="ctr" lIns="0" rIns="0" tIns="0" bIns="0">
            <a:spAutoFit/>
          </a:bodyPr>
          <a:lstStyle/>
          <a:p>
            <a:pPr algn="l"/>
            <a:r>
              <a:rPr sz="1250" b="1" i="0">
                <a:solidFill>
                  <a:srgbClr val="151514"/>
                </a:solidFill>
                <a:latin typeface="Calibri"/>
              </a:rPr>
              <a:t>Sleep far beats isolation, 5 tasks (SNN)</a:t>
            </a:r>
          </a:p>
        </p:txBody>
      </p:sp>
      <p:sp>
        <p:nvSpPr>
          <p:cNvPr id="20" name="TextBox 19"/>
          <p:cNvSpPr txBox="1"/>
          <p:nvPr/>
        </p:nvSpPr>
        <p:spPr>
          <a:xfrm>
            <a:off x="4069080" y="3063240"/>
            <a:ext cx="2194560" cy="461771"/>
          </a:xfrm>
          <a:prstGeom prst="rect">
            <a:avLst/>
          </a:prstGeom>
          <a:noFill/>
        </p:spPr>
        <p:txBody>
          <a:bodyPr wrap="square" anchor="ctr" lIns="0" rIns="0" tIns="0" bIns="0">
            <a:spAutoFit/>
          </a:bodyPr>
          <a:lstStyle/>
          <a:p>
            <a:pPr algn="l"/>
            <a:r>
              <a:rPr sz="1200" b="0" i="0">
                <a:solidFill>
                  <a:srgbClr val="52514E"/>
                </a:solidFill>
                <a:latin typeface="Calibri"/>
              </a:rPr>
              <a:t>gap +0.303 [+0.148, +0.457]</a:t>
            </a:r>
          </a:p>
        </p:txBody>
      </p:sp>
      <p:sp>
        <p:nvSpPr>
          <p:cNvPr id="21" name="TextBox 20"/>
          <p:cNvSpPr txBox="1"/>
          <p:nvPr/>
        </p:nvSpPr>
        <p:spPr>
          <a:xfrm>
            <a:off x="6537960" y="3063240"/>
            <a:ext cx="3154679" cy="461771"/>
          </a:xfrm>
          <a:prstGeom prst="rect">
            <a:avLst/>
          </a:prstGeom>
          <a:noFill/>
        </p:spPr>
        <p:txBody>
          <a:bodyPr wrap="square" anchor="ctr" lIns="0" rIns="0" tIns="0" bIns="0">
            <a:spAutoFit/>
          </a:bodyPr>
          <a:lstStyle/>
          <a:p>
            <a:pPr algn="l"/>
            <a:r>
              <a:rPr sz="1200" b="0" i="0">
                <a:solidFill>
                  <a:srgbClr val="52514E"/>
                </a:solidFill>
                <a:latin typeface="Calibri"/>
              </a:rPr>
              <a:t>gap +0.044 [−0.009, +0.098] at a fair budget</a:t>
            </a:r>
          </a:p>
        </p:txBody>
      </p:sp>
      <p:sp>
        <p:nvSpPr>
          <p:cNvPr id="22" name="TextBox 21"/>
          <p:cNvSpPr txBox="1"/>
          <p:nvPr/>
        </p:nvSpPr>
        <p:spPr>
          <a:xfrm>
            <a:off x="9966960" y="3063240"/>
            <a:ext cx="1630375" cy="461771"/>
          </a:xfrm>
          <a:prstGeom prst="rect">
            <a:avLst/>
          </a:prstGeom>
          <a:noFill/>
        </p:spPr>
        <p:txBody>
          <a:bodyPr wrap="square" anchor="ctr" lIns="0" rIns="0" tIns="0" bIns="0">
            <a:spAutoFit/>
          </a:bodyPr>
          <a:lstStyle/>
          <a:p>
            <a:pPr algn="l"/>
            <a:r>
              <a:rPr sz="1200" b="0" i="0">
                <a:solidFill>
                  <a:srgbClr val="151514"/>
                </a:solidFill>
                <a:latin typeface="Calibri"/>
              </a:rPr>
              <a:t>training budget</a:t>
            </a:r>
          </a:p>
        </p:txBody>
      </p:sp>
      <p:sp>
        <p:nvSpPr>
          <p:cNvPr id="23" name="Rounded Rectangle 22"/>
          <p:cNvSpPr/>
          <p:nvPr/>
        </p:nvSpPr>
        <p:spPr>
          <a:xfrm>
            <a:off x="548640" y="3589020"/>
            <a:ext cx="11094415" cy="461771"/>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589020"/>
            <a:ext cx="3108960" cy="461771"/>
          </a:xfrm>
          <a:prstGeom prst="rect">
            <a:avLst/>
          </a:prstGeom>
          <a:noFill/>
        </p:spPr>
        <p:txBody>
          <a:bodyPr wrap="square" anchor="ctr" lIns="0" rIns="0" tIns="0" bIns="0">
            <a:spAutoFit/>
          </a:bodyPr>
          <a:lstStyle/>
          <a:p>
            <a:pPr algn="l"/>
            <a:r>
              <a:rPr sz="1250" b="1" i="0">
                <a:solidFill>
                  <a:srgbClr val="151514"/>
                </a:solidFill>
                <a:latin typeface="Calibri"/>
              </a:rPr>
              <a:t>Homeostasis helps backprop</a:t>
            </a:r>
          </a:p>
        </p:txBody>
      </p:sp>
      <p:sp>
        <p:nvSpPr>
          <p:cNvPr id="25" name="TextBox 24"/>
          <p:cNvSpPr txBox="1"/>
          <p:nvPr/>
        </p:nvSpPr>
        <p:spPr>
          <a:xfrm>
            <a:off x="4069080" y="3589020"/>
            <a:ext cx="2194560" cy="461771"/>
          </a:xfrm>
          <a:prstGeom prst="rect">
            <a:avLst/>
          </a:prstGeom>
          <a:noFill/>
        </p:spPr>
        <p:txBody>
          <a:bodyPr wrap="square" anchor="ctr" lIns="0" rIns="0" tIns="0" bIns="0">
            <a:spAutoFit/>
          </a:bodyPr>
          <a:lstStyle/>
          <a:p>
            <a:pPr algn="l"/>
            <a:r>
              <a:rPr sz="1200" b="0" i="0">
                <a:solidFill>
                  <a:srgbClr val="52514E"/>
                </a:solidFill>
                <a:latin typeface="Calibri"/>
              </a:rPr>
              <a:t>p = 0.088 (3 vs 5 seeds)</a:t>
            </a:r>
          </a:p>
        </p:txBody>
      </p:sp>
      <p:sp>
        <p:nvSpPr>
          <p:cNvPr id="26" name="TextBox 25"/>
          <p:cNvSpPr txBox="1"/>
          <p:nvPr/>
        </p:nvSpPr>
        <p:spPr>
          <a:xfrm>
            <a:off x="6537960" y="3589020"/>
            <a:ext cx="3154679" cy="461771"/>
          </a:xfrm>
          <a:prstGeom prst="rect">
            <a:avLst/>
          </a:prstGeom>
          <a:noFill/>
        </p:spPr>
        <p:txBody>
          <a:bodyPr wrap="square" anchor="ctr" lIns="0" rIns="0" tIns="0" bIns="0">
            <a:spAutoFit/>
          </a:bodyPr>
          <a:lstStyle/>
          <a:p>
            <a:pPr algn="l"/>
            <a:r>
              <a:rPr sz="1200" b="0" i="0">
                <a:solidFill>
                  <a:srgbClr val="52514E"/>
                </a:solidFill>
                <a:latin typeface="Calibri"/>
              </a:rPr>
              <a:t>Holm p = 0.117 with 10 seeds</a:t>
            </a:r>
          </a:p>
        </p:txBody>
      </p:sp>
      <p:sp>
        <p:nvSpPr>
          <p:cNvPr id="27" name="TextBox 26"/>
          <p:cNvSpPr txBox="1"/>
          <p:nvPr/>
        </p:nvSpPr>
        <p:spPr>
          <a:xfrm>
            <a:off x="9966960" y="3589020"/>
            <a:ext cx="1630375" cy="461771"/>
          </a:xfrm>
          <a:prstGeom prst="rect">
            <a:avLst/>
          </a:prstGeom>
          <a:noFill/>
        </p:spPr>
        <p:txBody>
          <a:bodyPr wrap="square" anchor="ctr" lIns="0" rIns="0" tIns="0" bIns="0">
            <a:spAutoFit/>
          </a:bodyPr>
          <a:lstStyle/>
          <a:p>
            <a:pPr algn="l"/>
            <a:r>
              <a:rPr sz="1200" b="0" i="0">
                <a:solidFill>
                  <a:srgbClr val="151514"/>
                </a:solidFill>
                <a:latin typeface="Calibri"/>
              </a:rPr>
              <a:t>seeds; multiple tests</a:t>
            </a:r>
          </a:p>
        </p:txBody>
      </p:sp>
      <p:sp>
        <p:nvSpPr>
          <p:cNvPr id="28" name="Rounded Rectangle 27"/>
          <p:cNvSpPr/>
          <p:nvPr/>
        </p:nvSpPr>
        <p:spPr>
          <a:xfrm>
            <a:off x="548640" y="411480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114800"/>
            <a:ext cx="3108960" cy="461771"/>
          </a:xfrm>
          <a:prstGeom prst="rect">
            <a:avLst/>
          </a:prstGeom>
          <a:noFill/>
        </p:spPr>
        <p:txBody>
          <a:bodyPr wrap="square" anchor="ctr" lIns="0" rIns="0" tIns="0" bIns="0">
            <a:spAutoFit/>
          </a:bodyPr>
          <a:lstStyle/>
          <a:p>
            <a:pPr algn="l"/>
            <a:r>
              <a:rPr sz="1250" b="1" i="0">
                <a:solidFill>
                  <a:srgbClr val="151514"/>
                </a:solidFill>
                <a:latin typeface="Calibri"/>
              </a:rPr>
              <a:t>Homeostasis makes DFA work</a:t>
            </a:r>
          </a:p>
        </p:txBody>
      </p:sp>
      <p:sp>
        <p:nvSpPr>
          <p:cNvPr id="30" name="TextBox 29"/>
          <p:cNvSpPr txBox="1"/>
          <p:nvPr/>
        </p:nvSpPr>
        <p:spPr>
          <a:xfrm>
            <a:off x="4069080" y="4114800"/>
            <a:ext cx="2194560" cy="461771"/>
          </a:xfrm>
          <a:prstGeom prst="rect">
            <a:avLst/>
          </a:prstGeom>
          <a:noFill/>
        </p:spPr>
        <p:txBody>
          <a:bodyPr wrap="square" anchor="ctr" lIns="0" rIns="0" tIns="0" bIns="0">
            <a:spAutoFit/>
          </a:bodyPr>
          <a:lstStyle/>
          <a:p>
            <a:pPr algn="l"/>
            <a:r>
              <a:rPr sz="1200" b="0" i="0">
                <a:solidFill>
                  <a:srgbClr val="52514E"/>
                </a:solidFill>
                <a:latin typeface="Calibri"/>
              </a:rPr>
              <a:t>solved 3/3 vs 1/5</a:t>
            </a:r>
          </a:p>
        </p:txBody>
      </p:sp>
      <p:sp>
        <p:nvSpPr>
          <p:cNvPr id="31" name="TextBox 30"/>
          <p:cNvSpPr txBox="1"/>
          <p:nvPr/>
        </p:nvSpPr>
        <p:spPr>
          <a:xfrm>
            <a:off x="6537960" y="4114800"/>
            <a:ext cx="3154679" cy="461771"/>
          </a:xfrm>
          <a:prstGeom prst="rect">
            <a:avLst/>
          </a:prstGeom>
          <a:noFill/>
        </p:spPr>
        <p:txBody>
          <a:bodyPr wrap="square" anchor="ctr" lIns="0" rIns="0" tIns="0" bIns="0">
            <a:spAutoFit/>
          </a:bodyPr>
          <a:lstStyle/>
          <a:p>
            <a:pPr algn="l"/>
            <a:r>
              <a:rPr sz="1200" b="0" i="0">
                <a:solidFill>
                  <a:srgbClr val="52514E"/>
                </a:solidFill>
                <a:latin typeface="Calibri"/>
              </a:rPr>
              <a:t>7/10 vs 2/10, p = 0.070 (AUC effect survives)</a:t>
            </a:r>
          </a:p>
        </p:txBody>
      </p:sp>
      <p:sp>
        <p:nvSpPr>
          <p:cNvPr id="32" name="TextBox 31"/>
          <p:cNvSpPr txBox="1"/>
          <p:nvPr/>
        </p:nvSpPr>
        <p:spPr>
          <a:xfrm>
            <a:off x="9966960" y="4114800"/>
            <a:ext cx="1630375" cy="461771"/>
          </a:xfrm>
          <a:prstGeom prst="rect">
            <a:avLst/>
          </a:prstGeom>
          <a:noFill/>
        </p:spPr>
        <p:txBody>
          <a:bodyPr wrap="square" anchor="ctr" lIns="0" rIns="0" tIns="0" bIns="0">
            <a:spAutoFit/>
          </a:bodyPr>
          <a:lstStyle/>
          <a:p>
            <a:pPr algn="l"/>
            <a:r>
              <a:rPr sz="1200" b="0" i="0">
                <a:solidFill>
                  <a:srgbClr val="151514"/>
                </a:solidFill>
                <a:latin typeface="Calibri"/>
              </a:rPr>
              <a:t>seeds</a:t>
            </a:r>
          </a:p>
        </p:txBody>
      </p:sp>
      <p:sp>
        <p:nvSpPr>
          <p:cNvPr id="33" name="Rounded Rectangle 32"/>
          <p:cNvSpPr/>
          <p:nvPr/>
        </p:nvSpPr>
        <p:spPr>
          <a:xfrm>
            <a:off x="548640" y="4640580"/>
            <a:ext cx="11094415" cy="461771"/>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85800" y="4640580"/>
            <a:ext cx="3108960" cy="461771"/>
          </a:xfrm>
          <a:prstGeom prst="rect">
            <a:avLst/>
          </a:prstGeom>
          <a:noFill/>
        </p:spPr>
        <p:txBody>
          <a:bodyPr wrap="square" anchor="ctr" lIns="0" rIns="0" tIns="0" bIns="0">
            <a:spAutoFit/>
          </a:bodyPr>
          <a:lstStyle/>
          <a:p>
            <a:pPr algn="l"/>
            <a:r>
              <a:rPr sz="1250" b="1" i="0">
                <a:solidFill>
                  <a:srgbClr val="151514"/>
                </a:solidFill>
                <a:latin typeface="Calibri"/>
              </a:rPr>
              <a:t>Transformer helps on a memory task</a:t>
            </a:r>
          </a:p>
        </p:txBody>
      </p:sp>
      <p:sp>
        <p:nvSpPr>
          <p:cNvPr id="35" name="TextBox 34"/>
          <p:cNvSpPr txBox="1"/>
          <p:nvPr/>
        </p:nvSpPr>
        <p:spPr>
          <a:xfrm>
            <a:off x="4069080" y="4640580"/>
            <a:ext cx="2194560" cy="461771"/>
          </a:xfrm>
          <a:prstGeom prst="rect">
            <a:avLst/>
          </a:prstGeom>
          <a:noFill/>
        </p:spPr>
        <p:txBody>
          <a:bodyPr wrap="square" anchor="ctr" lIns="0" rIns="0" tIns="0" bIns="0">
            <a:spAutoFit/>
          </a:bodyPr>
          <a:lstStyle/>
          <a:p>
            <a:pPr algn="l"/>
            <a:r>
              <a:rPr sz="1200" b="0" i="0">
                <a:solidFill>
                  <a:srgbClr val="52514E"/>
                </a:solidFill>
                <a:latin typeface="Calibri"/>
              </a:rPr>
              <a:t>S7 pilot 0.970 vs 0.465</a:t>
            </a:r>
          </a:p>
        </p:txBody>
      </p:sp>
      <p:sp>
        <p:nvSpPr>
          <p:cNvPr id="36" name="TextBox 35"/>
          <p:cNvSpPr txBox="1"/>
          <p:nvPr/>
        </p:nvSpPr>
        <p:spPr>
          <a:xfrm>
            <a:off x="6537960" y="4640580"/>
            <a:ext cx="3154679" cy="461771"/>
          </a:xfrm>
          <a:prstGeom prst="rect">
            <a:avLst/>
          </a:prstGeom>
          <a:noFill/>
        </p:spPr>
        <p:txBody>
          <a:bodyPr wrap="square" anchor="ctr" lIns="0" rIns="0" tIns="0" bIns="0">
            <a:spAutoFit/>
          </a:bodyPr>
          <a:lstStyle/>
          <a:p>
            <a:pPr algn="l"/>
            <a:r>
              <a:rPr sz="1200" b="0" i="0">
                <a:solidFill>
                  <a:srgbClr val="52514E"/>
                </a:solidFill>
                <a:latin typeface="Calibri"/>
              </a:rPr>
              <a:t>no memory needed on S7 (memoryless CNN 0.915)</a:t>
            </a:r>
          </a:p>
        </p:txBody>
      </p:sp>
      <p:sp>
        <p:nvSpPr>
          <p:cNvPr id="37" name="TextBox 36"/>
          <p:cNvSpPr txBox="1"/>
          <p:nvPr/>
        </p:nvSpPr>
        <p:spPr>
          <a:xfrm>
            <a:off x="9966960" y="4640580"/>
            <a:ext cx="1630375" cy="461771"/>
          </a:xfrm>
          <a:prstGeom prst="rect">
            <a:avLst/>
          </a:prstGeom>
          <a:noFill/>
        </p:spPr>
        <p:txBody>
          <a:bodyPr wrap="square" anchor="ctr" lIns="0" rIns="0" tIns="0" bIns="0">
            <a:spAutoFit/>
          </a:bodyPr>
          <a:lstStyle/>
          <a:p>
            <a:pPr algn="l"/>
            <a:r>
              <a:rPr sz="1200" b="0" i="0">
                <a:solidFill>
                  <a:srgbClr val="151514"/>
                </a:solidFill>
                <a:latin typeface="Calibri"/>
              </a:rPr>
              <a:t>benchmark validity</a:t>
            </a:r>
          </a:p>
        </p:txBody>
      </p:sp>
      <p:sp>
        <p:nvSpPr>
          <p:cNvPr id="38" name="Rounded Rectangle 37"/>
          <p:cNvSpPr/>
          <p:nvPr/>
        </p:nvSpPr>
        <p:spPr>
          <a:xfrm>
            <a:off x="548640" y="516636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85800" y="5166360"/>
            <a:ext cx="3108960" cy="461771"/>
          </a:xfrm>
          <a:prstGeom prst="rect">
            <a:avLst/>
          </a:prstGeom>
          <a:noFill/>
        </p:spPr>
        <p:txBody>
          <a:bodyPr wrap="square" anchor="ctr" lIns="0" rIns="0" tIns="0" bIns="0">
            <a:spAutoFit/>
          </a:bodyPr>
          <a:lstStyle/>
          <a:p>
            <a:pPr algn="l"/>
            <a:r>
              <a:rPr sz="1250" b="1" i="0">
                <a:solidFill>
                  <a:srgbClr val="151514"/>
                </a:solidFill>
                <a:latin typeface="Calibri"/>
              </a:rPr>
              <a:t>Small buffer: shared trunk beats isolation</a:t>
            </a:r>
          </a:p>
        </p:txBody>
      </p:sp>
      <p:sp>
        <p:nvSpPr>
          <p:cNvPr id="40" name="TextBox 39"/>
          <p:cNvSpPr txBox="1"/>
          <p:nvPr/>
        </p:nvSpPr>
        <p:spPr>
          <a:xfrm>
            <a:off x="4069080" y="5166360"/>
            <a:ext cx="2194560" cy="461771"/>
          </a:xfrm>
          <a:prstGeom prst="rect">
            <a:avLst/>
          </a:prstGeom>
          <a:noFill/>
        </p:spPr>
        <p:txBody>
          <a:bodyPr wrap="square" anchor="ctr" lIns="0" rIns="0" tIns="0" bIns="0">
            <a:spAutoFit/>
          </a:bodyPr>
          <a:lstStyle/>
          <a:p>
            <a:pPr algn="l"/>
            <a:r>
              <a:rPr sz="1200" b="0" i="0">
                <a:solidFill>
                  <a:srgbClr val="52514E"/>
                </a:solidFill>
                <a:latin typeface="Calibri"/>
              </a:rPr>
              <a:t>vs full-width isolation: 1.08 vs 0.51 ACC/MB (CNN)</a:t>
            </a:r>
          </a:p>
        </p:txBody>
      </p:sp>
      <p:sp>
        <p:nvSpPr>
          <p:cNvPr id="41" name="TextBox 40"/>
          <p:cNvSpPr txBox="1"/>
          <p:nvPr/>
        </p:nvSpPr>
        <p:spPr>
          <a:xfrm>
            <a:off x="6537960" y="5166360"/>
            <a:ext cx="3154679" cy="461771"/>
          </a:xfrm>
          <a:prstGeom prst="rect">
            <a:avLst/>
          </a:prstGeom>
          <a:noFill/>
        </p:spPr>
        <p:txBody>
          <a:bodyPr wrap="square" anchor="ctr" lIns="0" rIns="0" tIns="0" bIns="0">
            <a:spAutoFit/>
          </a:bodyPr>
          <a:lstStyle/>
          <a:p>
            <a:pPr algn="l"/>
            <a:r>
              <a:rPr sz="1200" b="0" i="0">
                <a:solidFill>
                  <a:srgbClr val="52514E"/>
                </a:solidFill>
                <a:latin typeface="Calibri"/>
              </a:rPr>
              <a:t>quarter-width isolation 0.972 vs LwF 0.944 at 0.90 vs 0.91 MB</a:t>
            </a:r>
          </a:p>
        </p:txBody>
      </p:sp>
      <p:sp>
        <p:nvSpPr>
          <p:cNvPr id="42" name="TextBox 41"/>
          <p:cNvSpPr txBox="1"/>
          <p:nvPr/>
        </p:nvSpPr>
        <p:spPr>
          <a:xfrm>
            <a:off x="9966960" y="5166360"/>
            <a:ext cx="1630375" cy="461771"/>
          </a:xfrm>
          <a:prstGeom prst="rect">
            <a:avLst/>
          </a:prstGeom>
          <a:noFill/>
        </p:spPr>
        <p:txBody>
          <a:bodyPr wrap="square" anchor="ctr" lIns="0" rIns="0" tIns="0" bIns="0">
            <a:spAutoFit/>
          </a:bodyPr>
          <a:lstStyle/>
          <a:p>
            <a:pPr algn="l"/>
            <a:r>
              <a:rPr sz="1200" b="0" i="0">
                <a:solidFill>
                  <a:srgbClr val="151514"/>
                </a:solidFill>
                <a:latin typeface="Calibri"/>
              </a:rPr>
              <a:t>network width (post-freeze)</a:t>
            </a:r>
          </a:p>
        </p:txBody>
      </p:sp>
      <p:sp>
        <p:nvSpPr>
          <p:cNvPr id="43" name="TextBox 42"/>
          <p:cNvSpPr txBox="1"/>
          <p:nvPr/>
        </p:nvSpPr>
        <p:spPr>
          <a:xfrm>
            <a:off x="548640" y="5760720"/>
            <a:ext cx="11094415" cy="548640"/>
          </a:xfrm>
          <a:prstGeom prst="rect">
            <a:avLst/>
          </a:prstGeom>
          <a:noFill/>
        </p:spPr>
        <p:txBody>
          <a:bodyPr wrap="square" anchor="t" lIns="0" rIns="0" tIns="0" bIns="0">
            <a:spAutoFit/>
          </a:bodyPr>
          <a:lstStyle/>
          <a:p>
            <a:pPr algn="l"/>
            <a:r>
              <a:rPr sz="1400" b="0" i="1">
                <a:solidFill>
                  <a:srgbClr val="52514E"/>
                </a:solidFill>
                <a:latin typeface="Calibri"/>
              </a:rPr>
              <a:t>Effects shrank or disappeared once seeds, training budgets, replay budgets, memory accounting and network width were made fair; the homeostasis-DFA speed-up survived.</a:t>
            </a:r>
          </a:p>
        </p:txBody>
      </p:sp>
      <p:sp>
        <p:nvSpPr>
          <p:cNvPr id="44" name="TextBox 4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45" name="TextBox 4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SEE IT YOURSELF</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Live demo</a:t>
            </a:r>
          </a:p>
        </p:txBody>
      </p:sp>
      <p:sp>
        <p:nvSpPr>
          <p:cNvPr id="4" name="Rounded Rectangle 3"/>
          <p:cNvSpPr/>
          <p:nvPr/>
        </p:nvSpPr>
        <p:spPr>
          <a:xfrm>
            <a:off x="548640" y="1691640"/>
            <a:ext cx="6949440" cy="4343400"/>
          </a:xfrm>
          <a:prstGeom prst="roundRect">
            <a:avLst>
              <a:gd name="adj" fmla="val 4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sh_agents.png"/>
          <p:cNvPicPr>
            <a:picLocks noChangeAspect="1"/>
          </p:cNvPicPr>
          <p:nvPr/>
        </p:nvPicPr>
        <p:blipFill>
          <a:blip r:embed="rId2"/>
          <a:stretch>
            <a:fillRect/>
          </a:stretch>
        </p:blipFill>
        <p:spPr>
          <a:xfrm>
            <a:off x="685800" y="1870074"/>
            <a:ext cx="6675120" cy="3986530"/>
          </a:xfrm>
          <a:prstGeom prst="rect">
            <a:avLst/>
          </a:prstGeom>
        </p:spPr>
      </p:pic>
      <p:sp>
        <p:nvSpPr>
          <p:cNvPr id="6" name="Rounded Rectangle 5"/>
          <p:cNvSpPr/>
          <p:nvPr/>
        </p:nvSpPr>
        <p:spPr>
          <a:xfrm>
            <a:off x="7818120" y="1691640"/>
            <a:ext cx="3824935" cy="19202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019288" y="191109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456" y="1819656"/>
            <a:ext cx="3285439" cy="365760"/>
          </a:xfrm>
          <a:prstGeom prst="rect">
            <a:avLst/>
          </a:prstGeom>
          <a:noFill/>
        </p:spPr>
        <p:txBody>
          <a:bodyPr wrap="square" anchor="t" lIns="0" rIns="0" tIns="0" bIns="0">
            <a:spAutoFit/>
          </a:bodyPr>
          <a:lstStyle/>
          <a:p>
            <a:pPr algn="l"/>
            <a:r>
              <a:rPr sz="1600" b="1" i="0">
                <a:solidFill>
                  <a:srgbClr val="151514"/>
                </a:solidFill>
                <a:latin typeface="Calibri"/>
              </a:rPr>
              <a:t>1. Results dashboard</a:t>
            </a:r>
          </a:p>
        </p:txBody>
      </p:sp>
      <p:sp>
        <p:nvSpPr>
          <p:cNvPr id="9" name="TextBox 8"/>
          <p:cNvSpPr txBox="1"/>
          <p:nvPr/>
        </p:nvSpPr>
        <p:spPr>
          <a:xfrm>
            <a:off x="8019288" y="2194560"/>
            <a:ext cx="3459175" cy="1371600"/>
          </a:xfrm>
          <a:prstGeom prst="rect">
            <a:avLst/>
          </a:prstGeom>
          <a:noFill/>
        </p:spPr>
        <p:txBody>
          <a:bodyPr wrap="square" anchor="t" lIns="0" rIns="0" tIns="0" bIns="0">
            <a:spAutoFit/>
          </a:bodyPr>
          <a:lstStyle/>
          <a:p>
            <a:pPr algn="l">
              <a:spcAft>
                <a:spcPts val="200"/>
              </a:spcAft>
            </a:pPr>
            <a:r>
              <a:rPr sz="1300" b="0" i="0">
                <a:solidFill>
                  <a:srgbClr val="52514E"/>
                </a:solidFill>
                <a:latin typeface="Calibri"/>
              </a:rPr>
              <a:t>open demo/index.html (one file, works offline)</a:t>
            </a:r>
          </a:p>
          <a:p>
            <a:pPr algn="l">
              <a:spcAft>
                <a:spcPts val="200"/>
              </a:spcAft>
            </a:pPr>
            <a:r>
              <a:rPr sz="1300" b="0" i="0">
                <a:solidFill>
                  <a:srgbClr val="52514E"/>
                </a:solidFill>
                <a:latin typeface="Calibri"/>
              </a:rPr>
              <a:t>scorecard, agents, forgetting and memory charts</a:t>
            </a:r>
          </a:p>
        </p:txBody>
      </p:sp>
      <p:sp>
        <p:nvSpPr>
          <p:cNvPr id="10" name="Rounded Rectangle 9"/>
          <p:cNvSpPr/>
          <p:nvPr/>
        </p:nvSpPr>
        <p:spPr>
          <a:xfrm>
            <a:off x="7818120" y="3794760"/>
            <a:ext cx="3824935" cy="22402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019288" y="4014216"/>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3922776"/>
            <a:ext cx="3285439" cy="365760"/>
          </a:xfrm>
          <a:prstGeom prst="rect">
            <a:avLst/>
          </a:prstGeom>
          <a:noFill/>
        </p:spPr>
        <p:txBody>
          <a:bodyPr wrap="square" anchor="t" lIns="0" rIns="0" tIns="0" bIns="0">
            <a:spAutoFit/>
          </a:bodyPr>
          <a:lstStyle/>
          <a:p>
            <a:pPr algn="l"/>
            <a:r>
              <a:rPr sz="1600" b="1" i="0">
                <a:solidFill>
                  <a:srgbClr val="151514"/>
                </a:solidFill>
                <a:latin typeface="Calibri"/>
              </a:rPr>
              <a:t>2. Run an agent on CPU</a:t>
            </a:r>
          </a:p>
        </p:txBody>
      </p:sp>
      <p:sp>
        <p:nvSpPr>
          <p:cNvPr id="13" name="TextBox 12"/>
          <p:cNvSpPr txBox="1"/>
          <p:nvPr/>
        </p:nvSpPr>
        <p:spPr>
          <a:xfrm>
            <a:off x="8019288" y="4297680"/>
            <a:ext cx="3459175" cy="1691640"/>
          </a:xfrm>
          <a:prstGeom prst="rect">
            <a:avLst/>
          </a:prstGeom>
          <a:noFill/>
        </p:spPr>
        <p:txBody>
          <a:bodyPr wrap="square" anchor="t" lIns="0" rIns="0" tIns="0" bIns="0">
            <a:spAutoFit/>
          </a:bodyPr>
          <a:lstStyle/>
          <a:p>
            <a:pPr algn="l">
              <a:spcAft>
                <a:spcPts val="200"/>
              </a:spcAft>
            </a:pPr>
            <a:r>
              <a:rPr sz="1300" b="0" i="0">
                <a:solidFill>
                  <a:srgbClr val="52514E"/>
                </a:solidFill>
                <a:latin typeface="Calibri"/>
              </a:rPr>
              <a:t>python demo/live_episode.py</a:t>
            </a:r>
          </a:p>
          <a:p>
            <a:pPr algn="l">
              <a:spcAft>
                <a:spcPts val="200"/>
              </a:spcAft>
            </a:pPr>
            <a:r>
              <a:rPr sz="1300" b="0" i="0">
                <a:solidFill>
                  <a:srgbClr val="52514E"/>
                </a:solidFill>
                <a:latin typeface="Calibri"/>
              </a:rPr>
              <a:t>   --agent naive --task 0 --window</a:t>
            </a:r>
          </a:p>
          <a:p>
            <a:pPr algn="l">
              <a:spcAft>
                <a:spcPts val="200"/>
              </a:spcAft>
            </a:pPr>
            <a:r>
              <a:rPr sz="1300" b="0" i="0">
                <a:solidFill>
                  <a:srgbClr val="52514E"/>
                </a:solidFill>
                <a:latin typeface="Calibri"/>
              </a:rPr>
              <a:t>then the same with --agent sleep</a:t>
            </a:r>
          </a:p>
          <a:p>
            <a:pPr algn="l">
              <a:spcAft>
                <a:spcPts val="200"/>
              </a:spcAft>
            </a:pPr>
            <a:r>
              <a:rPr sz="1300" b="0" i="0">
                <a:solidFill>
                  <a:srgbClr val="52514E"/>
                </a:solidFill>
                <a:latin typeface="Calibri"/>
              </a:rPr>
              <a:t>prints each step and the real accuracy matrix</a:t>
            </a:r>
          </a:p>
        </p:txBody>
      </p:sp>
      <p:sp>
        <p:nvSpPr>
          <p:cNvPr id="14" name="TextBox 1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5" name="TextBox 1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WHAT THIS DOES NOT SHOW</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Limitations</a:t>
            </a:r>
          </a:p>
        </p:txBody>
      </p:sp>
      <p:sp>
        <p:nvSpPr>
          <p:cNvPr id="4" name="Rounded Rectangle 3"/>
          <p:cNvSpPr/>
          <p:nvPr/>
        </p:nvSpPr>
        <p:spPr>
          <a:xfrm>
            <a:off x="548640" y="1783080"/>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783080"/>
            <a:ext cx="3566160" cy="493776"/>
          </a:xfrm>
          <a:prstGeom prst="rect">
            <a:avLst/>
          </a:prstGeom>
          <a:noFill/>
        </p:spPr>
        <p:txBody>
          <a:bodyPr wrap="square" anchor="ctr" lIns="0" rIns="0" tIns="0" bIns="0">
            <a:spAutoFit/>
          </a:bodyPr>
          <a:lstStyle/>
          <a:p>
            <a:pPr algn="l"/>
            <a:r>
              <a:rPr sz="1500" b="1" i="0">
                <a:solidFill>
                  <a:srgbClr val="151514"/>
                </a:solidFill>
                <a:latin typeface="Calibri"/>
              </a:rPr>
              <a:t>Task identity is given</a:t>
            </a:r>
          </a:p>
        </p:txBody>
      </p:sp>
      <p:sp>
        <p:nvSpPr>
          <p:cNvPr id="6" name="TextBox 5"/>
          <p:cNvSpPr txBox="1"/>
          <p:nvPr/>
        </p:nvSpPr>
        <p:spPr>
          <a:xfrm>
            <a:off x="4343400" y="1783080"/>
            <a:ext cx="7208215" cy="493776"/>
          </a:xfrm>
          <a:prstGeom prst="rect">
            <a:avLst/>
          </a:prstGeom>
          <a:noFill/>
        </p:spPr>
        <p:txBody>
          <a:bodyPr wrap="square" anchor="ctr" lIns="0" rIns="0" tIns="0" bIns="0">
            <a:spAutoFit/>
          </a:bodyPr>
          <a:lstStyle/>
          <a:p>
            <a:pPr algn="l"/>
            <a:r>
              <a:rPr sz="1450" b="0" i="0">
                <a:solidFill>
                  <a:srgbClr val="52514E"/>
                </a:solidFill>
                <a:latin typeface="Calibri"/>
              </a:rPr>
              <a:t>task-incremental only; says nothing about task-agnostic learning</a:t>
            </a:r>
          </a:p>
        </p:txBody>
      </p:sp>
      <p:sp>
        <p:nvSpPr>
          <p:cNvPr id="7" name="Rounded Rectangle 6"/>
          <p:cNvSpPr/>
          <p:nvPr/>
        </p:nvSpPr>
        <p:spPr>
          <a:xfrm>
            <a:off x="548640" y="2350008"/>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350008"/>
            <a:ext cx="3566160" cy="493776"/>
          </a:xfrm>
          <a:prstGeom prst="rect">
            <a:avLst/>
          </a:prstGeom>
          <a:noFill/>
        </p:spPr>
        <p:txBody>
          <a:bodyPr wrap="square" anchor="ctr" lIns="0" rIns="0" tIns="0" bIns="0">
            <a:spAutoFit/>
          </a:bodyPr>
          <a:lstStyle/>
          <a:p>
            <a:pPr algn="l"/>
            <a:r>
              <a:rPr sz="1500" b="1" i="0">
                <a:solidFill>
                  <a:srgbClr val="151514"/>
                </a:solidFill>
                <a:latin typeface="Calibri"/>
              </a:rPr>
              <a:t>Small scale</a:t>
            </a:r>
          </a:p>
        </p:txBody>
      </p:sp>
      <p:sp>
        <p:nvSpPr>
          <p:cNvPr id="9" name="TextBox 8"/>
          <p:cNvSpPr txBox="1"/>
          <p:nvPr/>
        </p:nvSpPr>
        <p:spPr>
          <a:xfrm>
            <a:off x="4343400" y="2350008"/>
            <a:ext cx="7208215" cy="493776"/>
          </a:xfrm>
          <a:prstGeom prst="rect">
            <a:avLst/>
          </a:prstGeom>
          <a:noFill/>
        </p:spPr>
        <p:txBody>
          <a:bodyPr wrap="square" anchor="ctr" lIns="0" rIns="0" tIns="0" bIns="0">
            <a:spAutoFit/>
          </a:bodyPr>
          <a:lstStyle/>
          <a:p>
            <a:pPr algn="l"/>
            <a:r>
              <a:rPr sz="1450" b="0" i="0">
                <a:solidFill>
                  <a:srgbClr val="52514E"/>
                </a:solidFill>
                <a:latin typeface="Calibri"/>
              </a:rPr>
              <a:t>MiniGrid, ≤327,800 parameters, 3–5 tasks</a:t>
            </a:r>
          </a:p>
        </p:txBody>
      </p:sp>
      <p:sp>
        <p:nvSpPr>
          <p:cNvPr id="10" name="Rounded Rectangle 9"/>
          <p:cNvSpPr/>
          <p:nvPr/>
        </p:nvSpPr>
        <p:spPr>
          <a:xfrm>
            <a:off x="548640" y="2916936"/>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916936"/>
            <a:ext cx="3566160" cy="493776"/>
          </a:xfrm>
          <a:prstGeom prst="rect">
            <a:avLst/>
          </a:prstGeom>
          <a:noFill/>
        </p:spPr>
        <p:txBody>
          <a:bodyPr wrap="square" anchor="ctr" lIns="0" rIns="0" tIns="0" bIns="0">
            <a:spAutoFit/>
          </a:bodyPr>
          <a:lstStyle/>
          <a:p>
            <a:pPr algn="l"/>
            <a:r>
              <a:rPr sz="1500" b="1" i="0">
                <a:solidFill>
                  <a:srgbClr val="151514"/>
                </a:solidFill>
                <a:latin typeface="Calibri"/>
              </a:rPr>
              <a:t>Few seeds</a:t>
            </a:r>
          </a:p>
        </p:txBody>
      </p:sp>
      <p:sp>
        <p:nvSpPr>
          <p:cNvPr id="12" name="TextBox 11"/>
          <p:cNvSpPr txBox="1"/>
          <p:nvPr/>
        </p:nvSpPr>
        <p:spPr>
          <a:xfrm>
            <a:off x="4343400" y="2916936"/>
            <a:ext cx="7208215" cy="493776"/>
          </a:xfrm>
          <a:prstGeom prst="rect">
            <a:avLst/>
          </a:prstGeom>
          <a:noFill/>
        </p:spPr>
        <p:txBody>
          <a:bodyPr wrap="square" anchor="ctr" lIns="0" rIns="0" tIns="0" bIns="0">
            <a:spAutoFit/>
          </a:bodyPr>
          <a:lstStyle/>
          <a:p>
            <a:pPr algn="l"/>
            <a:r>
              <a:rPr sz="1450" b="0" i="0">
                <a:solidFill>
                  <a:srgbClr val="52514E"/>
                </a:solidFill>
                <a:latin typeface="Calibri"/>
              </a:rPr>
              <a:t>many continual arms have 3; a tie rules out large effects only where the CI is narrow</a:t>
            </a:r>
          </a:p>
        </p:txBody>
      </p:sp>
      <p:sp>
        <p:nvSpPr>
          <p:cNvPr id="13" name="Rounded Rectangle 12"/>
          <p:cNvSpPr/>
          <p:nvPr/>
        </p:nvSpPr>
        <p:spPr>
          <a:xfrm>
            <a:off x="548640" y="3483863"/>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483863"/>
            <a:ext cx="3566160" cy="493776"/>
          </a:xfrm>
          <a:prstGeom prst="rect">
            <a:avLst/>
          </a:prstGeom>
          <a:noFill/>
        </p:spPr>
        <p:txBody>
          <a:bodyPr wrap="square" anchor="ctr" lIns="0" rIns="0" tIns="0" bIns="0">
            <a:spAutoFit/>
          </a:bodyPr>
          <a:lstStyle/>
          <a:p>
            <a:pPr algn="l"/>
            <a:r>
              <a:rPr sz="1500" b="1" i="0">
                <a:solidFill>
                  <a:srgbClr val="151514"/>
                </a:solidFill>
                <a:latin typeface="Calibri"/>
              </a:rPr>
              <a:t>Energy</a:t>
            </a:r>
          </a:p>
        </p:txBody>
      </p:sp>
      <p:sp>
        <p:nvSpPr>
          <p:cNvPr id="15" name="TextBox 14"/>
          <p:cNvSpPr txBox="1"/>
          <p:nvPr/>
        </p:nvSpPr>
        <p:spPr>
          <a:xfrm>
            <a:off x="4343400" y="3483863"/>
            <a:ext cx="7208215" cy="493776"/>
          </a:xfrm>
          <a:prstGeom prst="rect">
            <a:avLst/>
          </a:prstGeom>
          <a:noFill/>
        </p:spPr>
        <p:txBody>
          <a:bodyPr wrap="square" anchor="ctr" lIns="0" rIns="0" tIns="0" bIns="0">
            <a:spAutoFit/>
          </a:bodyPr>
          <a:lstStyle/>
          <a:p>
            <a:pPr algn="l"/>
            <a:r>
              <a:rPr sz="1450" b="0" i="0">
                <a:solidFill>
                  <a:srgbClr val="52514E"/>
                </a:solidFill>
                <a:latin typeface="Calibri"/>
              </a:rPr>
              <a:t>an estimated arithmetic energy proxy from operation counts; no hardware power was measured</a:t>
            </a:r>
          </a:p>
        </p:txBody>
      </p:sp>
      <p:sp>
        <p:nvSpPr>
          <p:cNvPr id="16" name="Rounded Rectangle 15"/>
          <p:cNvSpPr/>
          <p:nvPr/>
        </p:nvSpPr>
        <p:spPr>
          <a:xfrm>
            <a:off x="548640" y="4050791"/>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4050791"/>
            <a:ext cx="3566160" cy="493776"/>
          </a:xfrm>
          <a:prstGeom prst="rect">
            <a:avLst/>
          </a:prstGeom>
          <a:noFill/>
        </p:spPr>
        <p:txBody>
          <a:bodyPr wrap="square" anchor="ctr" lIns="0" rIns="0" tIns="0" bIns="0">
            <a:spAutoFit/>
          </a:bodyPr>
          <a:lstStyle/>
          <a:p>
            <a:pPr algn="l"/>
            <a:r>
              <a:rPr sz="1500" b="1" i="0">
                <a:solidFill>
                  <a:srgbClr val="151514"/>
                </a:solidFill>
                <a:latin typeface="Calibri"/>
              </a:rPr>
              <a:t>Isolation width</a:t>
            </a:r>
          </a:p>
        </p:txBody>
      </p:sp>
      <p:sp>
        <p:nvSpPr>
          <p:cNvPr id="18" name="TextBox 17"/>
          <p:cNvSpPr txBox="1"/>
          <p:nvPr/>
        </p:nvSpPr>
        <p:spPr>
          <a:xfrm>
            <a:off x="4343400" y="4050791"/>
            <a:ext cx="7208215" cy="493776"/>
          </a:xfrm>
          <a:prstGeom prst="rect">
            <a:avLst/>
          </a:prstGeom>
          <a:noFill/>
        </p:spPr>
        <p:txBody>
          <a:bodyPr wrap="square" anchor="ctr" lIns="0" rIns="0" tIns="0" bIns="0">
            <a:spAutoFit/>
          </a:bodyPr>
          <a:lstStyle/>
          <a:p>
            <a:pPr algn="l"/>
            <a:r>
              <a:rPr sz="1450" b="0" i="0">
                <a:solidFill>
                  <a:srgbClr val="52514E"/>
                </a:solidFill>
                <a:latin typeface="Calibri"/>
              </a:rPr>
              <a:t>full width in the frozen study; the shared trunk was never shrunk the same way</a:t>
            </a:r>
          </a:p>
        </p:txBody>
      </p:sp>
      <p:sp>
        <p:nvSpPr>
          <p:cNvPr id="19" name="Rounded Rectangle 18"/>
          <p:cNvSpPr/>
          <p:nvPr/>
        </p:nvSpPr>
        <p:spPr>
          <a:xfrm>
            <a:off x="548640" y="4617720"/>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617720"/>
            <a:ext cx="3566160" cy="493776"/>
          </a:xfrm>
          <a:prstGeom prst="rect">
            <a:avLst/>
          </a:prstGeom>
          <a:noFill/>
        </p:spPr>
        <p:txBody>
          <a:bodyPr wrap="square" anchor="ctr" lIns="0" rIns="0" tIns="0" bIns="0">
            <a:spAutoFit/>
          </a:bodyPr>
          <a:lstStyle/>
          <a:p>
            <a:pPr algn="l"/>
            <a:r>
              <a:rPr sz="1500" b="1" i="0">
                <a:solidFill>
                  <a:srgbClr val="151514"/>
                </a:solidFill>
                <a:latin typeface="Calibri"/>
              </a:rPr>
              <a:t>Transformer memory</a:t>
            </a:r>
          </a:p>
        </p:txBody>
      </p:sp>
      <p:sp>
        <p:nvSpPr>
          <p:cNvPr id="21" name="TextBox 20"/>
          <p:cNvSpPr txBox="1"/>
          <p:nvPr/>
        </p:nvSpPr>
        <p:spPr>
          <a:xfrm>
            <a:off x="4343400" y="4617720"/>
            <a:ext cx="7208215" cy="493776"/>
          </a:xfrm>
          <a:prstGeom prst="rect">
            <a:avLst/>
          </a:prstGeom>
          <a:noFill/>
        </p:spPr>
        <p:txBody>
          <a:bodyPr wrap="square" anchor="ctr" lIns="0" rIns="0" tIns="0" bIns="0">
            <a:spAutoFit/>
          </a:bodyPr>
          <a:lstStyle/>
          <a:p>
            <a:pPr algn="l"/>
            <a:r>
              <a:rPr sz="1450" b="0" i="0">
                <a:solidFill>
                  <a:srgbClr val="52514E"/>
                </a:solidFill>
                <a:latin typeface="Calibri"/>
              </a:rPr>
              <a:t>inconclusive: no benchmark both required memory and was learnable in budget</a:t>
            </a:r>
          </a:p>
        </p:txBody>
      </p:sp>
      <p:sp>
        <p:nvSpPr>
          <p:cNvPr id="22" name="Rounded Rectangle 21"/>
          <p:cNvSpPr/>
          <p:nvPr/>
        </p:nvSpPr>
        <p:spPr>
          <a:xfrm>
            <a:off x="548640" y="5184648"/>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 y="5184648"/>
            <a:ext cx="3566160" cy="493776"/>
          </a:xfrm>
          <a:prstGeom prst="rect">
            <a:avLst/>
          </a:prstGeom>
          <a:noFill/>
        </p:spPr>
        <p:txBody>
          <a:bodyPr wrap="square" anchor="ctr" lIns="0" rIns="0" tIns="0" bIns="0">
            <a:spAutoFit/>
          </a:bodyPr>
          <a:lstStyle/>
          <a:p>
            <a:pPr algn="l"/>
            <a:r>
              <a:rPr sz="1500" b="1" i="0">
                <a:solidFill>
                  <a:srgbClr val="151514"/>
                </a:solidFill>
                <a:latin typeface="Calibri"/>
              </a:rPr>
              <a:t>Informal prospective specification</a:t>
            </a:r>
          </a:p>
        </p:txBody>
      </p:sp>
      <p:sp>
        <p:nvSpPr>
          <p:cNvPr id="24" name="TextBox 23"/>
          <p:cNvSpPr txBox="1"/>
          <p:nvPr/>
        </p:nvSpPr>
        <p:spPr>
          <a:xfrm>
            <a:off x="4343400" y="5184648"/>
            <a:ext cx="7208215" cy="493776"/>
          </a:xfrm>
          <a:prstGeom prst="rect">
            <a:avLst/>
          </a:prstGeom>
          <a:noFill/>
        </p:spPr>
        <p:txBody>
          <a:bodyPr wrap="square" anchor="ctr" lIns="0" rIns="0" tIns="0" bIns="0">
            <a:spAutoFit/>
          </a:bodyPr>
          <a:lstStyle/>
          <a:p>
            <a:pPr algn="l"/>
            <a:r>
              <a:rPr sz="1450" b="0" i="0">
                <a:solidFill>
                  <a:srgbClr val="52514E"/>
                </a:solidFill>
                <a:latin typeface="Calibri"/>
              </a:rPr>
              <a:t>a version-controlled experiment log, not a public registry</a:t>
            </a:r>
          </a:p>
        </p:txBody>
      </p:sp>
      <p:sp>
        <p:nvSpPr>
          <p:cNvPr id="25" name="TextBox 2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6" name="TextBox 2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PROPOSED PLAN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Next phase: scaling up</a:t>
            </a:r>
          </a:p>
        </p:txBody>
      </p:sp>
      <p:sp>
        <p:nvSpPr>
          <p:cNvPr id="4" name="Rounded Rectangle 3"/>
          <p:cNvSpPr/>
          <p:nvPr/>
        </p:nvSpPr>
        <p:spPr>
          <a:xfrm>
            <a:off x="548640" y="1737360"/>
            <a:ext cx="5394960" cy="20116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855464" cy="365760"/>
          </a:xfrm>
          <a:prstGeom prst="rect">
            <a:avLst/>
          </a:prstGeom>
          <a:noFill/>
        </p:spPr>
        <p:txBody>
          <a:bodyPr wrap="square" anchor="t" lIns="0" rIns="0" tIns="0" bIns="0">
            <a:spAutoFit/>
          </a:bodyPr>
          <a:lstStyle/>
          <a:p>
            <a:pPr algn="l"/>
            <a:r>
              <a:rPr sz="1600" b="1" i="0">
                <a:solidFill>
                  <a:srgbClr val="151514"/>
                </a:solidFill>
                <a:latin typeface="Calibri"/>
              </a:rPr>
              <a:t>Why</a:t>
            </a:r>
          </a:p>
        </p:txBody>
      </p:sp>
      <p:sp>
        <p:nvSpPr>
          <p:cNvPr id="7" name="TextBox 6"/>
          <p:cNvSpPr txBox="1"/>
          <p:nvPr/>
        </p:nvSpPr>
        <p:spPr>
          <a:xfrm>
            <a:off x="749808" y="2240280"/>
            <a:ext cx="5029200" cy="146304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Every experiment ran on a 4-core CPU.</a:t>
            </a:r>
          </a:p>
          <a:p>
            <a:pPr algn="l">
              <a:spcAft>
                <a:spcPts val="200"/>
              </a:spcAft>
            </a:pPr>
            <a:r>
              <a:rPr sz="1350" b="0" i="0">
                <a:solidFill>
                  <a:srgbClr val="52514E"/>
                </a:solidFill>
                <a:latin typeface="Calibri"/>
              </a:rPr>
              <a:t>The bottleneck was CPU-bound environment stepping, not model size: it is what limited seeds, sequence length and training budgets.</a:t>
            </a:r>
          </a:p>
        </p:txBody>
      </p:sp>
      <p:sp>
        <p:nvSpPr>
          <p:cNvPr id="8" name="Rounded Rectangle 7"/>
          <p:cNvSpPr/>
          <p:nvPr/>
        </p:nvSpPr>
        <p:spPr>
          <a:xfrm>
            <a:off x="6172200" y="1737360"/>
            <a:ext cx="5470855" cy="20116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73368"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4536" y="1865376"/>
            <a:ext cx="4931359" cy="365760"/>
          </a:xfrm>
          <a:prstGeom prst="rect">
            <a:avLst/>
          </a:prstGeom>
          <a:noFill/>
        </p:spPr>
        <p:txBody>
          <a:bodyPr wrap="square" anchor="t" lIns="0" rIns="0" tIns="0" bIns="0">
            <a:spAutoFit/>
          </a:bodyPr>
          <a:lstStyle/>
          <a:p>
            <a:pPr algn="l"/>
            <a:r>
              <a:rPr sz="1600" b="1" i="0">
                <a:solidFill>
                  <a:srgbClr val="151514"/>
                </a:solidFill>
                <a:latin typeface="Calibri"/>
              </a:rPr>
              <a:t>Plan</a:t>
            </a:r>
          </a:p>
        </p:txBody>
      </p:sp>
      <p:sp>
        <p:nvSpPr>
          <p:cNvPr id="11" name="TextBox 10"/>
          <p:cNvSpPr txBox="1"/>
          <p:nvPr/>
        </p:nvSpPr>
        <p:spPr>
          <a:xfrm>
            <a:off x="6373368" y="2240280"/>
            <a:ext cx="5105095" cy="146304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Port agent, mechanisms and baselines to JAX; run on cloud GPUs.</a:t>
            </a:r>
          </a:p>
          <a:p>
            <a:pPr algn="l">
              <a:spcAft>
                <a:spcPts val="200"/>
              </a:spcAft>
            </a:pPr>
            <a:r>
              <a:rPr sz="1350" b="0" i="0">
                <a:solidFill>
                  <a:srgbClr val="52514E"/>
                </a:solidFill>
                <a:latin typeface="Calibri"/>
              </a:rPr>
              <a:t>XLand-MiniGrid (Nikulin et al., 2024): GPU-native MiniGrid, reported to run millions of steps/s on one GPU, with a rule/goal system for many related tasks.</a:t>
            </a:r>
          </a:p>
        </p:txBody>
      </p:sp>
      <p:sp>
        <p:nvSpPr>
          <p:cNvPr id="12" name="Rounded Rectangle 11"/>
          <p:cNvSpPr/>
          <p:nvPr/>
        </p:nvSpPr>
        <p:spPr>
          <a:xfrm>
            <a:off x="548640" y="3931920"/>
            <a:ext cx="5394960" cy="20574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151376"/>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4059935"/>
            <a:ext cx="4855464" cy="365760"/>
          </a:xfrm>
          <a:prstGeom prst="rect">
            <a:avLst/>
          </a:prstGeom>
          <a:noFill/>
        </p:spPr>
        <p:txBody>
          <a:bodyPr wrap="square" anchor="t" lIns="0" rIns="0" tIns="0" bIns="0">
            <a:spAutoFit/>
          </a:bodyPr>
          <a:lstStyle/>
          <a:p>
            <a:pPr algn="l"/>
            <a:r>
              <a:rPr sz="1600" b="1" i="0">
                <a:solidFill>
                  <a:srgbClr val="151514"/>
                </a:solidFill>
                <a:latin typeface="Calibri"/>
              </a:rPr>
              <a:t>Validation first</a:t>
            </a:r>
          </a:p>
        </p:txBody>
      </p:sp>
      <p:sp>
        <p:nvSpPr>
          <p:cNvPr id="15" name="TextBox 14"/>
          <p:cNvSpPr txBox="1"/>
          <p:nvPr/>
        </p:nvSpPr>
        <p:spPr>
          <a:xfrm>
            <a:off x="749808" y="4434840"/>
            <a:ext cx="5029200" cy="15087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Before trusting anything new, replicate on XLand-MiniGrid's MiniGrid ports:</a:t>
            </a:r>
          </a:p>
          <a:p>
            <a:pPr algn="l">
              <a:spcAft>
                <a:spcPts val="200"/>
              </a:spcAft>
            </a:pPr>
            <a:r>
              <a:rPr sz="1350" b="0" i="0">
                <a:solidFill>
                  <a:srgbClr val="52514E"/>
                </a:solidFill>
                <a:latin typeface="Calibri"/>
              </a:rPr>
              <a:t>· sleep vs replay at a matched replay budget</a:t>
            </a:r>
          </a:p>
          <a:p>
            <a:pPr algn="l">
              <a:spcAft>
                <a:spcPts val="200"/>
              </a:spcAft>
            </a:pPr>
            <a:r>
              <a:rPr sz="1350" b="0" i="0">
                <a:solidFill>
                  <a:srgbClr val="52514E"/>
                </a:solidFill>
                <a:latin typeface="Calibri"/>
              </a:rPr>
              <a:t>· STDP vs a same-size random update</a:t>
            </a:r>
          </a:p>
          <a:p>
            <a:pPr algn="l">
              <a:spcAft>
                <a:spcPts val="200"/>
              </a:spcAft>
            </a:pPr>
            <a:r>
              <a:rPr sz="1350" b="0" i="0">
                <a:solidFill>
                  <a:srgbClr val="52514E"/>
                </a:solidFill>
                <a:latin typeface="Calibri"/>
              </a:rPr>
              <a:t>· the post-freeze isolation-width result (C4)</a:t>
            </a:r>
          </a:p>
        </p:txBody>
      </p:sp>
      <p:sp>
        <p:nvSpPr>
          <p:cNvPr id="16" name="Rounded Rectangle 15"/>
          <p:cNvSpPr/>
          <p:nvPr/>
        </p:nvSpPr>
        <p:spPr>
          <a:xfrm>
            <a:off x="6172200" y="3931920"/>
            <a:ext cx="5470855" cy="20574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73368" y="415137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4059935"/>
            <a:ext cx="4931359" cy="365760"/>
          </a:xfrm>
          <a:prstGeom prst="rect">
            <a:avLst/>
          </a:prstGeom>
          <a:noFill/>
        </p:spPr>
        <p:txBody>
          <a:bodyPr wrap="square" anchor="t" lIns="0" rIns="0" tIns="0" bIns="0">
            <a:spAutoFit/>
          </a:bodyPr>
          <a:lstStyle/>
          <a:p>
            <a:pPr algn="l"/>
            <a:r>
              <a:rPr sz="1600" b="1" i="0">
                <a:solidFill>
                  <a:srgbClr val="151514"/>
                </a:solidFill>
                <a:latin typeface="Calibri"/>
              </a:rPr>
              <a:t>Rough timeline</a:t>
            </a:r>
          </a:p>
        </p:txBody>
      </p:sp>
      <p:sp>
        <p:nvSpPr>
          <p:cNvPr id="19" name="TextBox 18"/>
          <p:cNvSpPr txBox="1"/>
          <p:nvPr/>
        </p:nvSpPr>
        <p:spPr>
          <a:xfrm>
            <a:off x="6373368" y="4434840"/>
            <a:ext cx="5105095" cy="15087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Port and replication: about 1–2 weeks</a:t>
            </a:r>
          </a:p>
          <a:p>
            <a:pPr algn="l">
              <a:spcAft>
                <a:spcPts val="200"/>
              </a:spcAft>
            </a:pPr>
            <a:r>
              <a:rPr sz="1350" b="0" i="0">
                <a:solidFill>
                  <a:srgbClr val="52514E"/>
                </a:solidFill>
                <a:latin typeface="Calibri"/>
              </a:rPr>
              <a:t>Scaled study: about 2–4 weeks</a:t>
            </a:r>
          </a:p>
          <a:p>
            <a:pPr algn="l">
              <a:spcAft>
                <a:spcPts val="200"/>
              </a:spcAft>
            </a:pPr>
            <a:r>
              <a:rPr sz="1350" b="0" i="0">
                <a:solidFill>
                  <a:srgbClr val="52514E"/>
                </a:solidFill>
                <a:latin typeface="Calibri"/>
              </a:rPr>
              <a:t>Then: paper revision and journal submission (TMLR first choice)</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1" name="TextBox 20"/>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PROPOSED PLAN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Next phase: open questions</a:t>
            </a:r>
          </a:p>
        </p:txBody>
      </p:sp>
      <p:sp>
        <p:nvSpPr>
          <p:cNvPr id="4" name="Rounded Rectangle 3"/>
          <p:cNvSpPr/>
          <p:nvPr/>
        </p:nvSpPr>
        <p:spPr>
          <a:xfrm>
            <a:off x="548640" y="1737360"/>
            <a:ext cx="5852160"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5312664" cy="365760"/>
          </a:xfrm>
          <a:prstGeom prst="rect">
            <a:avLst/>
          </a:prstGeom>
          <a:noFill/>
        </p:spPr>
        <p:txBody>
          <a:bodyPr wrap="square" anchor="t" lIns="0" rIns="0" tIns="0" bIns="0">
            <a:spAutoFit/>
          </a:bodyPr>
          <a:lstStyle/>
          <a:p>
            <a:pPr algn="l"/>
            <a:r>
              <a:rPr sz="1600" b="1" i="0">
                <a:solidFill>
                  <a:srgbClr val="151514"/>
                </a:solidFill>
                <a:latin typeface="Calibri"/>
              </a:rPr>
              <a:t>Questions the scaled study will address</a:t>
            </a:r>
          </a:p>
        </p:txBody>
      </p:sp>
      <p:sp>
        <p:nvSpPr>
          <p:cNvPr id="7" name="TextBox 6"/>
          <p:cNvSpPr txBox="1"/>
          <p:nvPr/>
        </p:nvSpPr>
        <p:spPr>
          <a:xfrm>
            <a:off x="749808" y="2240280"/>
            <a:ext cx="5486400" cy="3703320"/>
          </a:xfrm>
          <a:prstGeom prst="rect">
            <a:avLst/>
          </a:prstGeom>
          <a:noFill/>
        </p:spPr>
        <p:txBody>
          <a:bodyPr wrap="square" anchor="t" lIns="0" rIns="0" tIns="0" bIns="0">
            <a:spAutoFit/>
          </a:bodyPr>
          <a:lstStyle/>
          <a:p/>
        </p:txBody>
      </p:sp>
      <p:sp>
        <p:nvSpPr>
          <p:cNvPr id="8" name="TextBox 7"/>
          <p:cNvSpPr txBox="1"/>
          <p:nvPr/>
        </p:nvSpPr>
        <p:spPr>
          <a:xfrm>
            <a:off x="749808" y="2286000"/>
            <a:ext cx="5486400" cy="3657600"/>
          </a:xfrm>
          <a:prstGeom prst="rect">
            <a:avLst/>
          </a:prstGeom>
          <a:noFill/>
        </p:spPr>
        <p:txBody>
          <a:bodyPr wrap="square" anchor="t" lIns="0" rIns="0" tIns="0" bIns="0">
            <a:spAutoFit/>
          </a:bodyPr>
          <a:lstStyle/>
          <a:p>
            <a:pPr algn="l" marL="256032" indent="-201168">
              <a:spcAft>
                <a:spcPts val="800"/>
              </a:spcAft>
              <a:buClr>
                <a:srgbClr val="85837D"/>
              </a:buClr>
              <a:buFont typeface="Arial"/>
              <a:buChar char="•"/>
            </a:pPr>
            <a:r>
              <a:rPr sz="1400" b="0" i="0">
                <a:solidFill>
                  <a:srgbClr val="151514"/>
                </a:solidFill>
                <a:latin typeface="Calibri"/>
              </a:rPr>
              <a:t>10–50 related tasks; accuracy-vs-memory curves with every method shrunk along its own size setting</a:t>
            </a:r>
          </a:p>
          <a:p>
            <a:pPr algn="l" marL="256032" indent="-201168">
              <a:spcAft>
                <a:spcPts val="800"/>
              </a:spcAft>
              <a:buClr>
                <a:srgbClr val="85837D"/>
              </a:buClr>
              <a:buFont typeface="Arial"/>
              <a:buChar char="•"/>
            </a:pPr>
            <a:r>
              <a:rPr sz="1400" b="0" i="0">
                <a:solidFill>
                  <a:srgbClr val="151514"/>
                </a:solidFill>
                <a:latin typeface="Calibri"/>
              </a:rPr>
              <a:t>10–20 seeds per arm, power analysis and equivalence tests, so nulls become informative</a:t>
            </a:r>
          </a:p>
          <a:p>
            <a:pPr algn="l" marL="256032" indent="-201168">
              <a:spcAft>
                <a:spcPts val="800"/>
              </a:spcAft>
              <a:buClr>
                <a:srgbClr val="85837D"/>
              </a:buClr>
              <a:buFont typeface="Arial"/>
              <a:buChar char="•"/>
            </a:pPr>
            <a:r>
              <a:rPr sz="1400" b="0" i="0">
                <a:solidFill>
                  <a:srgbClr val="151514"/>
                </a:solidFill>
                <a:latin typeface="Calibri"/>
              </a:rPr>
              <a:t>A learnable memory benchmark; then Transformer vs GRU vs frame stack, and a stateful SNN</a:t>
            </a:r>
          </a:p>
          <a:p>
            <a:pPr algn="l" marL="256032" indent="-201168">
              <a:spcAft>
                <a:spcPts val="800"/>
              </a:spcAft>
              <a:buClr>
                <a:srgbClr val="85837D"/>
              </a:buClr>
              <a:buFont typeface="Arial"/>
              <a:buChar char="•"/>
            </a:pPr>
            <a:r>
              <a:rPr sz="1400" b="0" i="0">
                <a:solidFill>
                  <a:srgbClr val="151514"/>
                </a:solidFill>
                <a:latin typeface="Calibri"/>
              </a:rPr>
              <a:t>The SNN version of C4 at 450k frames per task</a:t>
            </a:r>
          </a:p>
          <a:p>
            <a:pPr algn="l" marL="256032" indent="-201168">
              <a:spcAft>
                <a:spcPts val="800"/>
              </a:spcAft>
              <a:buClr>
                <a:srgbClr val="85837D"/>
              </a:buClr>
              <a:buFont typeface="Arial"/>
              <a:buChar char="•"/>
            </a:pPr>
            <a:r>
              <a:rPr sz="1400" b="0" i="0">
                <a:solidFill>
                  <a:srgbClr val="151514"/>
                </a:solidFill>
                <a:latin typeface="Calibri"/>
              </a:rPr>
              <a:t>Do the conclusions change with network size? A task-agnostic setting with observable goals</a:t>
            </a:r>
          </a:p>
        </p:txBody>
      </p:sp>
      <p:sp>
        <p:nvSpPr>
          <p:cNvPr id="9" name="Rounded Rectangle 8"/>
          <p:cNvSpPr/>
          <p:nvPr/>
        </p:nvSpPr>
        <p:spPr>
          <a:xfrm>
            <a:off x="6629400" y="1737360"/>
            <a:ext cx="5013655"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830568" y="1956815"/>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31736" y="1865376"/>
            <a:ext cx="4474159" cy="365760"/>
          </a:xfrm>
          <a:prstGeom prst="rect">
            <a:avLst/>
          </a:prstGeom>
          <a:noFill/>
        </p:spPr>
        <p:txBody>
          <a:bodyPr wrap="square" anchor="t" lIns="0" rIns="0" tIns="0" bIns="0">
            <a:spAutoFit/>
          </a:bodyPr>
          <a:lstStyle/>
          <a:p>
            <a:pPr algn="l"/>
            <a:r>
              <a:rPr sz="1600" b="1" i="0">
                <a:solidFill>
                  <a:srgbClr val="151514"/>
                </a:solidFill>
                <a:latin typeface="Calibri"/>
              </a:rPr>
              <a:t>Smaller follow-ups</a:t>
            </a:r>
          </a:p>
        </p:txBody>
      </p:sp>
      <p:sp>
        <p:nvSpPr>
          <p:cNvPr id="12" name="TextBox 11"/>
          <p:cNvSpPr txBox="1"/>
          <p:nvPr/>
        </p:nvSpPr>
        <p:spPr>
          <a:xfrm>
            <a:off x="6830568" y="2240280"/>
            <a:ext cx="4647895" cy="3703320"/>
          </a:xfrm>
          <a:prstGeom prst="rect">
            <a:avLst/>
          </a:prstGeom>
          <a:noFill/>
        </p:spPr>
        <p:txBody>
          <a:bodyPr wrap="square" anchor="t" lIns="0" rIns="0" tIns="0" bIns="0">
            <a:spAutoFit/>
          </a:bodyPr>
          <a:lstStyle/>
          <a:p/>
        </p:txBody>
      </p:sp>
      <p:sp>
        <p:nvSpPr>
          <p:cNvPr id="13" name="TextBox 12"/>
          <p:cNvSpPr txBox="1"/>
          <p:nvPr/>
        </p:nvSpPr>
        <p:spPr>
          <a:xfrm>
            <a:off x="6830568" y="2286000"/>
            <a:ext cx="4693615" cy="3657600"/>
          </a:xfrm>
          <a:prstGeom prst="rect">
            <a:avLst/>
          </a:prstGeom>
          <a:noFill/>
        </p:spPr>
        <p:txBody>
          <a:bodyPr wrap="square" anchor="t" lIns="0" rIns="0" tIns="0" bIns="0">
            <a:spAutoFit/>
          </a:bodyPr>
          <a:lstStyle/>
          <a:p>
            <a:pPr algn="l" marL="256032" indent="-201168">
              <a:spcAft>
                <a:spcPts val="600"/>
              </a:spcAft>
              <a:buClr>
                <a:srgbClr val="85837D"/>
              </a:buClr>
              <a:buFont typeface="Arial"/>
              <a:buChar char="•"/>
            </a:pPr>
            <a:r>
              <a:rPr sz="1350" b="0" i="0">
                <a:solidFill>
                  <a:srgbClr val="151514"/>
                </a:solidFill>
                <a:latin typeface="Calibri"/>
              </a:rPr>
              <a:t>Replay-budget sweep: sleep vs interleaved replay (motivated by an exploratory result only)</a:t>
            </a:r>
          </a:p>
          <a:p>
            <a:pPr algn="l" marL="256032" indent="-201168">
              <a:spcAft>
                <a:spcPts val="600"/>
              </a:spcAft>
              <a:buClr>
                <a:srgbClr val="85837D"/>
              </a:buClr>
              <a:buFont typeface="Arial"/>
              <a:buChar char="•"/>
            </a:pPr>
            <a:r>
              <a:rPr sz="1350" b="0" i="0">
                <a:solidFill>
                  <a:srgbClr val="151514"/>
                </a:solidFill>
                <a:latin typeface="Calibri"/>
              </a:rPr>
              <a:t>Sleep split: offline replay alone vs replay + self-distillation</a:t>
            </a:r>
          </a:p>
          <a:p>
            <a:pPr algn="l" marL="256032" indent="-201168">
              <a:spcAft>
                <a:spcPts val="600"/>
              </a:spcAft>
              <a:buClr>
                <a:srgbClr val="85837D"/>
              </a:buClr>
              <a:buFont typeface="Arial"/>
              <a:buChar char="•"/>
            </a:pPr>
            <a:r>
              <a:rPr sz="1350" b="0" i="0">
                <a:solidFill>
                  <a:srgbClr val="151514"/>
                </a:solidFill>
                <a:latin typeface="Calibri"/>
              </a:rPr>
              <a:t>Plots of the STDP runaway mechanism</a:t>
            </a:r>
          </a:p>
          <a:p>
            <a:pPr algn="l" marL="256032" indent="-201168">
              <a:spcAft>
                <a:spcPts val="600"/>
              </a:spcAft>
              <a:buClr>
                <a:srgbClr val="85837D"/>
              </a:buClr>
              <a:buFont typeface="Arial"/>
              <a:buChar char="•"/>
            </a:pPr>
            <a:r>
              <a:rPr sz="1350" b="0" i="0">
                <a:solidFill>
                  <a:srgbClr val="151514"/>
                </a:solidFill>
                <a:latin typeface="Calibri"/>
              </a:rPr>
              <a:t>Stronger CNN sparsifier (k-winners-take-all)</a:t>
            </a:r>
          </a:p>
          <a:p>
            <a:pPr algn="l" marL="256032" indent="-201168">
              <a:spcAft>
                <a:spcPts val="600"/>
              </a:spcAft>
              <a:buClr>
                <a:srgbClr val="85837D"/>
              </a:buClr>
              <a:buFont typeface="Arial"/>
              <a:buChar char="•"/>
            </a:pPr>
            <a:r>
              <a:rPr sz="1350" b="0" i="0">
                <a:solidFill>
                  <a:srgbClr val="151514"/>
                </a:solidFill>
                <a:latin typeface="Calibri"/>
              </a:rPr>
              <a:t>Compressed or generative replay; a PackNet that can regrow capacity</a:t>
            </a:r>
          </a:p>
          <a:p>
            <a:pPr algn="l" marL="256032" indent="-201168">
              <a:spcAft>
                <a:spcPts val="600"/>
              </a:spcAft>
              <a:buClr>
                <a:srgbClr val="85837D"/>
              </a:buClr>
              <a:buFont typeface="Arial"/>
              <a:buChar char="•"/>
            </a:pPr>
            <a:r>
              <a:rPr sz="1350" b="0" i="0">
                <a:solidFill>
                  <a:srgbClr val="151514"/>
                </a:solidFill>
                <a:latin typeface="Calibri"/>
              </a:rPr>
              <a:t>One standard benchmark, such as Continual World</a:t>
            </a:r>
          </a:p>
        </p:txBody>
      </p:sp>
      <p:sp>
        <p:nvSpPr>
          <p:cNvPr id="14" name="TextBox 13"/>
          <p:cNvSpPr txBox="1"/>
          <p:nvPr/>
        </p:nvSpPr>
        <p:spPr>
          <a:xfrm>
            <a:off x="548640" y="6080760"/>
            <a:ext cx="11094415" cy="365760"/>
          </a:xfrm>
          <a:prstGeom prst="rect">
            <a:avLst/>
          </a:prstGeom>
          <a:noFill/>
        </p:spPr>
        <p:txBody>
          <a:bodyPr wrap="square" anchor="t" lIns="0" rIns="0" tIns="0" bIns="0">
            <a:spAutoFit/>
          </a:bodyPr>
          <a:lstStyle/>
          <a:p>
            <a:pPr algn="l"/>
            <a:r>
              <a:rPr sz="1300" b="0" i="1">
                <a:solidFill>
                  <a:srgbClr val="52514E"/>
                </a:solidFill>
                <a:latin typeface="Calibri"/>
              </a:rPr>
              <a:t>Same methodology throughout: prospectively specified tests, fresh seeds for confirmation, matched resources, every failure logged.</a:t>
            </a:r>
          </a:p>
        </p:txBody>
      </p:sp>
      <p:sp>
        <p:nvSpPr>
          <p:cNvPr id="15" name="TextBox 1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6" name="TextBox 1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1514"/>
        </a:solidFill>
        <a:effectLst/>
      </p:bgPr>
    </p:bg>
    <p:spTree>
      <p:nvGrpSpPr>
        <p:cNvPr id="1" name=""/>
        <p:cNvGrpSpPr/>
        <p:nvPr/>
      </p:nvGrpSpPr>
      <p:grpSpPr/>
      <p:sp>
        <p:nvSpPr>
          <p:cNvPr id="2" name="TextBox 1"/>
          <p:cNvSpPr txBox="1"/>
          <p:nvPr/>
        </p:nvSpPr>
        <p:spPr>
          <a:xfrm>
            <a:off x="640080" y="640080"/>
            <a:ext cx="10058400" cy="365760"/>
          </a:xfrm>
          <a:prstGeom prst="rect">
            <a:avLst/>
          </a:prstGeom>
          <a:noFill/>
        </p:spPr>
        <p:txBody>
          <a:bodyPr wrap="square" anchor="t" lIns="0" rIns="0" tIns="0" bIns="0">
            <a:spAutoFit/>
          </a:bodyPr>
          <a:lstStyle/>
          <a:p>
            <a:pPr algn="l"/>
            <a:r>
              <a:rPr sz="1300" b="1" i="0">
                <a:solidFill>
                  <a:srgbClr val="9CC3F2"/>
                </a:solidFill>
                <a:latin typeface="Calibri"/>
              </a:rPr>
              <a:t>CONCLUSION</a:t>
            </a:r>
          </a:p>
        </p:txBody>
      </p:sp>
      <p:sp>
        <p:nvSpPr>
          <p:cNvPr id="3" name="TextBox 2"/>
          <p:cNvSpPr txBox="1"/>
          <p:nvPr/>
        </p:nvSpPr>
        <p:spPr>
          <a:xfrm>
            <a:off x="640080" y="1005840"/>
            <a:ext cx="10972800" cy="914400"/>
          </a:xfrm>
          <a:prstGeom prst="rect">
            <a:avLst/>
          </a:prstGeom>
          <a:noFill/>
        </p:spPr>
        <p:txBody>
          <a:bodyPr wrap="square" anchor="t" lIns="0" rIns="0" tIns="0" bIns="0">
            <a:spAutoFit/>
          </a:bodyPr>
          <a:lstStyle/>
          <a:p>
            <a:pPr algn="l"/>
            <a:r>
              <a:rPr sz="2800" b="1" i="0">
                <a:solidFill>
                  <a:srgbClr val="FFFFFF"/>
                </a:solidFill>
                <a:latin typeface="Cambria"/>
              </a:rPr>
              <a:t>No statistically reliable improvement beyond the matched controls</a:t>
            </a:r>
          </a:p>
        </p:txBody>
      </p:sp>
      <p:sp>
        <p:nvSpPr>
          <p:cNvPr id="4" name="TextBox 3"/>
          <p:cNvSpPr txBox="1"/>
          <p:nvPr/>
        </p:nvSpPr>
        <p:spPr>
          <a:xfrm>
            <a:off x="640080" y="1691640"/>
            <a:ext cx="10972800" cy="457200"/>
          </a:xfrm>
          <a:prstGeom prst="rect">
            <a:avLst/>
          </a:prstGeom>
          <a:noFill/>
        </p:spPr>
        <p:txBody>
          <a:bodyPr wrap="square" anchor="t" lIns="0" rIns="0" tIns="0" bIns="0">
            <a:spAutoFit/>
          </a:bodyPr>
          <a:lstStyle/>
          <a:p>
            <a:pPr algn="l"/>
            <a:r>
              <a:rPr sz="1500" b="0" i="0">
                <a:solidFill>
                  <a:srgbClr val="C3C2B7"/>
                </a:solidFill>
                <a:latin typeface="Calibri"/>
              </a:rPr>
              <a:t>Given the seed counts, this rules out large effects rather than showing equivalence, and only where the intervals are narrow.</a:t>
            </a:r>
          </a:p>
        </p:txBody>
      </p:sp>
      <p:sp>
        <p:nvSpPr>
          <p:cNvPr id="5" name="Oval 4"/>
          <p:cNvSpPr/>
          <p:nvPr/>
        </p:nvSpPr>
        <p:spPr>
          <a:xfrm>
            <a:off x="640080" y="2532888"/>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32888"/>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7" name="TextBox 6"/>
          <p:cNvSpPr txBox="1"/>
          <p:nvPr/>
        </p:nvSpPr>
        <p:spPr>
          <a:xfrm>
            <a:off x="1234440" y="2496312"/>
            <a:ext cx="2103120" cy="411480"/>
          </a:xfrm>
          <a:prstGeom prst="rect">
            <a:avLst/>
          </a:prstGeom>
          <a:noFill/>
        </p:spPr>
        <p:txBody>
          <a:bodyPr wrap="square" anchor="ctr" lIns="0" rIns="0" tIns="0" bIns="0">
            <a:spAutoFit/>
          </a:bodyPr>
          <a:lstStyle/>
          <a:p>
            <a:pPr algn="l"/>
            <a:r>
              <a:rPr sz="1700" b="1" i="0">
                <a:solidFill>
                  <a:srgbClr val="FFFFFF"/>
                </a:solidFill>
                <a:latin typeface="Calibri"/>
              </a:rPr>
              <a:t>Survived</a:t>
            </a:r>
          </a:p>
        </p:txBody>
      </p:sp>
      <p:sp>
        <p:nvSpPr>
          <p:cNvPr id="8" name="TextBox 7"/>
          <p:cNvSpPr txBox="1"/>
          <p:nvPr/>
        </p:nvSpPr>
        <p:spPr>
          <a:xfrm>
            <a:off x="3291840" y="2478024"/>
            <a:ext cx="8321040" cy="731520"/>
          </a:xfrm>
          <a:prstGeom prst="rect">
            <a:avLst/>
          </a:prstGeom>
          <a:noFill/>
        </p:spPr>
        <p:txBody>
          <a:bodyPr wrap="square" anchor="t" lIns="0" rIns="0" tIns="0" bIns="0">
            <a:spAutoFit/>
          </a:bodyPr>
          <a:lstStyle/>
          <a:p>
            <a:pPr algn="l"/>
            <a:r>
              <a:rPr sz="1400" b="0" i="0">
                <a:solidFill>
                  <a:srgbClr val="C3C2B7"/>
                </a:solidFill>
                <a:latin typeface="Calibri"/>
              </a:rPr>
              <a:t>homeostasis speeds up learning with backprop-free encoder credit assignment (DFA; heads exact), without making it reliable</a:t>
            </a:r>
          </a:p>
        </p:txBody>
      </p:sp>
      <p:sp>
        <p:nvSpPr>
          <p:cNvPr id="9" name="Oval 8"/>
          <p:cNvSpPr/>
          <p:nvPr/>
        </p:nvSpPr>
        <p:spPr>
          <a:xfrm>
            <a:off x="640080" y="3337560"/>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337560"/>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11" name="TextBox 10"/>
          <p:cNvSpPr txBox="1"/>
          <p:nvPr/>
        </p:nvSpPr>
        <p:spPr>
          <a:xfrm>
            <a:off x="1234440" y="3300984"/>
            <a:ext cx="2103120" cy="411480"/>
          </a:xfrm>
          <a:prstGeom prst="rect">
            <a:avLst/>
          </a:prstGeom>
          <a:noFill/>
        </p:spPr>
        <p:txBody>
          <a:bodyPr wrap="square" anchor="ctr" lIns="0" rIns="0" tIns="0" bIns="0">
            <a:spAutoFit/>
          </a:bodyPr>
          <a:lstStyle/>
          <a:p>
            <a:pPr algn="l"/>
            <a:r>
              <a:rPr sz="1700" b="1" i="0">
                <a:solidFill>
                  <a:srgbClr val="FFFFFF"/>
                </a:solidFill>
                <a:latin typeface="Calibri"/>
              </a:rPr>
              <a:t>Conditional</a:t>
            </a:r>
          </a:p>
        </p:txBody>
      </p:sp>
      <p:sp>
        <p:nvSpPr>
          <p:cNvPr id="12" name="TextBox 11"/>
          <p:cNvSpPr txBox="1"/>
          <p:nvPr/>
        </p:nvSpPr>
        <p:spPr>
          <a:xfrm>
            <a:off x="3291840" y="3282696"/>
            <a:ext cx="8321040" cy="731520"/>
          </a:xfrm>
          <a:prstGeom prst="rect">
            <a:avLst/>
          </a:prstGeom>
          <a:noFill/>
        </p:spPr>
        <p:txBody>
          <a:bodyPr wrap="square" anchor="t" lIns="0" rIns="0" tIns="0" bIns="0">
            <a:spAutoFit/>
          </a:bodyPr>
          <a:lstStyle/>
          <a:p>
            <a:pPr algn="l"/>
            <a:r>
              <a:rPr sz="1400" b="0" i="0">
                <a:solidFill>
                  <a:srgbClr val="C3C2B7"/>
                </a:solidFill>
                <a:latin typeface="Calibri"/>
              </a:rPr>
              <a:t>shared trunk + small buffer ≈ full-width isolation in less memory, but quarter-width isolation beat it after the freeze; spiking encoder: fewer operations in an estimate, higher measured CPU cost</a:t>
            </a:r>
          </a:p>
        </p:txBody>
      </p:sp>
      <p:sp>
        <p:nvSpPr>
          <p:cNvPr id="13" name="Oval 12"/>
          <p:cNvSpPr/>
          <p:nvPr/>
        </p:nvSpPr>
        <p:spPr>
          <a:xfrm>
            <a:off x="640080" y="4142231"/>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42231"/>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15" name="TextBox 14"/>
          <p:cNvSpPr txBox="1"/>
          <p:nvPr/>
        </p:nvSpPr>
        <p:spPr>
          <a:xfrm>
            <a:off x="1234440" y="4105656"/>
            <a:ext cx="2103120" cy="411480"/>
          </a:xfrm>
          <a:prstGeom prst="rect">
            <a:avLst/>
          </a:prstGeom>
          <a:noFill/>
        </p:spPr>
        <p:txBody>
          <a:bodyPr wrap="square" anchor="ctr" lIns="0" rIns="0" tIns="0" bIns="0">
            <a:spAutoFit/>
          </a:bodyPr>
          <a:lstStyle/>
          <a:p>
            <a:pPr algn="l"/>
            <a:r>
              <a:rPr sz="1700" b="1" i="0">
                <a:solidFill>
                  <a:srgbClr val="FFFFFF"/>
                </a:solidFill>
                <a:latin typeface="Calibri"/>
              </a:rPr>
              <a:t>Did not survive</a:t>
            </a:r>
          </a:p>
        </p:txBody>
      </p:sp>
      <p:sp>
        <p:nvSpPr>
          <p:cNvPr id="16" name="TextBox 15"/>
          <p:cNvSpPr txBox="1"/>
          <p:nvPr/>
        </p:nvSpPr>
        <p:spPr>
          <a:xfrm>
            <a:off x="3291840" y="4087368"/>
            <a:ext cx="8321040" cy="731520"/>
          </a:xfrm>
          <a:prstGeom prst="rect">
            <a:avLst/>
          </a:prstGeom>
          <a:noFill/>
        </p:spPr>
        <p:txBody>
          <a:bodyPr wrap="square" anchor="t" lIns="0" rIns="0" tIns="0" bIns="0">
            <a:spAutoFit/>
          </a:bodyPr>
          <a:lstStyle/>
          <a:p>
            <a:pPr algn="l"/>
            <a:r>
              <a:rPr sz="1400" b="0" i="0">
                <a:solidFill>
                  <a:srgbClr val="C3C2B7"/>
                </a:solidFill>
                <a:latin typeface="Calibri"/>
              </a:rPr>
              <a:t>the tested STDP rule vs a same-size random update; homeostasis with backprop; sleep vs replay at a matched budget; and the earlier findings on the 'didn't survive' slide</a:t>
            </a:r>
          </a:p>
        </p:txBody>
      </p:sp>
      <p:sp>
        <p:nvSpPr>
          <p:cNvPr id="17" name="Oval 16"/>
          <p:cNvSpPr/>
          <p:nvPr/>
        </p:nvSpPr>
        <p:spPr>
          <a:xfrm>
            <a:off x="640080" y="4946904"/>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946904"/>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19" name="TextBox 18"/>
          <p:cNvSpPr txBox="1"/>
          <p:nvPr/>
        </p:nvSpPr>
        <p:spPr>
          <a:xfrm>
            <a:off x="1234440" y="4910328"/>
            <a:ext cx="2103120" cy="411480"/>
          </a:xfrm>
          <a:prstGeom prst="rect">
            <a:avLst/>
          </a:prstGeom>
          <a:noFill/>
        </p:spPr>
        <p:txBody>
          <a:bodyPr wrap="square" anchor="ctr" lIns="0" rIns="0" tIns="0" bIns="0">
            <a:spAutoFit/>
          </a:bodyPr>
          <a:lstStyle/>
          <a:p>
            <a:pPr algn="l"/>
            <a:r>
              <a:rPr sz="1700" b="1" i="0">
                <a:solidFill>
                  <a:srgbClr val="FFFFFF"/>
                </a:solidFill>
                <a:latin typeface="Calibri"/>
              </a:rPr>
              <a:t>Unresolved</a:t>
            </a:r>
          </a:p>
        </p:txBody>
      </p:sp>
      <p:sp>
        <p:nvSpPr>
          <p:cNvPr id="20" name="TextBox 19"/>
          <p:cNvSpPr txBox="1"/>
          <p:nvPr/>
        </p:nvSpPr>
        <p:spPr>
          <a:xfrm>
            <a:off x="3291840" y="4892040"/>
            <a:ext cx="8321040" cy="731520"/>
          </a:xfrm>
          <a:prstGeom prst="rect">
            <a:avLst/>
          </a:prstGeom>
          <a:noFill/>
        </p:spPr>
        <p:txBody>
          <a:bodyPr wrap="square" anchor="t" lIns="0" rIns="0" tIns="0" bIns="0">
            <a:spAutoFit/>
          </a:bodyPr>
          <a:lstStyle/>
          <a:p>
            <a:pPr algn="l"/>
            <a:r>
              <a:rPr sz="1400" b="0" i="0">
                <a:solidFill>
                  <a:srgbClr val="C3C2B7"/>
                </a:solidFill>
                <a:latin typeface="Calibri"/>
              </a:rPr>
              <a:t>Transformer working memory (benchmark validity not established); the SNN version of the isolation-width test</a:t>
            </a:r>
          </a:p>
        </p:txBody>
      </p:sp>
      <p:sp>
        <p:nvSpPr>
          <p:cNvPr id="21" name="TextBox 20"/>
          <p:cNvSpPr txBox="1"/>
          <p:nvPr/>
        </p:nvSpPr>
        <p:spPr>
          <a:xfrm>
            <a:off x="640080" y="5806440"/>
            <a:ext cx="10058400" cy="457200"/>
          </a:xfrm>
          <a:prstGeom prst="rect">
            <a:avLst/>
          </a:prstGeom>
          <a:noFill/>
        </p:spPr>
        <p:txBody>
          <a:bodyPr wrap="square" anchor="t" lIns="0" rIns="0" tIns="0" bIns="0">
            <a:spAutoFit/>
          </a:bodyPr>
          <a:lstStyle/>
          <a:p>
            <a:pPr algn="l"/>
            <a:r>
              <a:rPr sz="2000" b="1" i="0">
                <a:solidFill>
                  <a:srgbClr val="FFFFFF"/>
                </a:solidFill>
                <a:latin typeface="Calibri"/>
              </a:rPr>
              <a:t>Thank you. Questions?</a:t>
            </a:r>
          </a:p>
        </p:txBody>
      </p:sp>
      <p:sp>
        <p:nvSpPr>
          <p:cNvPr id="22" name="TextBox 2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F8D86"/>
                </a:solidFill>
                <a:latin typeface="Calibri"/>
              </a:rPr>
              <a:t>NeuroPlast · final review</a:t>
            </a:r>
          </a:p>
        </p:txBody>
      </p:sp>
      <p:sp>
        <p:nvSpPr>
          <p:cNvPr id="23" name="TextBox 2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F8D86"/>
                </a:solidFill>
                <a:latin typeface="Calibri"/>
              </a:rPr>
              <a:t>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final accuracy and forgetting by method</a:t>
            </a:r>
          </a:p>
        </p:txBody>
      </p:sp>
      <p:graphicFrame>
        <p:nvGraphicFramePr>
          <p:cNvPr id="4" name="Table 3"/>
          <p:cNvGraphicFramePr>
            <a:graphicFrameLocks noGrp="1"/>
          </p:cNvGraphicFramePr>
          <p:nvPr/>
        </p:nvGraphicFramePr>
        <p:xfrm>
          <a:off x="548640" y="1737360"/>
          <a:ext cx="11094412" cy="4114800"/>
        </p:xfrm>
        <a:graphic>
          <a:graphicData uri="http://schemas.openxmlformats.org/drawingml/2006/table">
            <a:tbl>
              <a:tblPr firstRow="1" bandRow="1">
                <a:tableStyleId>{5C22544A-7EE6-4342-B048-85BDC9FD1C3A}</a:tableStyleId>
              </a:tblPr>
              <a:tblGrid>
                <a:gridCol w="2743200"/>
                <a:gridCol w="2087803"/>
                <a:gridCol w="2087803"/>
                <a:gridCol w="2087803"/>
                <a:gridCol w="2087803"/>
              </a:tblGrid>
              <a:tr h="316523">
                <a:tc>
                  <a:txBody>
                    <a:bodyPr/>
                    <a:lstStyle/>
                    <a:p>
                      <a:pPr algn="l"/>
                      <a:r>
                        <a:rPr sz="1300" b="1">
                          <a:solidFill>
                            <a:srgbClr val="151514"/>
                          </a:solidFill>
                          <a:latin typeface="Calibri"/>
                        </a:rPr>
                        <a:t/>
                      </a:r>
                    </a:p>
                  </a:txBody>
                  <a:tcPr marL="91440" marR="91440" marT="27432" marB="27432">
                    <a:solidFill>
                      <a:srgbClr val="EBEAE4"/>
                    </a:solidFill>
                  </a:tcPr>
                </a:tc>
                <a:tc>
                  <a:txBody>
                    <a:bodyPr/>
                    <a:lstStyle/>
                    <a:p>
                      <a:pPr algn="ctr"/>
                      <a:r>
                        <a:rPr sz="1300" b="1">
                          <a:solidFill>
                            <a:srgbClr val="151514"/>
                          </a:solidFill>
                          <a:latin typeface="Calibri"/>
                        </a:rPr>
                        <a:t>CNN, 3 tasks</a:t>
                      </a:r>
                    </a:p>
                  </a:txBody>
                  <a:tcPr marL="91440" marR="91440" marT="27432" marB="27432">
                    <a:solidFill>
                      <a:srgbClr val="EBEAE4"/>
                    </a:solidFill>
                  </a:tcPr>
                </a:tc>
                <a:tc>
                  <a:txBody>
                    <a:bodyPr/>
                    <a:lstStyle/>
                    <a:p>
                      <a:pPr algn="ctr"/>
                      <a:r>
                        <a:rPr sz="1300" b="1">
                          <a:solidFill>
                            <a:srgbClr val="151514"/>
                          </a:solidFill>
                          <a:latin typeface="Calibri"/>
                        </a:rPr>
                        <a:t>SNN, 3 tasks</a:t>
                      </a:r>
                    </a:p>
                  </a:txBody>
                  <a:tcPr marL="91440" marR="91440" marT="27432" marB="27432">
                    <a:solidFill>
                      <a:srgbClr val="EBEAE4"/>
                    </a:solidFill>
                  </a:tcPr>
                </a:tc>
                <a:tc>
                  <a:txBody>
                    <a:bodyPr/>
                    <a:lstStyle/>
                    <a:p>
                      <a:pPr algn="ctr"/>
                      <a:r>
                        <a:rPr sz="1300" b="1">
                          <a:solidFill>
                            <a:srgbClr val="151514"/>
                          </a:solidFill>
                          <a:latin typeface="Calibri"/>
                        </a:rPr>
                        <a:t>SNN+Transformer, 3 tasks</a:t>
                      </a:r>
                    </a:p>
                  </a:txBody>
                  <a:tcPr marL="91440" marR="91440" marT="27432" marB="27432">
                    <a:solidFill>
                      <a:srgbClr val="EBEAE4"/>
                    </a:solidFill>
                  </a:tcPr>
                </a:tc>
                <a:tc>
                  <a:txBody>
                    <a:bodyPr/>
                    <a:lstStyle/>
                    <a:p>
                      <a:pPr algn="ctr"/>
                      <a:r>
                        <a:rPr sz="1300" b="1">
                          <a:solidFill>
                            <a:srgbClr val="151514"/>
                          </a:solidFill>
                          <a:latin typeface="Calibri"/>
                        </a:rPr>
                        <a:t>CNN, 5 tasks</a:t>
                      </a:r>
                    </a:p>
                  </a:txBody>
                  <a:tcPr marL="91440" marR="91440" marT="27432" marB="27432">
                    <a:solidFill>
                      <a:srgbClr val="EBEAE4"/>
                    </a:solidFill>
                  </a:tcPr>
                </a:tc>
              </a:tr>
              <a:tr h="316523">
                <a:tc>
                  <a:txBody>
                    <a:bodyPr/>
                    <a:lstStyle/>
                    <a:p>
                      <a:pPr algn="l"/>
                      <a:r>
                        <a:rPr sz="1300" b="1">
                          <a:solidFill>
                            <a:srgbClr val="151514"/>
                          </a:solidFill>
                          <a:latin typeface="Calibri"/>
                        </a:rPr>
                        <a:t>Final ACC (mean ± SD)</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r>
              <a:tr h="316523">
                <a:tc>
                  <a:txBody>
                    <a:bodyPr/>
                    <a:lstStyle/>
                    <a:p>
                      <a:pPr algn="l"/>
                      <a:r>
                        <a:rPr sz="1300" b="0">
                          <a:solidFill>
                            <a:srgbClr val="52514E"/>
                          </a:solidFill>
                          <a:latin typeface="Calibri"/>
                        </a:rPr>
                        <a:t>naive</a:t>
                      </a:r>
                    </a:p>
                  </a:txBody>
                  <a:tcPr marL="91440" marR="91440" marT="27432" marB="27432">
                    <a:solidFill>
                      <a:srgbClr val="FFFFFF"/>
                    </a:solidFill>
                  </a:tcPr>
                </a:tc>
                <a:tc>
                  <a:txBody>
                    <a:bodyPr/>
                    <a:lstStyle/>
                    <a:p>
                      <a:pPr algn="ctr"/>
                      <a:r>
                        <a:rPr sz="1300" b="0">
                          <a:solidFill>
                            <a:srgbClr val="52514E"/>
                          </a:solidFill>
                          <a:latin typeface="Calibri"/>
                        </a:rPr>
                        <a:t>0.555 ± 0.013</a:t>
                      </a:r>
                    </a:p>
                  </a:txBody>
                  <a:tcPr marL="91440" marR="91440" marT="27432" marB="27432">
                    <a:solidFill>
                      <a:srgbClr val="FFFFFF"/>
                    </a:solidFill>
                  </a:tcPr>
                </a:tc>
                <a:tc>
                  <a:txBody>
                    <a:bodyPr/>
                    <a:lstStyle/>
                    <a:p>
                      <a:pPr algn="ctr"/>
                      <a:r>
                        <a:rPr sz="1300" b="0">
                          <a:solidFill>
                            <a:srgbClr val="52514E"/>
                          </a:solidFill>
                          <a:latin typeface="Calibri"/>
                        </a:rPr>
                        <a:t>0.550 ± 0.130</a:t>
                      </a:r>
                    </a:p>
                  </a:txBody>
                  <a:tcPr marL="91440" marR="91440" marT="27432" marB="27432">
                    <a:solidFill>
                      <a:srgbClr val="FFFFFF"/>
                    </a:solidFill>
                  </a:tcPr>
                </a:tc>
                <a:tc>
                  <a:txBody>
                    <a:bodyPr/>
                    <a:lstStyle/>
                    <a:p>
                      <a:pPr algn="ctr"/>
                      <a:r>
                        <a:rPr sz="1300" b="0">
                          <a:solidFill>
                            <a:srgbClr val="52514E"/>
                          </a:solidFill>
                          <a:latin typeface="Calibri"/>
                        </a:rPr>
                        <a:t>0.452 ± 0.016</a:t>
                      </a:r>
                    </a:p>
                  </a:txBody>
                  <a:tcPr marL="91440" marR="91440" marT="27432" marB="27432">
                    <a:solidFill>
                      <a:srgbClr val="FFFFFF"/>
                    </a:solidFill>
                  </a:tcPr>
                </a:tc>
                <a:tc>
                  <a:txBody>
                    <a:bodyPr/>
                    <a:lstStyle/>
                    <a:p>
                      <a:pPr algn="ctr"/>
                      <a:r>
                        <a:rPr sz="1300" b="0">
                          <a:solidFill>
                            <a:srgbClr val="52514E"/>
                          </a:solidFill>
                          <a:latin typeface="Calibri"/>
                        </a:rPr>
                        <a:t>0.416 ± 0.098</a:t>
                      </a:r>
                    </a:p>
                  </a:txBody>
                  <a:tcPr marL="91440" marR="91440" marT="27432" marB="27432">
                    <a:solidFill>
                      <a:srgbClr val="FFFFFF"/>
                    </a:solidFill>
                  </a:tcPr>
                </a:tc>
              </a:tr>
              <a:tr h="316523">
                <a:tc>
                  <a:txBody>
                    <a:bodyPr/>
                    <a:lstStyle/>
                    <a:p>
                      <a:pPr algn="l"/>
                      <a:r>
                        <a:rPr sz="1300" b="0">
                          <a:solidFill>
                            <a:srgbClr val="52514E"/>
                          </a:solidFill>
                          <a:latin typeface="Calibri"/>
                        </a:rPr>
                        <a:t>EWC (λ=100)</a:t>
                      </a:r>
                    </a:p>
                  </a:txBody>
                  <a:tcPr marL="91440" marR="91440" marT="27432" marB="27432">
                    <a:solidFill>
                      <a:srgbClr val="FFFFFF"/>
                    </a:solidFill>
                  </a:tcPr>
                </a:tc>
                <a:tc>
                  <a:txBody>
                    <a:bodyPr/>
                    <a:lstStyle/>
                    <a:p>
                      <a:pPr algn="ctr"/>
                      <a:r>
                        <a:rPr sz="1300" b="0">
                          <a:solidFill>
                            <a:srgbClr val="52514E"/>
                          </a:solidFill>
                          <a:latin typeface="Calibri"/>
                        </a:rPr>
                        <a:t>0.674 ± 0.030</a:t>
                      </a:r>
                    </a:p>
                  </a:txBody>
                  <a:tcPr marL="91440" marR="91440" marT="27432" marB="27432">
                    <a:solidFill>
                      <a:srgbClr val="FFFFFF"/>
                    </a:solidFill>
                  </a:tcPr>
                </a:tc>
                <a:tc>
                  <a:txBody>
                    <a:bodyPr/>
                    <a:lstStyle/>
                    <a:p>
                      <a:pPr algn="ctr"/>
                      <a:r>
                        <a:rPr sz="1300" b="0">
                          <a:solidFill>
                            <a:srgbClr val="52514E"/>
                          </a:solidFill>
                          <a:latin typeface="Calibri"/>
                        </a:rPr>
                        <a:t>0.716 ± 0.199</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r h="316523">
                <a:tc>
                  <a:txBody>
                    <a:bodyPr/>
                    <a:lstStyle/>
                    <a:p>
                      <a:pPr algn="l"/>
                      <a:r>
                        <a:rPr sz="1300" b="0">
                          <a:solidFill>
                            <a:srgbClr val="52514E"/>
                          </a:solidFill>
                          <a:latin typeface="Calibri"/>
                        </a:rPr>
                        <a:t>replay</a:t>
                      </a:r>
                    </a:p>
                  </a:txBody>
                  <a:tcPr marL="91440" marR="91440" marT="27432" marB="27432">
                    <a:solidFill>
                      <a:srgbClr val="FFFFFF"/>
                    </a:solidFill>
                  </a:tcPr>
                </a:tc>
                <a:tc>
                  <a:txBody>
                    <a:bodyPr/>
                    <a:lstStyle/>
                    <a:p>
                      <a:pPr algn="ctr"/>
                      <a:r>
                        <a:rPr sz="1300" b="0">
                          <a:solidFill>
                            <a:srgbClr val="52514E"/>
                          </a:solidFill>
                          <a:latin typeface="Calibri"/>
                        </a:rPr>
                        <a:t>0.970 ± 0.009</a:t>
                      </a:r>
                    </a:p>
                  </a:txBody>
                  <a:tcPr marL="91440" marR="91440" marT="27432" marB="27432">
                    <a:solidFill>
                      <a:srgbClr val="FFFFFF"/>
                    </a:solidFill>
                  </a:tcPr>
                </a:tc>
                <a:tc>
                  <a:txBody>
                    <a:bodyPr/>
                    <a:lstStyle/>
                    <a:p>
                      <a:pPr algn="ctr"/>
                      <a:r>
                        <a:rPr sz="1300" b="0">
                          <a:solidFill>
                            <a:srgbClr val="52514E"/>
                          </a:solidFill>
                          <a:latin typeface="Calibri"/>
                        </a:rPr>
                        <a:t>0.814 ± 0.162</a:t>
                      </a:r>
                    </a:p>
                  </a:txBody>
                  <a:tcPr marL="91440" marR="91440" marT="27432" marB="27432">
                    <a:solidFill>
                      <a:srgbClr val="FFFFFF"/>
                    </a:solidFill>
                  </a:tcPr>
                </a:tc>
                <a:tc>
                  <a:txBody>
                    <a:bodyPr/>
                    <a:lstStyle/>
                    <a:p>
                      <a:pPr algn="ctr"/>
                      <a:r>
                        <a:rPr sz="1300" b="0">
                          <a:solidFill>
                            <a:srgbClr val="52514E"/>
                          </a:solidFill>
                          <a:latin typeface="Calibri"/>
                        </a:rPr>
                        <a:t>0.862 ± 0.038</a:t>
                      </a:r>
                    </a:p>
                  </a:txBody>
                  <a:tcPr marL="91440" marR="91440" marT="27432" marB="27432">
                    <a:solidFill>
                      <a:srgbClr val="FFFFFF"/>
                    </a:solidFill>
                  </a:tcPr>
                </a:tc>
                <a:tc>
                  <a:txBody>
                    <a:bodyPr/>
                    <a:lstStyle/>
                    <a:p>
                      <a:pPr algn="ctr"/>
                      <a:r>
                        <a:rPr sz="1300" b="0">
                          <a:solidFill>
                            <a:srgbClr val="52514E"/>
                          </a:solidFill>
                          <a:latin typeface="Calibri"/>
                        </a:rPr>
                        <a:t>0.926 ± 0.049</a:t>
                      </a:r>
                    </a:p>
                  </a:txBody>
                  <a:tcPr marL="91440" marR="91440" marT="27432" marB="27432">
                    <a:solidFill>
                      <a:srgbClr val="FFFFFF"/>
                    </a:solidFill>
                  </a:tcPr>
                </a:tc>
              </a:tr>
              <a:tr h="316523">
                <a:tc>
                  <a:txBody>
                    <a:bodyPr/>
                    <a:lstStyle/>
                    <a:p>
                      <a:pPr algn="l"/>
                      <a:r>
                        <a:rPr sz="1300" b="0">
                          <a:solidFill>
                            <a:srgbClr val="52514E"/>
                          </a:solidFill>
                          <a:latin typeface="Calibri"/>
                        </a:rPr>
                        <a:t>sleep</a:t>
                      </a:r>
                    </a:p>
                  </a:txBody>
                  <a:tcPr marL="91440" marR="91440" marT="27432" marB="27432">
                    <a:solidFill>
                      <a:srgbClr val="FFFFFF"/>
                    </a:solidFill>
                  </a:tcPr>
                </a:tc>
                <a:tc>
                  <a:txBody>
                    <a:bodyPr/>
                    <a:lstStyle/>
                    <a:p>
                      <a:pPr algn="ctr"/>
                      <a:r>
                        <a:rPr sz="1300" b="0">
                          <a:solidFill>
                            <a:srgbClr val="52514E"/>
                          </a:solidFill>
                          <a:latin typeface="Calibri"/>
                        </a:rPr>
                        <a:t>0.978 ± 0.001</a:t>
                      </a:r>
                    </a:p>
                  </a:txBody>
                  <a:tcPr marL="91440" marR="91440" marT="27432" marB="27432">
                    <a:solidFill>
                      <a:srgbClr val="FFFFFF"/>
                    </a:solidFill>
                  </a:tcPr>
                </a:tc>
                <a:tc>
                  <a:txBody>
                    <a:bodyPr/>
                    <a:lstStyle/>
                    <a:p>
                      <a:pPr algn="ctr"/>
                      <a:r>
                        <a:rPr sz="1300" b="0">
                          <a:solidFill>
                            <a:srgbClr val="52514E"/>
                          </a:solidFill>
                          <a:latin typeface="Calibri"/>
                        </a:rPr>
                        <a:t>0.889 ± 0.003</a:t>
                      </a:r>
                    </a:p>
                  </a:txBody>
                  <a:tcPr marL="91440" marR="91440" marT="27432" marB="27432">
                    <a:solidFill>
                      <a:srgbClr val="FFFFFF"/>
                    </a:solidFill>
                  </a:tcPr>
                </a:tc>
                <a:tc>
                  <a:txBody>
                    <a:bodyPr/>
                    <a:lstStyle/>
                    <a:p>
                      <a:pPr algn="ctr"/>
                      <a:r>
                        <a:rPr sz="1300" b="0">
                          <a:solidFill>
                            <a:srgbClr val="52514E"/>
                          </a:solidFill>
                          <a:latin typeface="Calibri"/>
                        </a:rPr>
                        <a:t>0.887 ± 0.045</a:t>
                      </a:r>
                    </a:p>
                  </a:txBody>
                  <a:tcPr marL="91440" marR="91440" marT="27432" marB="27432">
                    <a:solidFill>
                      <a:srgbClr val="FFFFFF"/>
                    </a:solidFill>
                  </a:tcPr>
                </a:tc>
                <a:tc>
                  <a:txBody>
                    <a:bodyPr/>
                    <a:lstStyle/>
                    <a:p>
                      <a:pPr algn="ctr"/>
                      <a:r>
                        <a:rPr sz="1300" b="0">
                          <a:solidFill>
                            <a:srgbClr val="52514E"/>
                          </a:solidFill>
                          <a:latin typeface="Calibri"/>
                        </a:rPr>
                        <a:t>0.928 ± 0.065</a:t>
                      </a:r>
                    </a:p>
                  </a:txBody>
                  <a:tcPr marL="91440" marR="91440" marT="27432" marB="27432">
                    <a:solidFill>
                      <a:srgbClr val="FFFFFF"/>
                    </a:solidFill>
                  </a:tcPr>
                </a:tc>
              </a:tr>
              <a:tr h="316523">
                <a:tc>
                  <a:txBody>
                    <a:bodyPr/>
                    <a:lstStyle/>
                    <a:p>
                      <a:pPr algn="l"/>
                      <a:r>
                        <a:rPr sz="1300" b="0">
                          <a:solidFill>
                            <a:srgbClr val="52514E"/>
                          </a:solidFill>
                          <a:latin typeface="Calibri"/>
                        </a:rPr>
                        <a:t>sleep, matched</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0.879 ± 0.043</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r h="316523">
                <a:tc>
                  <a:txBody>
                    <a:bodyPr/>
                    <a:lstStyle/>
                    <a:p>
                      <a:pPr algn="l"/>
                      <a:r>
                        <a:rPr sz="1300" b="0">
                          <a:solidFill>
                            <a:srgbClr val="52514E"/>
                          </a:solidFill>
                          <a:latin typeface="Calibri"/>
                        </a:rPr>
                        <a:t>isolation</a:t>
                      </a:r>
                    </a:p>
                  </a:txBody>
                  <a:tcPr marL="91440" marR="91440" marT="27432" marB="27432">
                    <a:solidFill>
                      <a:srgbClr val="FFFFFF"/>
                    </a:solidFill>
                  </a:tcPr>
                </a:tc>
                <a:tc>
                  <a:txBody>
                    <a:bodyPr/>
                    <a:lstStyle/>
                    <a:p>
                      <a:pPr algn="ctr"/>
                      <a:r>
                        <a:rPr sz="1300" b="0">
                          <a:solidFill>
                            <a:srgbClr val="52514E"/>
                          </a:solidFill>
                          <a:latin typeface="Calibri"/>
                        </a:rPr>
                        <a:t>0.979 ± 0.001</a:t>
                      </a:r>
                    </a:p>
                  </a:txBody>
                  <a:tcPr marL="91440" marR="91440" marT="27432" marB="27432">
                    <a:solidFill>
                      <a:srgbClr val="FFFFFF"/>
                    </a:solidFill>
                  </a:tcPr>
                </a:tc>
                <a:tc>
                  <a:txBody>
                    <a:bodyPr/>
                    <a:lstStyle/>
                    <a:p>
                      <a:pPr algn="ctr"/>
                      <a:r>
                        <a:rPr sz="1300" b="0">
                          <a:solidFill>
                            <a:srgbClr val="52514E"/>
                          </a:solidFill>
                          <a:latin typeface="Calibri"/>
                        </a:rPr>
                        <a:t>0.833 ± 0.073</a:t>
                      </a:r>
                    </a:p>
                  </a:txBody>
                  <a:tcPr marL="91440" marR="91440" marT="27432" marB="27432">
                    <a:solidFill>
                      <a:srgbClr val="FFFFFF"/>
                    </a:solidFill>
                  </a:tcPr>
                </a:tc>
                <a:tc>
                  <a:txBody>
                    <a:bodyPr/>
                    <a:lstStyle/>
                    <a:p>
                      <a:pPr algn="ctr"/>
                      <a:r>
                        <a:rPr sz="1300" b="0">
                          <a:solidFill>
                            <a:srgbClr val="52514E"/>
                          </a:solidFill>
                          <a:latin typeface="Calibri"/>
                        </a:rPr>
                        <a:t>0.832 ± 0.037</a:t>
                      </a:r>
                    </a:p>
                  </a:txBody>
                  <a:tcPr marL="91440" marR="91440" marT="27432" marB="27432">
                    <a:solidFill>
                      <a:srgbClr val="FFFFFF"/>
                    </a:solidFill>
                  </a:tcPr>
                </a:tc>
                <a:tc>
                  <a:txBody>
                    <a:bodyPr/>
                    <a:lstStyle/>
                    <a:p>
                      <a:pPr algn="ctr"/>
                      <a:r>
                        <a:rPr sz="1300" b="0">
                          <a:solidFill>
                            <a:srgbClr val="52514E"/>
                          </a:solidFill>
                          <a:latin typeface="Calibri"/>
                        </a:rPr>
                        <a:t>0.976 ± 0.000</a:t>
                      </a:r>
                    </a:p>
                  </a:txBody>
                  <a:tcPr marL="91440" marR="91440" marT="27432" marB="27432">
                    <a:solidFill>
                      <a:srgbClr val="FFFFFF"/>
                    </a:solidFill>
                  </a:tcPr>
                </a:tc>
              </a:tr>
              <a:tr h="316523">
                <a:tc>
                  <a:txBody>
                    <a:bodyPr/>
                    <a:lstStyle/>
                    <a:p>
                      <a:pPr algn="l"/>
                      <a:r>
                        <a:rPr sz="1300" b="1">
                          <a:solidFill>
                            <a:srgbClr val="151514"/>
                          </a:solidFill>
                          <a:latin typeface="Calibri"/>
                        </a:rPr>
                        <a:t>FORGET (mean)</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r>
              <a:tr h="316523">
                <a:tc>
                  <a:txBody>
                    <a:bodyPr/>
                    <a:lstStyle/>
                    <a:p>
                      <a:pPr algn="l"/>
                      <a:r>
                        <a:rPr sz="1300" b="0">
                          <a:solidFill>
                            <a:srgbClr val="52514E"/>
                          </a:solidFill>
                          <a:latin typeface="Calibri"/>
                        </a:rPr>
                        <a:t>naive</a:t>
                      </a:r>
                    </a:p>
                  </a:txBody>
                  <a:tcPr marL="91440" marR="91440" marT="27432" marB="27432">
                    <a:solidFill>
                      <a:srgbClr val="FFFFFF"/>
                    </a:solidFill>
                  </a:tcPr>
                </a:tc>
                <a:tc>
                  <a:txBody>
                    <a:bodyPr/>
                    <a:lstStyle/>
                    <a:p>
                      <a:pPr algn="ctr"/>
                      <a:r>
                        <a:rPr sz="1300" b="0">
                          <a:solidFill>
                            <a:srgbClr val="52514E"/>
                          </a:solidFill>
                          <a:latin typeface="Calibri"/>
                        </a:rPr>
                        <a:t>0.631</a:t>
                      </a:r>
                    </a:p>
                  </a:txBody>
                  <a:tcPr marL="91440" marR="91440" marT="27432" marB="27432">
                    <a:solidFill>
                      <a:srgbClr val="FFFFFF"/>
                    </a:solidFill>
                  </a:tcPr>
                </a:tc>
                <a:tc>
                  <a:txBody>
                    <a:bodyPr/>
                    <a:lstStyle/>
                    <a:p>
                      <a:pPr algn="ctr"/>
                      <a:r>
                        <a:rPr sz="1300" b="0">
                          <a:solidFill>
                            <a:srgbClr val="52514E"/>
                          </a:solidFill>
                          <a:latin typeface="Calibri"/>
                        </a:rPr>
                        <a:t>0.321</a:t>
                      </a:r>
                    </a:p>
                  </a:txBody>
                  <a:tcPr marL="91440" marR="91440" marT="27432" marB="27432">
                    <a:solidFill>
                      <a:srgbClr val="FFFFFF"/>
                    </a:solidFill>
                  </a:tcPr>
                </a:tc>
                <a:tc>
                  <a:txBody>
                    <a:bodyPr/>
                    <a:lstStyle/>
                    <a:p>
                      <a:pPr algn="ctr"/>
                      <a:r>
                        <a:rPr sz="1300" b="0">
                          <a:solidFill>
                            <a:srgbClr val="52514E"/>
                          </a:solidFill>
                          <a:latin typeface="Calibri"/>
                        </a:rPr>
                        <a:t>0.536</a:t>
                      </a:r>
                    </a:p>
                  </a:txBody>
                  <a:tcPr marL="91440" marR="91440" marT="27432" marB="27432">
                    <a:solidFill>
                      <a:srgbClr val="FFFFFF"/>
                    </a:solidFill>
                  </a:tcPr>
                </a:tc>
                <a:tc>
                  <a:txBody>
                    <a:bodyPr/>
                    <a:lstStyle/>
                    <a:p>
                      <a:pPr algn="ctr"/>
                      <a:r>
                        <a:rPr sz="1300" b="0">
                          <a:solidFill>
                            <a:srgbClr val="52514E"/>
                          </a:solidFill>
                          <a:latin typeface="Calibri"/>
                        </a:rPr>
                        <a:t>0.612</a:t>
                      </a:r>
                    </a:p>
                  </a:txBody>
                  <a:tcPr marL="91440" marR="91440" marT="27432" marB="27432">
                    <a:solidFill>
                      <a:srgbClr val="FFFFFF"/>
                    </a:solidFill>
                  </a:tcPr>
                </a:tc>
              </a:tr>
              <a:tr h="316523">
                <a:tc>
                  <a:txBody>
                    <a:bodyPr/>
                    <a:lstStyle/>
                    <a:p>
                      <a:pPr algn="l"/>
                      <a:r>
                        <a:rPr sz="1300" b="0">
                          <a:solidFill>
                            <a:srgbClr val="52514E"/>
                          </a:solidFill>
                          <a:latin typeface="Calibri"/>
                        </a:rPr>
                        <a:t>replay</a:t>
                      </a:r>
                    </a:p>
                  </a:txBody>
                  <a:tcPr marL="91440" marR="91440" marT="27432" marB="27432">
                    <a:solidFill>
                      <a:srgbClr val="FFFFFF"/>
                    </a:solidFill>
                  </a:tcPr>
                </a:tc>
                <a:tc>
                  <a:txBody>
                    <a:bodyPr/>
                    <a:lstStyle/>
                    <a:p>
                      <a:pPr algn="ctr"/>
                      <a:r>
                        <a:rPr sz="1300" b="0">
                          <a:solidFill>
                            <a:srgbClr val="52514E"/>
                          </a:solidFill>
                          <a:latin typeface="Calibri"/>
                        </a:rPr>
                        <a:t>0.002</a:t>
                      </a:r>
                    </a:p>
                  </a:txBody>
                  <a:tcPr marL="91440" marR="91440" marT="27432" marB="27432">
                    <a:solidFill>
                      <a:srgbClr val="FFFFFF"/>
                    </a:solidFill>
                  </a:tcPr>
                </a:tc>
                <a:tc>
                  <a:txBody>
                    <a:bodyPr/>
                    <a:lstStyle/>
                    <a:p>
                      <a:pPr algn="ctr"/>
                      <a:r>
                        <a:rPr sz="1300" b="0">
                          <a:solidFill>
                            <a:srgbClr val="52514E"/>
                          </a:solidFill>
                          <a:latin typeface="Calibri"/>
                        </a:rPr>
                        <a:t>0.023</a:t>
                      </a:r>
                    </a:p>
                  </a:txBody>
                  <a:tcPr marL="91440" marR="91440" marT="27432" marB="27432">
                    <a:solidFill>
                      <a:srgbClr val="FFFFFF"/>
                    </a:solidFill>
                  </a:tcPr>
                </a:tc>
                <a:tc>
                  <a:txBody>
                    <a:bodyPr/>
                    <a:lstStyle/>
                    <a:p>
                      <a:pPr algn="ctr"/>
                      <a:r>
                        <a:rPr sz="1300" b="0">
                          <a:solidFill>
                            <a:srgbClr val="52514E"/>
                          </a:solidFill>
                          <a:latin typeface="Calibri"/>
                        </a:rPr>
                        <a:t>0.019</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r>
              <a:tr h="316523">
                <a:tc>
                  <a:txBody>
                    <a:bodyPr/>
                    <a:lstStyle/>
                    <a:p>
                      <a:pPr algn="l"/>
                      <a:r>
                        <a:rPr sz="1300" b="0">
                          <a:solidFill>
                            <a:srgbClr val="52514E"/>
                          </a:solidFill>
                          <a:latin typeface="Calibri"/>
                        </a:rPr>
                        <a:t>sleep</a:t>
                      </a:r>
                    </a:p>
                  </a:txBody>
                  <a:tcPr marL="91440" marR="91440" marT="27432" marB="27432">
                    <a:solidFill>
                      <a:srgbClr val="FFFFFF"/>
                    </a:solidFill>
                  </a:tcPr>
                </a:tc>
                <a:tc>
                  <a:txBody>
                    <a:bodyPr/>
                    <a:lstStyle/>
                    <a:p>
                      <a:pPr algn="ctr"/>
                      <a:r>
                        <a:rPr sz="1300" b="0">
                          <a:solidFill>
                            <a:srgbClr val="52514E"/>
                          </a:solidFill>
                          <a:latin typeface="Calibri"/>
                        </a:rPr>
                        <a:t>0.001</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c>
                  <a:txBody>
                    <a:bodyPr/>
                    <a:lstStyle/>
                    <a:p>
                      <a:pPr algn="ctr"/>
                      <a:r>
                        <a:rPr sz="1300" b="0">
                          <a:solidFill>
                            <a:srgbClr val="52514E"/>
                          </a:solidFill>
                          <a:latin typeface="Calibri"/>
                        </a:rPr>
                        <a:t>0.003</a:t>
                      </a:r>
                    </a:p>
                  </a:txBody>
                  <a:tcPr marL="91440" marR="91440" marT="27432" marB="27432">
                    <a:solidFill>
                      <a:srgbClr val="FFFFFF"/>
                    </a:solidFill>
                  </a:tcPr>
                </a:tc>
              </a:tr>
              <a:tr h="316524">
                <a:tc>
                  <a:txBody>
                    <a:bodyPr/>
                    <a:lstStyle/>
                    <a:p>
                      <a:pPr algn="l"/>
                      <a:r>
                        <a:rPr sz="1300" b="0">
                          <a:solidFill>
                            <a:srgbClr val="52514E"/>
                          </a:solidFill>
                          <a:latin typeface="Calibri"/>
                        </a:rPr>
                        <a:t>sleep, matched</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0.020</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bl>
          </a:graphicData>
        </a:graphic>
      </p:graphicFrame>
      <p:sp>
        <p:nvSpPr>
          <p:cNvPr id="5" name="TextBox 4"/>
          <p:cNvSpPr txBox="1"/>
          <p:nvPr/>
        </p:nvSpPr>
        <p:spPr>
          <a:xfrm>
            <a:off x="548640" y="6035040"/>
            <a:ext cx="11094415" cy="365760"/>
          </a:xfrm>
          <a:prstGeom prst="rect">
            <a:avLst/>
          </a:prstGeom>
          <a:noFill/>
        </p:spPr>
        <p:txBody>
          <a:bodyPr wrap="square" anchor="t" lIns="0" rIns="0" tIns="0" bIns="0">
            <a:spAutoFit/>
          </a:bodyPr>
          <a:lstStyle/>
          <a:p>
            <a:pPr algn="l"/>
            <a:r>
              <a:rPr sz="1200" b="0" i="0">
                <a:solidFill>
                  <a:srgbClr val="85837D"/>
                </a:solidFill>
                <a:latin typeface="Calibri"/>
              </a:rPr>
              <a:t>Seeds: 3 per arm, except SNN+Transformer (replay 8, sleep 6, sleep matched 8). Paper Table 3.</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B1 /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prospectively specified local-plasticity contrasts</a:t>
            </a:r>
          </a:p>
        </p:txBody>
      </p:sp>
      <p:graphicFrame>
        <p:nvGraphicFramePr>
          <p:cNvPr id="4" name="Table 3"/>
          <p:cNvGraphicFramePr>
            <a:graphicFrameLocks noGrp="1"/>
          </p:cNvGraphicFramePr>
          <p:nvPr/>
        </p:nvGraphicFramePr>
        <p:xfrm>
          <a:off x="548640" y="1828800"/>
          <a:ext cx="11094415" cy="3017520"/>
        </p:xfrm>
        <a:graphic>
          <a:graphicData uri="http://schemas.openxmlformats.org/drawingml/2006/table">
            <a:tbl>
              <a:tblPr firstRow="1" bandRow="1">
                <a:tableStyleId>{5C22544A-7EE6-4342-B048-85BDC9FD1C3A}</a:tableStyleId>
              </a:tblPr>
              <a:tblGrid>
                <a:gridCol w="3108960"/>
                <a:gridCol w="2194560"/>
                <a:gridCol w="1737360"/>
                <a:gridCol w="2194560"/>
                <a:gridCol w="1858975"/>
              </a:tblGrid>
              <a:tr h="502920">
                <a:tc>
                  <a:txBody>
                    <a:bodyPr/>
                    <a:lstStyle/>
                    <a:p>
                      <a:pPr algn="l"/>
                      <a:r>
                        <a:rPr sz="1300" b="1">
                          <a:solidFill>
                            <a:srgbClr val="151514"/>
                          </a:solidFill>
                          <a:latin typeface="Calibri"/>
                        </a:rPr>
                        <a:t>Contrast</a:t>
                      </a:r>
                    </a:p>
                  </a:txBody>
                  <a:tcPr>
                    <a:solidFill>
                      <a:srgbClr val="EBEAE4"/>
                    </a:solidFill>
                  </a:tcPr>
                </a:tc>
                <a:tc>
                  <a:txBody>
                    <a:bodyPr/>
                    <a:lstStyle/>
                    <a:p>
                      <a:pPr algn="ctr"/>
                      <a:r>
                        <a:rPr sz="1300" b="1">
                          <a:solidFill>
                            <a:srgbClr val="151514"/>
                          </a:solidFill>
                          <a:latin typeface="Calibri"/>
                        </a:rPr>
                        <a:t>Δ solve rate [95% CI]</a:t>
                      </a:r>
                    </a:p>
                  </a:txBody>
                  <a:tcPr>
                    <a:solidFill>
                      <a:srgbClr val="EBEAE4"/>
                    </a:solidFill>
                  </a:tcPr>
                </a:tc>
                <a:tc>
                  <a:txBody>
                    <a:bodyPr/>
                    <a:lstStyle/>
                    <a:p>
                      <a:pPr algn="ctr"/>
                      <a:r>
                        <a:rPr sz="1300" b="1">
                          <a:solidFill>
                            <a:srgbClr val="151514"/>
                          </a:solidFill>
                          <a:latin typeface="Calibri"/>
                        </a:rPr>
                        <a:t>Fisher p (Holm)</a:t>
                      </a:r>
                    </a:p>
                  </a:txBody>
                  <a:tcPr>
                    <a:solidFill>
                      <a:srgbClr val="EBEAE4"/>
                    </a:solidFill>
                  </a:tcPr>
                </a:tc>
                <a:tc>
                  <a:txBody>
                    <a:bodyPr/>
                    <a:lstStyle/>
                    <a:p>
                      <a:pPr algn="ctr"/>
                      <a:r>
                        <a:rPr sz="1300" b="1">
                          <a:solidFill>
                            <a:srgbClr val="151514"/>
                          </a:solidFill>
                          <a:latin typeface="Calibri"/>
                        </a:rPr>
                        <a:t>Δ AUC [95% CI]</a:t>
                      </a:r>
                    </a:p>
                  </a:txBody>
                  <a:tcPr>
                    <a:solidFill>
                      <a:srgbClr val="EBEAE4"/>
                    </a:solidFill>
                  </a:tcPr>
                </a:tc>
                <a:tc>
                  <a:txBody>
                    <a:bodyPr/>
                    <a:lstStyle/>
                    <a:p>
                      <a:pPr algn="ctr"/>
                      <a:r>
                        <a:rPr sz="1300" b="1">
                          <a:solidFill>
                            <a:srgbClr val="151514"/>
                          </a:solidFill>
                          <a:latin typeface="Calibri"/>
                        </a:rPr>
                        <a:t>Welch p (Holm)</a:t>
                      </a:r>
                    </a:p>
                  </a:txBody>
                  <a:tcPr>
                    <a:solidFill>
                      <a:srgbClr val="EBEAE4"/>
                    </a:solidFill>
                  </a:tcPr>
                </a:tc>
              </a:tr>
              <a:tr h="502920">
                <a:tc>
                  <a:txBody>
                    <a:bodyPr/>
                    <a:lstStyle/>
                    <a:p>
                      <a:pPr algn="l"/>
                      <a:r>
                        <a:rPr sz="1300" b="0">
                          <a:solidFill>
                            <a:srgbClr val="52514E"/>
                          </a:solidFill>
                          <a:latin typeface="Calibri"/>
                        </a:rPr>
                        <a:t>STDP vs homeostasis alone</a:t>
                      </a:r>
                    </a:p>
                  </a:txBody>
                  <a:tcPr>
                    <a:solidFill>
                      <a:srgbClr val="FFFFFF"/>
                    </a:solidFill>
                  </a:tcPr>
                </a:tc>
                <a:tc>
                  <a:txBody>
                    <a:bodyPr/>
                    <a:lstStyle/>
                    <a:p>
                      <a:pPr algn="ctr"/>
                      <a:r>
                        <a:rPr sz="1300" b="0">
                          <a:solidFill>
                            <a:srgbClr val="52514E"/>
                          </a:solidFill>
                          <a:latin typeface="Calibri"/>
                        </a:rPr>
                        <a:t>−0.20 [−0.51, +0.11]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−0.101 [−0.323, +0.121]</a:t>
                      </a:r>
                    </a:p>
                  </a:txBody>
                  <a:tcPr>
                    <a:solidFill>
                      <a:srgbClr val="FFFFFF"/>
                    </a:solidFill>
                  </a:tcPr>
                </a:tc>
                <a:tc>
                  <a:txBody>
                    <a:bodyPr/>
                    <a:lstStyle/>
                    <a:p>
                      <a:pPr algn="ctr"/>
                      <a:r>
                        <a:rPr sz="1300" b="0">
                          <a:solidFill>
                            <a:srgbClr val="52514E"/>
                          </a:solidFill>
                          <a:latin typeface="Calibri"/>
                        </a:rPr>
                        <a:t>0.338 (0.724)</a:t>
                      </a:r>
                    </a:p>
                  </a:txBody>
                  <a:tcPr>
                    <a:solidFill>
                      <a:srgbClr val="FFFFFF"/>
                    </a:solidFill>
                  </a:tcPr>
                </a:tc>
              </a:tr>
              <a:tr h="502920">
                <a:tc>
                  <a:txBody>
                    <a:bodyPr/>
                    <a:lstStyle/>
                    <a:p>
                      <a:pPr algn="l"/>
                      <a:r>
                        <a:rPr sz="1300" b="0">
                          <a:solidFill>
                            <a:srgbClr val="52514E"/>
                          </a:solidFill>
                          <a:latin typeface="Calibri"/>
                        </a:rPr>
                        <a:t>STDP vs matched random</a:t>
                      </a:r>
                    </a:p>
                  </a:txBody>
                  <a:tcPr>
                    <a:solidFill>
                      <a:srgbClr val="FFFFFF"/>
                    </a:solidFill>
                  </a:tcPr>
                </a:tc>
                <a:tc>
                  <a:txBody>
                    <a:bodyPr/>
                    <a:lstStyle/>
                    <a:p>
                      <a:pPr algn="ctr"/>
                      <a:r>
                        <a:rPr sz="1300" b="0">
                          <a:solidFill>
                            <a:srgbClr val="52514E"/>
                          </a:solidFill>
                          <a:latin typeface="Calibri"/>
                        </a:rPr>
                        <a:t>+0.00 [−0.34, +0.34]</a:t>
                      </a:r>
                    </a:p>
                  </a:txBody>
                  <a:tcPr>
                    <a:solidFill>
                      <a:srgbClr val="FFFFFF"/>
                    </a:solidFill>
                  </a:tcPr>
                </a:tc>
                <a:tc>
                  <a:txBody>
                    <a:bodyPr/>
                    <a:lstStyle/>
                    <a:p>
                      <a:pPr algn="ctr"/>
                      <a:r>
                        <a:rPr sz="1300" b="0">
                          <a:solidFill>
                            <a:srgbClr val="52514E"/>
                          </a:solidFill>
                          <a:latin typeface="Calibri"/>
                        </a:rPr>
                        <a:t>1.000 (1.000)</a:t>
                      </a:r>
                    </a:p>
                  </a:txBody>
                  <a:tcPr>
                    <a:solidFill>
                      <a:srgbClr val="FFFFFF"/>
                    </a:solidFill>
                  </a:tcPr>
                </a:tc>
                <a:tc>
                  <a:txBody>
                    <a:bodyPr/>
                    <a:lstStyle/>
                    <a:p>
                      <a:pPr algn="ctr"/>
                      <a:r>
                        <a:rPr sz="1300" b="0">
                          <a:solidFill>
                            <a:srgbClr val="52514E"/>
                          </a:solidFill>
                          <a:latin typeface="Calibri"/>
                        </a:rPr>
                        <a:t>+0.033 [−0.260, +0.326]</a:t>
                      </a:r>
                    </a:p>
                  </a:txBody>
                  <a:tcPr>
                    <a:solidFill>
                      <a:srgbClr val="FFFFFF"/>
                    </a:solidFill>
                  </a:tcPr>
                </a:tc>
                <a:tc>
                  <a:txBody>
                    <a:bodyPr/>
                    <a:lstStyle/>
                    <a:p>
                      <a:pPr algn="ctr"/>
                      <a:r>
                        <a:rPr sz="1300" b="0">
                          <a:solidFill>
                            <a:srgbClr val="52514E"/>
                          </a:solidFill>
                          <a:latin typeface="Calibri"/>
                        </a:rPr>
                        <a:t>0.818 (0.818)</a:t>
                      </a:r>
                    </a:p>
                  </a:txBody>
                  <a:tcPr>
                    <a:solidFill>
                      <a:srgbClr val="FFFFFF"/>
                    </a:solidFill>
                  </a:tcPr>
                </a:tc>
              </a:tr>
              <a:tr h="502920">
                <a:tc>
                  <a:txBody>
                    <a:bodyPr/>
                    <a:lstStyle/>
                    <a:p>
                      <a:pPr algn="l"/>
                      <a:r>
                        <a:rPr sz="1300" b="0">
                          <a:solidFill>
                            <a:srgbClr val="52514E"/>
                          </a:solidFill>
                          <a:latin typeface="Calibri"/>
                        </a:rPr>
                        <a:t>homeostasis vs backprop</a:t>
                      </a:r>
                    </a:p>
                  </a:txBody>
                  <a:tcPr>
                    <a:solidFill>
                      <a:srgbClr val="FFFFFF"/>
                    </a:solidFill>
                  </a:tcPr>
                </a:tc>
                <a:tc>
                  <a:txBody>
                    <a:bodyPr/>
                    <a:lstStyle/>
                    <a:p>
                      <a:pPr algn="ctr"/>
                      <a:r>
                        <a:rPr sz="1300" b="0">
                          <a:solidFill>
                            <a:srgbClr val="52514E"/>
                          </a:solidFill>
                          <a:latin typeface="Calibri"/>
                        </a:rPr>
                        <a:t>+0.20 [−0.11, +0.51]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+0.200 [+0.024, +0.377]</a:t>
                      </a:r>
                    </a:p>
                  </a:txBody>
                  <a:tcPr>
                    <a:solidFill>
                      <a:srgbClr val="FFFFFF"/>
                    </a:solidFill>
                  </a:tcPr>
                </a:tc>
                <a:tc>
                  <a:txBody>
                    <a:bodyPr/>
                    <a:lstStyle/>
                    <a:p>
                      <a:pPr algn="ctr"/>
                      <a:r>
                        <a:rPr sz="1300" b="0">
                          <a:solidFill>
                            <a:srgbClr val="52514E"/>
                          </a:solidFill>
                          <a:latin typeface="Calibri"/>
                        </a:rPr>
                        <a:t>0.029 (0.117)</a:t>
                      </a:r>
                    </a:p>
                  </a:txBody>
                  <a:tcPr>
                    <a:solidFill>
                      <a:srgbClr val="FFFFFF"/>
                    </a:solidFill>
                  </a:tcPr>
                </a:tc>
              </a:tr>
              <a:tr h="502920">
                <a:tc>
                  <a:txBody>
                    <a:bodyPr/>
                    <a:lstStyle/>
                    <a:p>
                      <a:pPr algn="l"/>
                      <a:r>
                        <a:rPr sz="1300" b="0">
                          <a:solidFill>
                            <a:srgbClr val="52514E"/>
                          </a:solidFill>
                          <a:latin typeface="Calibri"/>
                        </a:rPr>
                        <a:t>random vs homeostasis</a:t>
                      </a:r>
                    </a:p>
                  </a:txBody>
                  <a:tcPr>
                    <a:solidFill>
                      <a:srgbClr val="FFFFFF"/>
                    </a:solidFill>
                  </a:tcPr>
                </a:tc>
                <a:tc>
                  <a:txBody>
                    <a:bodyPr/>
                    <a:lstStyle/>
                    <a:p>
                      <a:pPr algn="ctr"/>
                      <a:r>
                        <a:rPr sz="1300" b="0">
                          <a:solidFill>
                            <a:srgbClr val="52514E"/>
                          </a:solidFill>
                          <a:latin typeface="Calibri"/>
                        </a:rPr>
                        <a:t>−0.20 [−0.51, +0.11]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−0.134 [−0.372, +0.104]</a:t>
                      </a:r>
                    </a:p>
                  </a:txBody>
                  <a:tcPr>
                    <a:solidFill>
                      <a:srgbClr val="FFFFFF"/>
                    </a:solidFill>
                  </a:tcPr>
                </a:tc>
                <a:tc>
                  <a:txBody>
                    <a:bodyPr/>
                    <a:lstStyle/>
                    <a:p>
                      <a:pPr algn="ctr"/>
                      <a:r>
                        <a:rPr sz="1300" b="0">
                          <a:solidFill>
                            <a:srgbClr val="52514E"/>
                          </a:solidFill>
                          <a:latin typeface="Calibri"/>
                        </a:rPr>
                        <a:t>0.241 (0.724)</a:t>
                      </a:r>
                    </a:p>
                  </a:txBody>
                  <a:tcPr>
                    <a:solidFill>
                      <a:srgbClr val="FFFFFF"/>
                    </a:solidFill>
                  </a:tcPr>
                </a:tc>
              </a:tr>
              <a:tr h="502920">
                <a:tc>
                  <a:txBody>
                    <a:bodyPr/>
                    <a:lstStyle/>
                    <a:p>
                      <a:pPr algn="l"/>
                      <a:r>
                        <a:rPr sz="1300" b="0">
                          <a:solidFill>
                            <a:srgbClr val="52514E"/>
                          </a:solidFill>
                          <a:latin typeface="Calibri"/>
                        </a:rPr>
                        <a:t>DFA + homeostasis vs DFA</a:t>
                      </a:r>
                    </a:p>
                  </a:txBody>
                  <a:tcPr>
                    <a:solidFill>
                      <a:srgbClr val="F4F4F1"/>
                    </a:solidFill>
                  </a:tcPr>
                </a:tc>
                <a:tc>
                  <a:txBody>
                    <a:bodyPr/>
                    <a:lstStyle/>
                    <a:p>
                      <a:pPr algn="ctr"/>
                      <a:r>
                        <a:rPr sz="1300" b="0">
                          <a:solidFill>
                            <a:srgbClr val="52514E"/>
                          </a:solidFill>
                          <a:latin typeface="Calibri"/>
                        </a:rPr>
                        <a:t>+0.50 [+0.07, +0.74]</a:t>
                      </a:r>
                    </a:p>
                  </a:txBody>
                  <a:tcPr>
                    <a:solidFill>
                      <a:srgbClr val="F4F4F1"/>
                    </a:solidFill>
                  </a:tcPr>
                </a:tc>
                <a:tc>
                  <a:txBody>
                    <a:bodyPr/>
                    <a:lstStyle/>
                    <a:p>
                      <a:pPr algn="ctr"/>
                      <a:r>
                        <a:rPr sz="1300" b="0">
                          <a:solidFill>
                            <a:srgbClr val="52514E"/>
                          </a:solidFill>
                          <a:latin typeface="Calibri"/>
                        </a:rPr>
                        <a:t>0.070 (0.070)</a:t>
                      </a:r>
                    </a:p>
                  </a:txBody>
                  <a:tcPr>
                    <a:solidFill>
                      <a:srgbClr val="F4F4F1"/>
                    </a:solidFill>
                  </a:tcPr>
                </a:tc>
                <a:tc>
                  <a:txBody>
                    <a:bodyPr/>
                    <a:lstStyle/>
                    <a:p>
                      <a:pPr algn="ctr"/>
                      <a:r>
                        <a:rPr sz="1300" b="0">
                          <a:solidFill>
                            <a:srgbClr val="52514E"/>
                          </a:solidFill>
                          <a:latin typeface="Calibri"/>
                        </a:rPr>
                        <a:t>+0.326 [+0.101, +0.551]</a:t>
                      </a:r>
                    </a:p>
                  </a:txBody>
                  <a:tcPr>
                    <a:solidFill>
                      <a:srgbClr val="F4F4F1"/>
                    </a:solidFill>
                  </a:tcPr>
                </a:tc>
                <a:tc>
                  <a:txBody>
                    <a:bodyPr/>
                    <a:lstStyle/>
                    <a:p>
                      <a:pPr algn="ctr"/>
                      <a:r>
                        <a:rPr sz="1300" b="0">
                          <a:solidFill>
                            <a:srgbClr val="52514E"/>
                          </a:solidFill>
                          <a:latin typeface="Calibri"/>
                        </a:rPr>
                        <a:t>0.009 (0.017)</a:t>
                      </a:r>
                    </a:p>
                  </a:txBody>
                  <a:tcPr>
                    <a:solidFill>
                      <a:srgbClr val="F4F4F1"/>
                    </a:solidFill>
                  </a:tcPr>
                </a:tc>
              </a:tr>
            </a:tbl>
          </a:graphicData>
        </a:graphic>
      </p:graphicFrame>
      <p:sp>
        <p:nvSpPr>
          <p:cNvPr id="5" name="TextBox 4"/>
          <p:cNvSpPr txBox="1"/>
          <p:nvPr/>
        </p:nvSpPr>
        <p:spPr>
          <a:xfrm>
            <a:off x="548640" y="5074920"/>
            <a:ext cx="11094415" cy="731520"/>
          </a:xfrm>
          <a:prstGeom prst="rect">
            <a:avLst/>
          </a:prstGeom>
          <a:noFill/>
        </p:spPr>
        <p:txBody>
          <a:bodyPr wrap="square" anchor="t" lIns="0" rIns="0" tIns="0" bIns="0">
            <a:spAutoFit/>
          </a:bodyPr>
          <a:lstStyle/>
          <a:p>
            <a:pPr algn="l"/>
            <a:r>
              <a:rPr sz="1200" b="0" i="0">
                <a:solidFill>
                  <a:srgbClr val="85837D"/>
                </a:solidFill>
                <a:latin typeface="Calibri"/>
              </a:rPr>
              <a:t>DoorKey-6x6, 10 seeds per arm. First four rows: one Holm family per statistic (backprop as the global signal). Last row: the DFA family (specified separately). Newcombe CIs for solve rates, Welch for AUC.</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B2 / 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protocol constants</a:t>
            </a:r>
          </a:p>
        </p:txBody>
      </p:sp>
      <p:sp>
        <p:nvSpPr>
          <p:cNvPr id="4" name="Rounded Rectangle 3"/>
          <p:cNvSpPr/>
          <p:nvPr/>
        </p:nvSpPr>
        <p:spPr>
          <a:xfrm>
            <a:off x="548640" y="1783080"/>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783080"/>
            <a:ext cx="2377440" cy="457200"/>
          </a:xfrm>
          <a:prstGeom prst="rect">
            <a:avLst/>
          </a:prstGeom>
          <a:noFill/>
        </p:spPr>
        <p:txBody>
          <a:bodyPr wrap="square" anchor="ctr" lIns="0" rIns="0" tIns="0" bIns="0">
            <a:spAutoFit/>
          </a:bodyPr>
          <a:lstStyle/>
          <a:p>
            <a:pPr algn="l"/>
            <a:r>
              <a:rPr sz="1400" b="1" i="0">
                <a:solidFill>
                  <a:srgbClr val="151514"/>
                </a:solidFill>
                <a:latin typeface="Calibri"/>
              </a:rPr>
              <a:t>PPO</a:t>
            </a:r>
          </a:p>
        </p:txBody>
      </p:sp>
      <p:sp>
        <p:nvSpPr>
          <p:cNvPr id="6" name="TextBox 5"/>
          <p:cNvSpPr txBox="1"/>
          <p:nvPr/>
        </p:nvSpPr>
        <p:spPr>
          <a:xfrm>
            <a:off x="3017520" y="1783080"/>
            <a:ext cx="8534095" cy="457200"/>
          </a:xfrm>
          <a:prstGeom prst="rect">
            <a:avLst/>
          </a:prstGeom>
          <a:noFill/>
        </p:spPr>
        <p:txBody>
          <a:bodyPr wrap="square" anchor="ctr" lIns="0" rIns="0" tIns="0" bIns="0">
            <a:spAutoFit/>
          </a:bodyPr>
          <a:lstStyle/>
          <a:p>
            <a:pPr algn="l"/>
            <a:r>
              <a:rPr sz="1350" b="0" i="0">
                <a:solidFill>
                  <a:srgbClr val="52514E"/>
                </a:solidFill>
                <a:latin typeface="Calibri"/>
              </a:rPr>
              <a:t>16 envs × 128 steps, 4 epochs, minibatch 256, clip 0.2, γ = 0.99, GAE λ = 0.95, KL stop 0.03</a:t>
            </a:r>
          </a:p>
        </p:txBody>
      </p:sp>
      <p:sp>
        <p:nvSpPr>
          <p:cNvPr id="7" name="Rounded Rectangle 6"/>
          <p:cNvSpPr/>
          <p:nvPr/>
        </p:nvSpPr>
        <p:spPr>
          <a:xfrm>
            <a:off x="548640" y="2313432"/>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313432"/>
            <a:ext cx="2377440" cy="457200"/>
          </a:xfrm>
          <a:prstGeom prst="rect">
            <a:avLst/>
          </a:prstGeom>
          <a:noFill/>
        </p:spPr>
        <p:txBody>
          <a:bodyPr wrap="square" anchor="ctr" lIns="0" rIns="0" tIns="0" bIns="0">
            <a:spAutoFit/>
          </a:bodyPr>
          <a:lstStyle/>
          <a:p>
            <a:pPr algn="l"/>
            <a:r>
              <a:rPr sz="1400" b="1" i="0">
                <a:solidFill>
                  <a:srgbClr val="151514"/>
                </a:solidFill>
                <a:latin typeface="Calibri"/>
              </a:rPr>
              <a:t>Learning rate</a:t>
            </a:r>
          </a:p>
        </p:txBody>
      </p:sp>
      <p:sp>
        <p:nvSpPr>
          <p:cNvPr id="9" name="TextBox 8"/>
          <p:cNvSpPr txBox="1"/>
          <p:nvPr/>
        </p:nvSpPr>
        <p:spPr>
          <a:xfrm>
            <a:off x="3017520" y="2313432"/>
            <a:ext cx="8534095" cy="457200"/>
          </a:xfrm>
          <a:prstGeom prst="rect">
            <a:avLst/>
          </a:prstGeom>
          <a:noFill/>
        </p:spPr>
        <p:txBody>
          <a:bodyPr wrap="square" anchor="ctr" lIns="0" rIns="0" tIns="0" bIns="0">
            <a:spAutoFit/>
          </a:bodyPr>
          <a:lstStyle/>
          <a:p>
            <a:pPr algn="l"/>
            <a:r>
              <a:rPr sz="1350" b="0" i="0">
                <a:solidFill>
                  <a:srgbClr val="52514E"/>
                </a:solidFill>
                <a:latin typeface="Calibri"/>
              </a:rPr>
              <a:t>0.001 (CNN, SNN); 0.0003 (SNN+Transformer)</a:t>
            </a:r>
          </a:p>
        </p:txBody>
      </p:sp>
      <p:sp>
        <p:nvSpPr>
          <p:cNvPr id="10" name="Rounded Rectangle 9"/>
          <p:cNvSpPr/>
          <p:nvPr/>
        </p:nvSpPr>
        <p:spPr>
          <a:xfrm>
            <a:off x="548640" y="2843784"/>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843784"/>
            <a:ext cx="2377440" cy="457200"/>
          </a:xfrm>
          <a:prstGeom prst="rect">
            <a:avLst/>
          </a:prstGeom>
          <a:noFill/>
        </p:spPr>
        <p:txBody>
          <a:bodyPr wrap="square" anchor="ctr" lIns="0" rIns="0" tIns="0" bIns="0">
            <a:spAutoFit/>
          </a:bodyPr>
          <a:lstStyle/>
          <a:p>
            <a:pPr algn="l"/>
            <a:r>
              <a:rPr sz="1400" b="1" i="0">
                <a:solidFill>
                  <a:srgbClr val="151514"/>
                </a:solidFill>
                <a:latin typeface="Calibri"/>
              </a:rPr>
              <a:t>Frames per task</a:t>
            </a:r>
          </a:p>
        </p:txBody>
      </p:sp>
      <p:sp>
        <p:nvSpPr>
          <p:cNvPr id="12" name="TextBox 11"/>
          <p:cNvSpPr txBox="1"/>
          <p:nvPr/>
        </p:nvSpPr>
        <p:spPr>
          <a:xfrm>
            <a:off x="3017520" y="2843784"/>
            <a:ext cx="8534095" cy="457200"/>
          </a:xfrm>
          <a:prstGeom prst="rect">
            <a:avLst/>
          </a:prstGeom>
          <a:noFill/>
        </p:spPr>
        <p:txBody>
          <a:bodyPr wrap="square" anchor="ctr" lIns="0" rIns="0" tIns="0" bIns="0">
            <a:spAutoFit/>
          </a:bodyPr>
          <a:lstStyle/>
          <a:p>
            <a:pPr algn="l"/>
            <a:r>
              <a:rPr sz="1350" b="0" i="0">
                <a:solidFill>
                  <a:srgbClr val="52514E"/>
                </a:solidFill>
                <a:latin typeface="Calibri"/>
              </a:rPr>
              <a:t>150k (CNN, SNN); 400k (SNN+Transformer); 450k (5-task SNN, fair budget)</a:t>
            </a:r>
          </a:p>
        </p:txBody>
      </p:sp>
      <p:sp>
        <p:nvSpPr>
          <p:cNvPr id="13" name="Rounded Rectangle 12"/>
          <p:cNvSpPr/>
          <p:nvPr/>
        </p:nvSpPr>
        <p:spPr>
          <a:xfrm>
            <a:off x="548640" y="3374135"/>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374135"/>
            <a:ext cx="2377440" cy="457200"/>
          </a:xfrm>
          <a:prstGeom prst="rect">
            <a:avLst/>
          </a:prstGeom>
          <a:noFill/>
        </p:spPr>
        <p:txBody>
          <a:bodyPr wrap="square" anchor="ctr" lIns="0" rIns="0" tIns="0" bIns="0">
            <a:spAutoFit/>
          </a:bodyPr>
          <a:lstStyle/>
          <a:p>
            <a:pPr algn="l"/>
            <a:r>
              <a:rPr sz="1400" b="1" i="0">
                <a:solidFill>
                  <a:srgbClr val="151514"/>
                </a:solidFill>
                <a:latin typeface="Calibri"/>
              </a:rPr>
              <a:t>SNN</a:t>
            </a:r>
          </a:p>
        </p:txBody>
      </p:sp>
      <p:sp>
        <p:nvSpPr>
          <p:cNvPr id="15" name="TextBox 14"/>
          <p:cNvSpPr txBox="1"/>
          <p:nvPr/>
        </p:nvSpPr>
        <p:spPr>
          <a:xfrm>
            <a:off x="3017520" y="3374135"/>
            <a:ext cx="8534095" cy="457200"/>
          </a:xfrm>
          <a:prstGeom prst="rect">
            <a:avLst/>
          </a:prstGeom>
          <a:noFill/>
        </p:spPr>
        <p:txBody>
          <a:bodyPr wrap="square" anchor="ctr" lIns="0" rIns="0" tIns="0" bIns="0">
            <a:spAutoFit/>
          </a:bodyPr>
          <a:lstStyle/>
          <a:p>
            <a:pPr algn="l"/>
            <a:r>
              <a:rPr sz="1350" b="0" i="0">
                <a:solidFill>
                  <a:srgbClr val="52514E"/>
                </a:solidFill>
                <a:latin typeface="Calibri"/>
              </a:rPr>
              <a:t>4 time steps, learnable leak (init 0.9), surrogate slope 25, membrane reset each frame</a:t>
            </a:r>
          </a:p>
        </p:txBody>
      </p:sp>
      <p:sp>
        <p:nvSpPr>
          <p:cNvPr id="16" name="Rounded Rectangle 15"/>
          <p:cNvSpPr/>
          <p:nvPr/>
        </p:nvSpPr>
        <p:spPr>
          <a:xfrm>
            <a:off x="548640" y="3904487"/>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3904487"/>
            <a:ext cx="2377440" cy="457200"/>
          </a:xfrm>
          <a:prstGeom prst="rect">
            <a:avLst/>
          </a:prstGeom>
          <a:noFill/>
        </p:spPr>
        <p:txBody>
          <a:bodyPr wrap="square" anchor="ctr" lIns="0" rIns="0" tIns="0" bIns="0">
            <a:spAutoFit/>
          </a:bodyPr>
          <a:lstStyle/>
          <a:p>
            <a:pPr algn="l"/>
            <a:r>
              <a:rPr sz="1400" b="1" i="0">
                <a:solidFill>
                  <a:srgbClr val="151514"/>
                </a:solidFill>
                <a:latin typeface="Calibri"/>
              </a:rPr>
              <a:t>Plasticity</a:t>
            </a:r>
          </a:p>
        </p:txBody>
      </p:sp>
      <p:sp>
        <p:nvSpPr>
          <p:cNvPr id="18" name="TextBox 17"/>
          <p:cNvSpPr txBox="1"/>
          <p:nvPr/>
        </p:nvSpPr>
        <p:spPr>
          <a:xfrm>
            <a:off x="3017520" y="3904487"/>
            <a:ext cx="8534095" cy="457200"/>
          </a:xfrm>
          <a:prstGeom prst="rect">
            <a:avLst/>
          </a:prstGeom>
          <a:noFill/>
        </p:spPr>
        <p:txBody>
          <a:bodyPr wrap="square" anchor="ctr" lIns="0" rIns="0" tIns="0" bIns="0">
            <a:spAutoFit/>
          </a:bodyPr>
          <a:lstStyle/>
          <a:p>
            <a:pPr algn="l"/>
            <a:r>
              <a:rPr sz="1350" b="0" i="0">
                <a:solidFill>
                  <a:srgbClr val="52514E"/>
                </a:solidFill>
                <a:latin typeface="Calibri"/>
              </a:rPr>
              <a:t>α = 0.03; homeostasis target 0.15, rate 0.01</a:t>
            </a:r>
          </a:p>
        </p:txBody>
      </p:sp>
      <p:sp>
        <p:nvSpPr>
          <p:cNvPr id="19" name="Rounded Rectangle 18"/>
          <p:cNvSpPr/>
          <p:nvPr/>
        </p:nvSpPr>
        <p:spPr>
          <a:xfrm>
            <a:off x="548640" y="4434840"/>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434840"/>
            <a:ext cx="2377440" cy="457200"/>
          </a:xfrm>
          <a:prstGeom prst="rect">
            <a:avLst/>
          </a:prstGeom>
          <a:noFill/>
        </p:spPr>
        <p:txBody>
          <a:bodyPr wrap="square" anchor="ctr" lIns="0" rIns="0" tIns="0" bIns="0">
            <a:spAutoFit/>
          </a:bodyPr>
          <a:lstStyle/>
          <a:p>
            <a:pPr algn="l"/>
            <a:r>
              <a:rPr sz="1400" b="1" i="0">
                <a:solidFill>
                  <a:srgbClr val="151514"/>
                </a:solidFill>
                <a:latin typeface="Calibri"/>
              </a:rPr>
              <a:t>Sleep</a:t>
            </a:r>
          </a:p>
        </p:txBody>
      </p:sp>
      <p:sp>
        <p:nvSpPr>
          <p:cNvPr id="21" name="TextBox 20"/>
          <p:cNvSpPr txBox="1"/>
          <p:nvPr/>
        </p:nvSpPr>
        <p:spPr>
          <a:xfrm>
            <a:off x="3017520" y="4434840"/>
            <a:ext cx="8534095" cy="457200"/>
          </a:xfrm>
          <a:prstGeom prst="rect">
            <a:avLst/>
          </a:prstGeom>
          <a:noFill/>
        </p:spPr>
        <p:txBody>
          <a:bodyPr wrap="square" anchor="ctr" lIns="0" rIns="0" tIns="0" bIns="0">
            <a:spAutoFit/>
          </a:bodyPr>
          <a:lstStyle/>
          <a:p>
            <a:pPr algn="l"/>
            <a:r>
              <a:rPr sz="1350" b="0" i="0">
                <a:solidFill>
                  <a:srgbClr val="52514E"/>
                </a:solidFill>
                <a:latin typeface="Calibri"/>
              </a:rPr>
              <a:t>every 25 updates + task end; 700 steps per phase; 5,000 states per task</a:t>
            </a:r>
          </a:p>
        </p:txBody>
      </p:sp>
      <p:sp>
        <p:nvSpPr>
          <p:cNvPr id="22" name="Rounded Rectangle 21"/>
          <p:cNvSpPr/>
          <p:nvPr/>
        </p:nvSpPr>
        <p:spPr>
          <a:xfrm>
            <a:off x="548640" y="4965192"/>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 y="4965192"/>
            <a:ext cx="2377440" cy="457200"/>
          </a:xfrm>
          <a:prstGeom prst="rect">
            <a:avLst/>
          </a:prstGeom>
          <a:noFill/>
        </p:spPr>
        <p:txBody>
          <a:bodyPr wrap="square" anchor="ctr" lIns="0" rIns="0" tIns="0" bIns="0">
            <a:spAutoFit/>
          </a:bodyPr>
          <a:lstStyle/>
          <a:p>
            <a:pPr algn="l"/>
            <a:r>
              <a:rPr sz="1400" b="1" i="0">
                <a:solidFill>
                  <a:srgbClr val="151514"/>
                </a:solidFill>
                <a:latin typeface="Calibri"/>
              </a:rPr>
              <a:t>Evaluation</a:t>
            </a:r>
          </a:p>
        </p:txBody>
      </p:sp>
      <p:sp>
        <p:nvSpPr>
          <p:cNvPr id="24" name="TextBox 23"/>
          <p:cNvSpPr txBox="1"/>
          <p:nvPr/>
        </p:nvSpPr>
        <p:spPr>
          <a:xfrm>
            <a:off x="3017520" y="4965192"/>
            <a:ext cx="8534095" cy="457200"/>
          </a:xfrm>
          <a:prstGeom prst="rect">
            <a:avLst/>
          </a:prstGeom>
          <a:noFill/>
        </p:spPr>
        <p:txBody>
          <a:bodyPr wrap="square" anchor="ctr" lIns="0" rIns="0" tIns="0" bIns="0">
            <a:spAutoFit/>
          </a:bodyPr>
          <a:lstStyle/>
          <a:p>
            <a:pPr algn="l"/>
            <a:r>
              <a:rPr sz="1350" b="0" i="0">
                <a:solidFill>
                  <a:srgbClr val="52514E"/>
                </a:solidFill>
                <a:latin typeface="Calibri"/>
              </a:rPr>
              <a:t>100 episodes per task (continual); 200 (single task)</a:t>
            </a:r>
          </a:p>
        </p:txBody>
      </p:sp>
      <p:sp>
        <p:nvSpPr>
          <p:cNvPr id="25" name="Rounded Rectangle 24"/>
          <p:cNvSpPr/>
          <p:nvPr/>
        </p:nvSpPr>
        <p:spPr>
          <a:xfrm>
            <a:off x="548640" y="5495544"/>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495544"/>
            <a:ext cx="2377440" cy="457200"/>
          </a:xfrm>
          <a:prstGeom prst="rect">
            <a:avLst/>
          </a:prstGeom>
          <a:noFill/>
        </p:spPr>
        <p:txBody>
          <a:bodyPr wrap="square" anchor="ctr" lIns="0" rIns="0" tIns="0" bIns="0">
            <a:spAutoFit/>
          </a:bodyPr>
          <a:lstStyle/>
          <a:p>
            <a:pPr algn="l"/>
            <a:r>
              <a:rPr sz="1400" b="1" i="0">
                <a:solidFill>
                  <a:srgbClr val="151514"/>
                </a:solidFill>
                <a:latin typeface="Calibri"/>
              </a:rPr>
              <a:t>Memory accounting</a:t>
            </a:r>
          </a:p>
        </p:txBody>
      </p:sp>
      <p:sp>
        <p:nvSpPr>
          <p:cNvPr id="27" name="TextBox 26"/>
          <p:cNvSpPr txBox="1"/>
          <p:nvPr/>
        </p:nvSpPr>
        <p:spPr>
          <a:xfrm>
            <a:off x="3017520" y="5495544"/>
            <a:ext cx="8534095" cy="457200"/>
          </a:xfrm>
          <a:prstGeom prst="rect">
            <a:avLst/>
          </a:prstGeom>
          <a:noFill/>
        </p:spPr>
        <p:txBody>
          <a:bodyPr wrap="square" anchor="ctr" lIns="0" rIns="0" tIns="0" bIns="0">
            <a:spAutoFit/>
          </a:bodyPr>
          <a:lstStyle/>
          <a:p>
            <a:pPr algn="l"/>
            <a:r>
              <a:rPr sz="1350" b="0" i="0">
                <a:solidFill>
                  <a:srgbClr val="52514E"/>
                </a:solidFill>
                <a:latin typeface="Calibri"/>
              </a:rPr>
              <a:t>188 B/state (CNN, SNN); 632 B/state (SNN+Transformer)</a:t>
            </a:r>
          </a:p>
        </p:txBody>
      </p:sp>
      <p:sp>
        <p:nvSpPr>
          <p:cNvPr id="28" name="TextBox 27"/>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9" name="TextBox 28"/>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B3 /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references</a:t>
            </a:r>
          </a:p>
        </p:txBody>
      </p:sp>
      <p:sp>
        <p:nvSpPr>
          <p:cNvPr id="4" name="TextBox 3"/>
          <p:cNvSpPr txBox="1"/>
          <p:nvPr/>
        </p:nvSpPr>
        <p:spPr>
          <a:xfrm>
            <a:off x="548640" y="1737360"/>
            <a:ext cx="5394960" cy="4572000"/>
          </a:xfrm>
          <a:prstGeom prst="rect">
            <a:avLst/>
          </a:prstGeom>
          <a:noFill/>
        </p:spPr>
        <p:txBody>
          <a:bodyPr wrap="square" anchor="t" lIns="0" rIns="0" tIns="0" bIns="0">
            <a:spAutoFit/>
          </a:bodyPr>
          <a:lstStyle/>
          <a:p>
            <a:pPr algn="l">
              <a:spcAft>
                <a:spcPts val="500"/>
              </a:spcAft>
            </a:pPr>
            <a:r>
              <a:rPr sz="1150" b="0" i="0">
                <a:solidFill>
                  <a:srgbClr val="52514E"/>
                </a:solidFill>
                <a:latin typeface="Calibri"/>
              </a:rPr>
              <a:t>Bi &amp; Poo (1998). Synaptic modifications in cultured hippocampal neurons. J. Neurosci.</a:t>
            </a:r>
          </a:p>
          <a:p>
            <a:pPr algn="l">
              <a:spcAft>
                <a:spcPts val="500"/>
              </a:spcAft>
            </a:pPr>
            <a:r>
              <a:rPr sz="1150" b="0" i="0">
                <a:solidFill>
                  <a:srgbClr val="52514E"/>
                </a:solidFill>
                <a:latin typeface="Calibri"/>
              </a:rPr>
              <a:t>Chaudhry et al. (2018). Riemannian walk for incremental learning. ECCV.</a:t>
            </a:r>
          </a:p>
          <a:p>
            <a:pPr algn="l">
              <a:spcAft>
                <a:spcPts val="500"/>
              </a:spcAft>
            </a:pPr>
            <a:r>
              <a:rPr sz="1150" b="0" i="0">
                <a:solidFill>
                  <a:srgbClr val="52514E"/>
                </a:solidFill>
                <a:latin typeface="Calibri"/>
              </a:rPr>
              <a:t>Chevalier-Boisvert et al. (2023). Minigrid &amp; Miniworld. NeurIPS Datasets and Benchmarks.</a:t>
            </a:r>
          </a:p>
          <a:p>
            <a:pPr algn="l">
              <a:spcAft>
                <a:spcPts val="500"/>
              </a:spcAft>
            </a:pPr>
            <a:r>
              <a:rPr sz="1150" b="0" i="0">
                <a:solidFill>
                  <a:srgbClr val="52514E"/>
                </a:solidFill>
                <a:latin typeface="Calibri"/>
              </a:rPr>
              <a:t>Frémaux &amp; Gerstner (2016). Neuromodulated STDP and three-factor learning rules. Front. Neural Circuits.</a:t>
            </a:r>
          </a:p>
          <a:p>
            <a:pPr algn="l">
              <a:spcAft>
                <a:spcPts val="500"/>
              </a:spcAft>
            </a:pPr>
            <a:r>
              <a:rPr sz="1150" b="0" i="0">
                <a:solidFill>
                  <a:srgbClr val="52514E"/>
                </a:solidFill>
                <a:latin typeface="Calibri"/>
              </a:rPr>
              <a:t>Holm (1979). A simple sequentially rejective multiple test procedure. Scand. J. Statistics.</a:t>
            </a:r>
          </a:p>
          <a:p>
            <a:pPr algn="l">
              <a:spcAft>
                <a:spcPts val="500"/>
              </a:spcAft>
            </a:pPr>
            <a:r>
              <a:rPr sz="1150" b="0" i="0">
                <a:solidFill>
                  <a:srgbClr val="52514E"/>
                </a:solidFill>
                <a:latin typeface="Calibri"/>
              </a:rPr>
              <a:t>Khetarpal et al. (2022). Towards continual reinforcement learning: a review. JAIR.</a:t>
            </a:r>
          </a:p>
          <a:p>
            <a:pPr algn="l">
              <a:spcAft>
                <a:spcPts val="500"/>
              </a:spcAft>
            </a:pPr>
            <a:r>
              <a:rPr sz="1150" b="0" i="0">
                <a:solidFill>
                  <a:srgbClr val="52514E"/>
                </a:solidFill>
                <a:latin typeface="Calibri"/>
              </a:rPr>
              <a:t>Kirkpatrick et al. (2017). Overcoming catastrophic forgetting in neural networks. PNAS.</a:t>
            </a:r>
          </a:p>
          <a:p>
            <a:pPr algn="l">
              <a:spcAft>
                <a:spcPts val="500"/>
              </a:spcAft>
            </a:pPr>
            <a:r>
              <a:rPr sz="1150" b="0" i="0">
                <a:solidFill>
                  <a:srgbClr val="52514E"/>
                </a:solidFill>
                <a:latin typeface="Calibri"/>
              </a:rPr>
              <a:t>Li &amp; Hoiem (2018). Learning without forgetting. IEEE TPAMI.</a:t>
            </a:r>
          </a:p>
          <a:p>
            <a:pPr algn="l">
              <a:spcAft>
                <a:spcPts val="500"/>
              </a:spcAft>
            </a:pPr>
            <a:r>
              <a:rPr sz="1150" b="0" i="0">
                <a:solidFill>
                  <a:srgbClr val="52514E"/>
                </a:solidFill>
                <a:latin typeface="Calibri"/>
              </a:rPr>
              <a:t>Mallya &amp; Lazebnik (2018). PackNet. CVPR.</a:t>
            </a:r>
          </a:p>
          <a:p>
            <a:pPr algn="l">
              <a:spcAft>
                <a:spcPts val="500"/>
              </a:spcAft>
            </a:pPr>
            <a:r>
              <a:rPr sz="1150" b="0" i="0">
                <a:solidFill>
                  <a:srgbClr val="52514E"/>
                </a:solidFill>
                <a:latin typeface="Calibri"/>
              </a:rPr>
              <a:t>Neftci, Mostafa &amp; Zenke (2019). Surrogate gradient learning in SNNs. IEEE Signal Proc. Mag.</a:t>
            </a:r>
          </a:p>
        </p:txBody>
      </p:sp>
      <p:sp>
        <p:nvSpPr>
          <p:cNvPr id="5" name="TextBox 4"/>
          <p:cNvSpPr txBox="1"/>
          <p:nvPr/>
        </p:nvSpPr>
        <p:spPr>
          <a:xfrm>
            <a:off x="6126479" y="1737360"/>
            <a:ext cx="5394960" cy="4572000"/>
          </a:xfrm>
          <a:prstGeom prst="rect">
            <a:avLst/>
          </a:prstGeom>
          <a:noFill/>
        </p:spPr>
        <p:txBody>
          <a:bodyPr wrap="square" anchor="t" lIns="0" rIns="0" tIns="0" bIns="0">
            <a:spAutoFit/>
          </a:bodyPr>
          <a:lstStyle/>
          <a:p>
            <a:pPr algn="l">
              <a:spcAft>
                <a:spcPts val="500"/>
              </a:spcAft>
            </a:pPr>
            <a:r>
              <a:rPr sz="1150" b="0" i="0">
                <a:solidFill>
                  <a:srgbClr val="52514E"/>
                </a:solidFill>
                <a:latin typeface="Calibri"/>
              </a:rPr>
              <a:t>Nikulin et al. (2024). XLand-MiniGrid. NeurIPS Datasets and Benchmarks.</a:t>
            </a:r>
          </a:p>
          <a:p>
            <a:pPr algn="l">
              <a:spcAft>
                <a:spcPts val="500"/>
              </a:spcAft>
            </a:pPr>
            <a:r>
              <a:rPr sz="1150" b="0" i="0">
                <a:solidFill>
                  <a:srgbClr val="52514E"/>
                </a:solidFill>
                <a:latin typeface="Calibri"/>
              </a:rPr>
              <a:t>Nøkland (2016). Direct feedback alignment. NeurIPS.</a:t>
            </a:r>
          </a:p>
          <a:p>
            <a:pPr algn="l">
              <a:spcAft>
                <a:spcPts val="500"/>
              </a:spcAft>
            </a:pPr>
            <a:r>
              <a:rPr sz="1150" b="0" i="0">
                <a:solidFill>
                  <a:srgbClr val="52514E"/>
                </a:solidFill>
                <a:latin typeface="Calibri"/>
              </a:rPr>
              <a:t>Pandey &amp; Biswas (2025). Spiking decision transformers. arXiv:2508.21505.</a:t>
            </a:r>
          </a:p>
          <a:p>
            <a:pPr algn="l">
              <a:spcAft>
                <a:spcPts val="500"/>
              </a:spcAft>
            </a:pPr>
            <a:r>
              <a:rPr sz="1150" b="0" i="0">
                <a:solidFill>
                  <a:srgbClr val="52514E"/>
                </a:solidFill>
                <a:latin typeface="Calibri"/>
              </a:rPr>
              <a:t>Rolnick et al. (2019). Experience replay for continual learning (CLEAR). NeurIPS.</a:t>
            </a:r>
          </a:p>
          <a:p>
            <a:pPr algn="l">
              <a:spcAft>
                <a:spcPts val="500"/>
              </a:spcAft>
            </a:pPr>
            <a:r>
              <a:rPr sz="1150" b="0" i="0">
                <a:solidFill>
                  <a:srgbClr val="52514E"/>
                </a:solidFill>
                <a:latin typeface="Calibri"/>
              </a:rPr>
              <a:t>Schulman et al. (2017). Proximal policy optimization algorithms. arXiv:1707.06347.</a:t>
            </a:r>
          </a:p>
          <a:p>
            <a:pPr algn="l">
              <a:spcAft>
                <a:spcPts val="500"/>
              </a:spcAft>
            </a:pPr>
            <a:r>
              <a:rPr sz="1150" b="0" i="0">
                <a:solidFill>
                  <a:srgbClr val="52514E"/>
                </a:solidFill>
                <a:latin typeface="Calibri"/>
              </a:rPr>
              <a:t>Tadros et al. (2022). Sleep-like unsupervised replay reduces catastrophic forgetting. Nat. Commun.</a:t>
            </a:r>
          </a:p>
          <a:p>
            <a:pPr algn="l">
              <a:spcAft>
                <a:spcPts val="500"/>
              </a:spcAft>
            </a:pPr>
            <a:r>
              <a:rPr sz="1150" b="0" i="0">
                <a:solidFill>
                  <a:srgbClr val="52514E"/>
                </a:solidFill>
                <a:latin typeface="Calibri"/>
              </a:rPr>
              <a:t>Turrigiano &amp; Nelson (2004). Homeostatic plasticity in the developing nervous system. Nat. Rev. Neurosci.</a:t>
            </a:r>
          </a:p>
          <a:p>
            <a:pPr algn="l">
              <a:spcAft>
                <a:spcPts val="500"/>
              </a:spcAft>
            </a:pPr>
            <a:r>
              <a:rPr sz="1150" b="0" i="0">
                <a:solidFill>
                  <a:srgbClr val="52514E"/>
                </a:solidFill>
                <a:latin typeface="Calibri"/>
              </a:rPr>
              <a:t>Van den Berghe et al. (2025). Adaptive surrogate gradients for sequential RL in SNNs. NeurIPS.</a:t>
            </a:r>
          </a:p>
          <a:p>
            <a:pPr algn="l">
              <a:spcAft>
                <a:spcPts val="500"/>
              </a:spcAft>
            </a:pPr>
            <a:r>
              <a:rPr sz="1150" b="0" i="0">
                <a:solidFill>
                  <a:srgbClr val="52514E"/>
                </a:solidFill>
                <a:latin typeface="Calibri"/>
              </a:rPr>
              <a:t>Wołczyk et al. (2021). Continual World. NeurIPS.</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B4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