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naive</c:v>
                </c:pt>
              </c:strCache>
            </c:strRef>
          </c:tx>
          <c:spPr>
            <a:ln w="34925">
              <a:solidFill>
                <a:srgbClr val="E87BA4"/>
              </a:solidFill>
            </a:ln>
          </c:spPr>
          <c:marker>
            <c:symbol val="circle"/>
            <c:size val="8"/>
            <c:spPr>
              <a:solidFill>
                <a:srgbClr val="E87BA4"/>
              </a:solidFill>
              <a:ln>
                <a:solidFill>
                  <a:srgbClr val="FFFFFF"/>
                </a:solidFill>
              </a:ln>
            </c:spPr>
          </c:marker>
          <c:cat>
            <c:strRef>
              <c:f>Sheet1!$A$2:$A$4</c:f>
              <c:strCache>
                <c:ptCount val="3"/>
                <c:pt idx="0">
                  <c:v>after task 1</c:v>
                </c:pt>
                <c:pt idx="1">
                  <c:v>after task 2</c:v>
                </c:pt>
                <c:pt idx="2">
                  <c:v>after task 3</c:v>
                </c:pt>
              </c:strCache>
            </c:strRef>
          </c:cat>
          <c:val>
            <c:numRef>
              <c:f>Sheet1!$B$2:$B$4</c:f>
              <c:numCache>
                <c:formatCode>General</c:formatCode>
                <c:ptCount val="3"/>
                <c:pt idx="0">
                  <c:v>0.9772</c:v>
                </c:pt>
                <c:pt idx="1">
                  <c:v>0.3231</c:v>
                </c:pt>
                <c:pt idx="2">
                  <c:v>0.0481</c:v>
                </c:pt>
              </c:numCache>
            </c:numRef>
          </c:val>
          <c:smooth val="0"/>
        </c:ser>
        <c:ser>
          <c:idx val="1"/>
          <c:order val="1"/>
          <c:tx>
            <c:strRef>
              <c:f>Sheet1!$C$1</c:f>
              <c:strCache>
                <c:ptCount val="1"/>
                <c:pt idx="0">
                  <c:v>replay</c:v>
                </c:pt>
              </c:strCache>
            </c:strRef>
          </c:tx>
          <c:spPr>
            <a:ln w="34925">
              <a:solidFill>
                <a:srgbClr val="EB6834"/>
              </a:solidFill>
              <a:prstDash val="dash"/>
            </a:ln>
          </c:spPr>
          <c:marker>
            <c:symbol val="circle"/>
            <c:size val="8"/>
            <c:spPr>
              <a:solidFill>
                <a:srgbClr val="EB6834"/>
              </a:solidFill>
              <a:ln>
                <a:solidFill>
                  <a:srgbClr val="FFFFFF"/>
                </a:solidFill>
              </a:ln>
            </c:spPr>
          </c:marker>
          <c:cat>
            <c:strRef>
              <c:f>Sheet1!$A$2:$A$4</c:f>
              <c:strCache>
                <c:ptCount val="3"/>
                <c:pt idx="0">
                  <c:v>after task 1</c:v>
                </c:pt>
                <c:pt idx="1">
                  <c:v>after task 2</c:v>
                </c:pt>
                <c:pt idx="2">
                  <c:v>after task 3</c:v>
                </c:pt>
              </c:strCache>
            </c:strRef>
          </c:cat>
          <c:val>
            <c:numRef>
              <c:f>Sheet1!$C$2:$C$4</c:f>
              <c:numCache>
                <c:formatCode>General</c:formatCode>
                <c:ptCount val="3"/>
                <c:pt idx="0">
                  <c:v>0.9741</c:v>
                </c:pt>
                <c:pt idx="1">
                  <c:v>0.9773</c:v>
                </c:pt>
                <c:pt idx="2">
                  <c:v>0.9773</c:v>
                </c:pt>
              </c:numCache>
            </c:numRef>
          </c:val>
          <c:smooth val="0"/>
        </c:ser>
        <c:ser>
          <c:idx val="2"/>
          <c:order val="2"/>
          <c:tx>
            <c:strRef>
              <c:f>Sheet1!$D$1</c:f>
              <c:strCache>
                <c:ptCount val="1"/>
                <c:pt idx="0">
                  <c:v>sleep</c:v>
                </c:pt>
              </c:strCache>
            </c:strRef>
          </c:tx>
          <c:spPr>
            <a:ln w="34925">
              <a:solidFill>
                <a:srgbClr val="2A78D6"/>
              </a:solidFill>
            </a:ln>
          </c:spPr>
          <c:marker>
            <c:symbol val="circle"/>
            <c:size val="8"/>
            <c:spPr>
              <a:solidFill>
                <a:srgbClr val="2A78D6"/>
              </a:solidFill>
              <a:ln>
                <a:solidFill>
                  <a:srgbClr val="FFFFFF"/>
                </a:solidFill>
              </a:ln>
            </c:spPr>
          </c:marker>
          <c:cat>
            <c:strRef>
              <c:f>Sheet1!$A$2:$A$4</c:f>
              <c:strCache>
                <c:ptCount val="3"/>
                <c:pt idx="0">
                  <c:v>after task 1</c:v>
                </c:pt>
                <c:pt idx="1">
                  <c:v>after task 2</c:v>
                </c:pt>
                <c:pt idx="2">
                  <c:v>after task 3</c:v>
                </c:pt>
              </c:strCache>
            </c:strRef>
          </c:cat>
          <c:val>
            <c:numRef>
              <c:f>Sheet1!$D$2:$D$4</c:f>
              <c:numCache>
                <c:formatCode>General</c:formatCode>
                <c:ptCount val="3"/>
                <c:pt idx="0">
                  <c:v>0.977</c:v>
                </c:pt>
                <c:pt idx="1">
                  <c:v>0.9767</c:v>
                </c:pt>
                <c:pt idx="2">
                  <c:v>0.9762</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E6E5E0"/>
            </a:solidFill>
          </a:ln>
        </c:spPr>
        <c:txPr>
          <a:bodyPr/>
          <a:lstStyle/>
          <a:p>
            <a:pPr>
              <a:defRPr sz="1100">
                <a:solidFill>
                  <a:srgbClr val="85837D"/>
                </a:solidFill>
                <a:latin typeface="Calibri"/>
              </a:defRPr>
            </a:pPr>
          </a:p>
        </c:txPr>
        <c:crossAx val="2140495176"/>
        <c:crosses val="autoZero"/>
        <c:auto val="1"/>
        <c:lblAlgn val="ctr"/>
        <c:lblOffset val="100"/>
        <c:noMultiLvlLbl val="0"/>
      </c:catAx>
      <c:valAx>
        <c:axId val="2140495176"/>
        <c:scaling>
          <c:max val="1.0"/>
          <c:min val="0.0"/>
        </c:scaling>
        <c:delete val="0"/>
        <c:axPos val="l"/>
        <c:majorGridlines>
          <c:spPr>
            <a:ln>
              <a:solidFill>
                <a:srgbClr val="E6E5E0"/>
              </a:solidFill>
            </a:ln>
          </c:spPr>
        </c:majorGridlines>
        <c:numFmt formatCode="0.00" sourceLinked="0"/>
        <c:majorTickMark val="out"/>
        <c:minorTickMark val="none"/>
        <c:tickLblPos val="nextTo"/>
        <c:spPr>
          <a:ln>
            <a:noFill/>
          </a:ln>
        </c:spPr>
        <c:txPr>
          <a:bodyPr/>
          <a:lstStyle/>
          <a:p>
            <a:pPr>
              <a:defRPr sz="1100">
                <a:solidFill>
                  <a:srgbClr val="85837D"/>
                </a:solidFill>
                <a:latin typeface="Calibri"/>
              </a:defRPr>
            </a:pPr>
          </a:p>
        </c:txPr>
        <c:crossAx val="2118791784"/>
        <c:crosses val="autoZero"/>
        <c:majorUnit val="0.25"/>
      </c:valAx>
    </c:plotArea>
    <c:legend>
      <c:legendPos val="b"/>
      <c:layout/>
      <c:overlay val="0"/>
      <c:txPr>
        <a:bodyPr/>
        <a:lstStyle/>
        <a:p>
          <a:pPr>
            <a:defRPr sz="1200">
              <a:solidFill>
                <a:srgbClr val="52514E"/>
              </a:solidFill>
              <a:latin typeface="Calibri"/>
            </a:defRPr>
          </a:pPr>
        </a:p>
      </c:txPr>
    </c:legend>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My project asks a simple question: when people add brain-inspired mechanisms to a reinforcement-learning agent, such as spiking neurons, local learning rules or a sleep phase, which of them actually help? I built one agent, switched each mechanism on and off against a matched control, and measured the effect. The short answer, which I will justify over the next fourteen slides, is: mostly no, with two specific exceptions. Every number in this talk comes from the frozen results and is the same number that appears in the paper.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Continual learning means the agent learns tasks in sequence. In my setting the agent sees a small room with three objects and must fetch a different object in each task. With plain fine-tuning, learning the second and third tasks destroys the first: on the right, the naive agent's return on task 1 drops from about 0.98 to 0.05. Replay and sleep keep it near 1. The standard remedies are regularisation like EWC, replaying stored experience, or giving each task its own network. Brain-inspired remedies are popular, but papers usually add several at once, so it is hard to say which one did the work. That is the gap this project addresses.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research question is: which of these mechanisms actually helps, when each one is isolated? Each card shows a mechanism and the control it is compared against. The controls are chosen to remove the most obvious alternative explanation. For example, if STDP helps, is it because STDP is useful, or because any extra update of that size helps? So STDP is compared with a random update of exactly the same size. If sleep helps, is it because of sleep, or because it replays more old data? So sleep is compared with replay at the same number of replayed samples. The project was set up so that negative results are results, not failures.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strands of work. In continual RL, the standard baselines are EWC, replay, and parameter isolation; the CLEAR paper showed that replay with behavioural cloning is extremely strong, which is why it is my main comparator for sleep. Tadros and colleagues showed a sleep-like phase can recover forgotten tasks in classifiers; my sleep phase is inspired by that but is replay plus distillation in RL. On the spiking side, surrogate gradients make SNNs trainable, and recent work shows RL is sensitive to how they are set. Local rules like three-factor STDP, DFA and homeostasis are proposed as brain-like alternatives to backprop. The gap: they are usually tested together.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agent. The environment gives a 7 by 7 view of the room and the task ID. The encoder is a spiking network: three convolutional layers of leaky integrate-and-fire neurons, simulated for 4 time steps per frame; the control is an ordinary CNN with the same shape. Optionally a small Transformer attends over the last 4 frames. Actor-critic heads, one per task, are trained with PPO. For continual learning, the sleep variant alternates two phases: in the wake phase the agent learns the current task online; at the end of each task it stores 5,000 states in a replay buffer. Every 25 updates it sleeps: 700 offline gradient steps that distil its old policies from the buffer, with no environment interaction. Every part can be swapped independently, which is what makes the ablations possible.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experiments use MiniGrid. The continual sequences are fetch3 and fetch5, where the agent is told which task it is doing. DoorKey is used for the plasticity questions, and the Memory maps for the Transformer question. All agents are small and train with PPO on a CPU; in total the frozen results are 289 runs and about 110 CPU hours. The right-hand side is the part I want to stress. Each comparison keeps everything else equal, and in two places I matched a resource that is usually ignored: the number of replayed samples, and total memory including the replay buffer. The final tests were written down before the runs, with Holm correction where several tests share a family.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whole result on one slide. Three mechanisms had no effect beyond their control: STDP, which was indistinguishable from a random update of the same size; homeostasis with ordinary backprop, which looked positive but did not survive the multiple-comparison correction; and sleep, which removes forgetting but ties replay once the replay budget is matched. The spiking encoder is a trade-off: it works at fewer operations, but costs more CPU time to train and the energy savings are only an estimate. The two exceptions are homeostasis when the network is trained without backprop, and one shared network with a small replay buffer, which reaches a similar mean accuracy in less than half the memory, with only three seeds and a wide interval. The Transformer question could not be tested. The next slides go through each row.</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top row is the return on the first task as later tasks are learned; the bottom row is the average over tasks seen so far. Naive fine-tuning, in pink, forgets: its final accuracy on the 3-task CNN sequence is 0.555. Replay and sleep both remove almost all of that forgetting, reaching 0.970 and 0.978. On the SNN plus Transformer agent sleep originally looked slightly better than replay, but it was replaying 28 percent more data. In the pre-registered test with the replayed samples matched exactly, the difference is +0.017 [−0.026, +0.060], p = 0.415, with 8 seeds per arm. So in my implementation sleep is a way of scheduling replay, and at equal replay it is not better.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Isolation, one network per task, never forgets by construction, so the fair question is memory. Per parameter, the shared network looks 2.5–3.3 times more efficient, which is the usual way this is reported. But the shared network needs a replay buffer, and at the default 5,000 states per task the buffer outweighs the extra networks: isolation gets 1.8–2.9 times more accuracy per megabyte. The exception is a small buffer: on the SNN, sleep with 200 states per task reaches a similar mean accuracy to isolation, 0.838 against 0.833, in 0.89 instead of 1.92 megabytes, about 46 percent of the memory. But this is 3 seeds per arm, and the 95 percent interval for the difference runs from −0.167 to +0.177, so it is a similar mean, not evidence of equal accuracy.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DoorKey, a task where the encoder's learning matters. On the left, backprop is the learning signal. Adding stabilised, reward-modulated STDP does not beat a random update of the same size: the AUC difference is +0.033 [−0.260, +0.326], p = 0.818. Without stabilisation, STDP makes things worse through runaway firing. Homeostasis with backprop looked positive, raw p = 0.029, but not after Holm correction. On the right the encoder learns with direct feedback alignment instead of backprop. Here homeostasis clearly speeds up learning: AUC difference +0.326 [+0.101, +0.551], Holm p = 0.017. It solved 7/10 runs against 2/10, but that difference is not significant, so it makes DFA faster, not reliable. This is the first of the two exceptions.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compare encoders without RL noise, both were trained to copy a DoorKey teacher, with a penalty that trades operations for accuracy. Where both work, they are equally accurate. The difference is at the low end: the sparsified CNN collapses below about 33k operations per frame, while the SNN still works at 16.6k, with accuracy 0.986. So the SNN reaches a lower-operation regime, not higher accuracy. Two caveats: on the CPU I actually used, the SNN is 5.2 times slower to train, because it simulates several time steps; and the energy numbers are estimates that assume neuromorphic hardware, which I did not measure.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I think, the most useful part of the project. Six findings looked positive early on, and each shrank or disappeared once the right control was in place. Sleep beating replay came from three seeds and from sleep replaying more data. Shared weights looked far more efficient only because the replay buffer was not counted as memory. Sleep beating isolation on five tasks came from a training budget too small for fresh networks. The two homeostasis results came from small seed counts, and the Transformer result came from a benchmark that did not need memory at all. The common pattern: the effects shrank or disappeared once the seed counts, training budgets, replay budgets and memory accounting were made fair. The one that survived is the speed-up homeostasis gives DFA, in its area-under-the-curve, not its solve rate.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demo I will switch to the dashboard, which is a single offline HTML file built from the same frozen results. It shows the two CNN agents after learning all three tasks, in the same rooms, chosen before seeing the outcomes. The naive agent's first task-1 episode happens to succeed, but its average task-1 return over 100 evaluation episodes is only 0.126, while the sleep agent stays at 0.978. If time allows I will also run one live episode on the CPU with live_episode.py, first the naive agent, then the sleep agent, on task 0.</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limitations are real. The agent is told which task it is doing, the scale is small, many continual arms have only 3 seeds, the energy numbers are estimates, and the Transformer question is untested because no benchmark we tried both required memory and was learnable within budget. For future work, the most direct next step is a memory benchmark that agents can actually learn. The idea I find most promising is compressed replay: since the size of the replay buffer is what decides whether a shared network beats one network per task, making the buffer cheaper moves that trade-off directly, for example by storing quantised targets, fewer but better-chosen states, or a small generative model. This is an idea, not a result.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None of the brain-inspired mechanisms beat its matched control on accuracy or forgetting. There are two specific exceptions: homeostasis speeds up learning when the network is trained without backprop, and with a small replay buffer a shared network reaches a similar mean accuracy to one network per task in less than half the memory, although with three seeds that interval is wide. The broader lesson is methodological: in this project, effects shrank or disappeared once seed counts, training budgets, replay budgets and memory accounting were made fair; the speed-up homeostasis gives DFA is the one that survived. My suggestion for this field is to report and match those budgets. Thank you; I'm happy to take questions. There are backup slides with the full tables and references.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the full continual results table from the paper, final accuracy with standard deviation over seeds, and forgetting. Sleep, matched is the pre-registered budget-matched arm, run only on the SNN plus Transformer agent, where the replay budgets differed.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the exact pre-registered contrasts. The only effect that survives correction is the AUC effect of homeostasis under DFA, in the last row.</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the protocol constants, read from the stored run configurations (paper appendix A).</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the main references. The full list, with the verification status of each entry, is in paper/refs.bib.</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51514"/>
        </a:solidFill>
        <a:effectLst/>
      </p:bgPr>
    </p:bg>
    <p:spTree>
      <p:nvGrpSpPr>
        <p:cNvPr id="1" name=""/>
        <p:cNvGrpSpPr/>
        <p:nvPr/>
      </p:nvGrpSpPr>
      <p:grpSpPr/>
      <p:sp>
        <p:nvSpPr>
          <p:cNvPr id="2" name="TextBox 1"/>
          <p:cNvSpPr txBox="1"/>
          <p:nvPr/>
        </p:nvSpPr>
        <p:spPr>
          <a:xfrm>
            <a:off x="640080" y="914400"/>
            <a:ext cx="10058400" cy="365760"/>
          </a:xfrm>
          <a:prstGeom prst="rect">
            <a:avLst/>
          </a:prstGeom>
          <a:noFill/>
        </p:spPr>
        <p:txBody>
          <a:bodyPr wrap="square" anchor="t" lIns="0" rIns="0" tIns="0" bIns="0">
            <a:spAutoFit/>
          </a:bodyPr>
          <a:lstStyle/>
          <a:p>
            <a:pPr algn="l"/>
            <a:r>
              <a:rPr sz="1300" b="1" i="0">
                <a:solidFill>
                  <a:srgbClr val="9CC3F2"/>
                </a:solidFill>
                <a:latin typeface="Calibri"/>
              </a:rPr>
              <a:t>CAPSTONE PROJECT · FINAL REVIEW</a:t>
            </a:r>
          </a:p>
        </p:txBody>
      </p:sp>
      <p:sp>
        <p:nvSpPr>
          <p:cNvPr id="3" name="TextBox 2"/>
          <p:cNvSpPr txBox="1"/>
          <p:nvPr/>
        </p:nvSpPr>
        <p:spPr>
          <a:xfrm>
            <a:off x="640080" y="1371600"/>
            <a:ext cx="10607040" cy="1828800"/>
          </a:xfrm>
          <a:prstGeom prst="rect">
            <a:avLst/>
          </a:prstGeom>
          <a:noFill/>
        </p:spPr>
        <p:txBody>
          <a:bodyPr wrap="square" anchor="t" lIns="0" rIns="0" tIns="0" bIns="0">
            <a:spAutoFit/>
          </a:bodyPr>
          <a:lstStyle/>
          <a:p>
            <a:pPr algn="l">
              <a:lnSpc>
                <a:spcPct val="100000"/>
              </a:lnSpc>
            </a:pPr>
            <a:r>
              <a:rPr sz="4000" b="1" i="0">
                <a:solidFill>
                  <a:srgbClr val="FFFFFF"/>
                </a:solidFill>
                <a:latin typeface="Cambria"/>
              </a:rPr>
              <a:t>Do Brain-Inspired Mechanisms Help Continual Reinforcement Learning?</a:t>
            </a:r>
          </a:p>
        </p:txBody>
      </p:sp>
      <p:sp>
        <p:nvSpPr>
          <p:cNvPr id="4" name="TextBox 3"/>
          <p:cNvSpPr txBox="1"/>
          <p:nvPr/>
        </p:nvSpPr>
        <p:spPr>
          <a:xfrm>
            <a:off x="640080" y="3154680"/>
            <a:ext cx="10058400" cy="457200"/>
          </a:xfrm>
          <a:prstGeom prst="rect">
            <a:avLst/>
          </a:prstGeom>
          <a:noFill/>
        </p:spPr>
        <p:txBody>
          <a:bodyPr wrap="square" anchor="t" lIns="0" rIns="0" tIns="0" bIns="0">
            <a:spAutoFit/>
          </a:bodyPr>
          <a:lstStyle/>
          <a:p>
            <a:pPr algn="l"/>
            <a:r>
              <a:rPr sz="2200" b="0" i="0">
                <a:solidFill>
                  <a:srgbClr val="C3C2B7"/>
                </a:solidFill>
                <a:latin typeface="Calibri"/>
              </a:rPr>
              <a:t>A controlled ablation study with spiking agents</a:t>
            </a:r>
          </a:p>
        </p:txBody>
      </p:sp>
      <p:sp>
        <p:nvSpPr>
          <p:cNvPr id="5" name="TextBox 4"/>
          <p:cNvSpPr txBox="1"/>
          <p:nvPr/>
        </p:nvSpPr>
        <p:spPr>
          <a:xfrm>
            <a:off x="640080" y="4160520"/>
            <a:ext cx="6400800" cy="2194560"/>
          </a:xfrm>
          <a:prstGeom prst="rect">
            <a:avLst/>
          </a:prstGeom>
          <a:noFill/>
        </p:spPr>
        <p:txBody>
          <a:bodyPr wrap="square" anchor="t" lIns="0" rIns="0" tIns="0" bIns="0">
            <a:spAutoFit/>
          </a:bodyPr>
          <a:lstStyle/>
          <a:p>
            <a:pPr algn="l">
              <a:spcAft>
                <a:spcPts val="300"/>
              </a:spcAft>
            </a:pPr>
            <a:r>
              <a:rPr sz="1800" b="1" i="0">
                <a:solidFill>
                  <a:srgbClr val="FFFFFF"/>
                </a:solidFill>
                <a:latin typeface="Calibri"/>
              </a:rPr>
              <a:t>Vaibhav Tiwari</a:t>
            </a:r>
          </a:p>
          <a:p>
            <a:pPr algn="l">
              <a:spcAft>
                <a:spcPts val="300"/>
              </a:spcAft>
            </a:pPr>
            <a:r>
              <a:rPr sz="1500" b="0" i="0">
                <a:solidFill>
                  <a:srgbClr val="C3C2B7"/>
                </a:solidFill>
                <a:latin typeface="Calibri"/>
              </a:rPr>
              <a:t>Roll number: [to fill in]</a:t>
            </a:r>
          </a:p>
          <a:p>
            <a:pPr algn="l">
              <a:spcAft>
                <a:spcPts val="300"/>
              </a:spcAft>
            </a:pPr>
            <a:r>
              <a:rPr sz="1500" b="0" i="0">
                <a:solidFill>
                  <a:srgbClr val="C3C2B7"/>
                </a:solidFill>
                <a:latin typeface="Calibri"/>
              </a:rPr>
              <a:t>Guide: [to fill in]</a:t>
            </a:r>
          </a:p>
          <a:p>
            <a:pPr algn="l">
              <a:spcAft>
                <a:spcPts val="300"/>
              </a:spcAft>
            </a:pPr>
            <a:r>
              <a:rPr sz="1500" b="0" i="0">
                <a:solidFill>
                  <a:srgbClr val="C3C2B7"/>
                </a:solidFill>
                <a:latin typeface="Calibri"/>
              </a:rPr>
              <a:t>Department: [to fill in]</a:t>
            </a:r>
          </a:p>
          <a:p>
            <a:pPr algn="l">
              <a:spcAft>
                <a:spcPts val="300"/>
              </a:spcAft>
            </a:pPr>
            <a:r>
              <a:rPr sz="1500" b="0" i="0">
                <a:solidFill>
                  <a:srgbClr val="C3C2B7"/>
                </a:solidFill>
                <a:latin typeface="Calibri"/>
              </a:rPr>
              <a:t>Institution: [to fill in]</a:t>
            </a:r>
          </a:p>
          <a:p>
            <a:pPr algn="l">
              <a:spcAft>
                <a:spcPts val="300"/>
              </a:spcAft>
            </a:pPr>
            <a:r>
              <a:rPr sz="1500" b="0" i="0">
                <a:solidFill>
                  <a:srgbClr val="C3C2B7"/>
                </a:solidFill>
                <a:latin typeface="Calibri"/>
              </a:rPr>
              <a:t>Date: [to fill in]</a:t>
            </a:r>
          </a:p>
        </p:txBody>
      </p:sp>
      <p:sp>
        <p:nvSpPr>
          <p:cNvPr id="6" name="TextBox 5"/>
          <p:cNvSpPr txBox="1"/>
          <p:nvPr/>
        </p:nvSpPr>
        <p:spPr>
          <a:xfrm>
            <a:off x="548640" y="6446520"/>
            <a:ext cx="5486400" cy="274320"/>
          </a:xfrm>
          <a:prstGeom prst="rect">
            <a:avLst/>
          </a:prstGeom>
          <a:noFill/>
        </p:spPr>
        <p:txBody>
          <a:bodyPr wrap="square" anchor="t" lIns="0" rIns="0" tIns="0" bIns="0">
            <a:spAutoFit/>
          </a:bodyPr>
          <a:lstStyle/>
          <a:p>
            <a:pPr algn="l"/>
            <a:r>
              <a:rPr sz="1000" b="0" i="0">
                <a:solidFill>
                  <a:srgbClr val="8F8D86"/>
                </a:solidFill>
                <a:latin typeface="Calibri"/>
              </a:rPr>
              <a:t>NeuroPlast · final review</a:t>
            </a:r>
          </a:p>
        </p:txBody>
      </p:sp>
      <p:sp>
        <p:nvSpPr>
          <p:cNvPr id="7" name="TextBox 6"/>
          <p:cNvSpPr txBox="1"/>
          <p:nvPr/>
        </p:nvSpPr>
        <p:spPr>
          <a:xfrm>
            <a:off x="9814255" y="6446520"/>
            <a:ext cx="1828800" cy="274320"/>
          </a:xfrm>
          <a:prstGeom prst="rect">
            <a:avLst/>
          </a:prstGeom>
          <a:noFill/>
        </p:spPr>
        <p:txBody>
          <a:bodyPr wrap="square" anchor="t" lIns="0" rIns="0" tIns="0" bIns="0">
            <a:spAutoFit/>
          </a:bodyPr>
          <a:lstStyle/>
          <a:p>
            <a:pPr algn="r"/>
            <a:r>
              <a:rPr sz="1000" b="0" i="0">
                <a:solidFill>
                  <a:srgbClr val="8F8D86"/>
                </a:solidFill>
                <a:latin typeface="Calibri"/>
              </a:rPr>
              <a:t>1 / 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320040"/>
          </a:xfrm>
          <a:prstGeom prst="rect">
            <a:avLst/>
          </a:prstGeom>
          <a:noFill/>
        </p:spPr>
        <p:txBody>
          <a:bodyPr wrap="square" anchor="t" lIns="0" rIns="0" tIns="0" bIns="0">
            <a:spAutoFit/>
          </a:bodyPr>
          <a:lstStyle/>
          <a:p>
            <a:pPr algn="l"/>
            <a:r>
              <a:rPr sz="1200" b="1" i="0">
                <a:solidFill>
                  <a:srgbClr val="2A78D6"/>
                </a:solidFill>
                <a:latin typeface="Calibri"/>
              </a:rPr>
              <a:t>THE PROBLEM</a:t>
            </a:r>
          </a:p>
        </p:txBody>
      </p:sp>
      <p:sp>
        <p:nvSpPr>
          <p:cNvPr id="3" name="TextBox 2"/>
          <p:cNvSpPr txBox="1"/>
          <p:nvPr/>
        </p:nvSpPr>
        <p:spPr>
          <a:xfrm>
            <a:off x="548640" y="740664"/>
            <a:ext cx="11094415" cy="822960"/>
          </a:xfrm>
          <a:prstGeom prst="rect">
            <a:avLst/>
          </a:prstGeom>
          <a:noFill/>
        </p:spPr>
        <p:txBody>
          <a:bodyPr wrap="square" anchor="t" lIns="0" rIns="0" tIns="0" bIns="0">
            <a:spAutoFit/>
          </a:bodyPr>
          <a:lstStyle/>
          <a:p>
            <a:pPr algn="l"/>
            <a:r>
              <a:rPr sz="3000" b="1" i="0">
                <a:solidFill>
                  <a:srgbClr val="151514"/>
                </a:solidFill>
                <a:latin typeface="Cambria"/>
              </a:rPr>
              <a:t>Learning a new task erases the old one</a:t>
            </a:r>
          </a:p>
        </p:txBody>
      </p:sp>
      <p:sp>
        <p:nvSpPr>
          <p:cNvPr id="4" name="TextBox 3"/>
          <p:cNvSpPr txBox="1"/>
          <p:nvPr/>
        </p:nvSpPr>
        <p:spPr>
          <a:xfrm>
            <a:off x="548640" y="1737360"/>
            <a:ext cx="5120640" cy="4114800"/>
          </a:xfrm>
          <a:prstGeom prst="rect">
            <a:avLst/>
          </a:prstGeom>
          <a:noFill/>
        </p:spPr>
        <p:txBody>
          <a:bodyPr wrap="square" anchor="t" lIns="0" rIns="0" tIns="0" bIns="0">
            <a:spAutoFit/>
          </a:bodyPr>
          <a:lstStyle/>
          <a:p>
            <a:pPr algn="l" marL="256032" indent="-201168">
              <a:spcAft>
                <a:spcPts val="1000"/>
              </a:spcAft>
              <a:buClr>
                <a:srgbClr val="85837D"/>
              </a:buClr>
              <a:buFont typeface="Arial"/>
              <a:buChar char="•"/>
            </a:pPr>
            <a:r>
              <a:rPr sz="1700" b="0" i="0">
                <a:solidFill>
                  <a:srgbClr val="151514"/>
                </a:solidFill>
                <a:latin typeface="Calibri"/>
              </a:rPr>
              <a:t>An agent learns tasks one after another: fetch the red ball, then the green key, then the blue box</a:t>
            </a:r>
          </a:p>
          <a:p>
            <a:pPr algn="l" marL="256032" indent="-201168">
              <a:spcAft>
                <a:spcPts val="1000"/>
              </a:spcAft>
              <a:buClr>
                <a:srgbClr val="85837D"/>
              </a:buClr>
              <a:buFont typeface="Arial"/>
              <a:buChar char="•"/>
            </a:pPr>
            <a:r>
              <a:rPr sz="1700" b="0" i="0">
                <a:solidFill>
                  <a:srgbClr val="151514"/>
                </a:solidFill>
                <a:latin typeface="Calibri"/>
              </a:rPr>
              <a:t>Plain fine-tuning overwrites what earlier tasks needed: catastrophic forgetting</a:t>
            </a:r>
          </a:p>
          <a:p>
            <a:pPr algn="l" marL="256032" indent="-201168">
              <a:spcAft>
                <a:spcPts val="1000"/>
              </a:spcAft>
              <a:buClr>
                <a:srgbClr val="85837D"/>
              </a:buClr>
              <a:buFont typeface="Arial"/>
              <a:buChar char="•"/>
            </a:pPr>
            <a:r>
              <a:rPr sz="1700" b="0" i="0">
                <a:solidFill>
                  <a:srgbClr val="151514"/>
                </a:solidFill>
                <a:latin typeface="Calibri"/>
              </a:rPr>
              <a:t>Standard fixes: penalise weight changes (EWC), replay stored experience, or one network per task</a:t>
            </a:r>
          </a:p>
          <a:p>
            <a:pPr algn="l" marL="256032" indent="-201168">
              <a:spcAft>
                <a:spcPts val="1000"/>
              </a:spcAft>
              <a:buClr>
                <a:srgbClr val="85837D"/>
              </a:buClr>
              <a:buFont typeface="Arial"/>
              <a:buChar char="•"/>
            </a:pPr>
            <a:r>
              <a:rPr sz="1700" b="0" i="0">
                <a:solidFill>
                  <a:srgbClr val="151514"/>
                </a:solidFill>
                <a:latin typeface="Calibri"/>
              </a:rPr>
              <a:t>Brain-inspired fixes (spikes, local plasticity, sleep) are popular, but are usually added all at once</a:t>
            </a:r>
          </a:p>
        </p:txBody>
      </p:sp>
      <p:sp>
        <p:nvSpPr>
          <p:cNvPr id="5" name="Rounded Rectangle 4"/>
          <p:cNvSpPr/>
          <p:nvPr/>
        </p:nvSpPr>
        <p:spPr>
          <a:xfrm>
            <a:off x="6172200" y="1691640"/>
            <a:ext cx="5486400" cy="4343400"/>
          </a:xfrm>
          <a:prstGeom prst="roundRect">
            <a:avLst>
              <a:gd name="adj" fmla="val 5000"/>
            </a:avLst>
          </a:prstGeom>
          <a:solidFill>
            <a:srgbClr val="FA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400800" y="1828800"/>
            <a:ext cx="5120640" cy="365760"/>
          </a:xfrm>
          <a:prstGeom prst="rect">
            <a:avLst/>
          </a:prstGeom>
          <a:noFill/>
        </p:spPr>
        <p:txBody>
          <a:bodyPr wrap="square" anchor="t" lIns="0" rIns="0" tIns="0" bIns="0">
            <a:spAutoFit/>
          </a:bodyPr>
          <a:lstStyle/>
          <a:p>
            <a:pPr algn="l"/>
            <a:r>
              <a:rPr sz="1500" b="1" i="0">
                <a:solidFill>
                  <a:srgbClr val="151514"/>
                </a:solidFill>
                <a:latin typeface="Calibri"/>
              </a:rPr>
              <a:t>Return on task 1 as later tasks are learned</a:t>
            </a:r>
          </a:p>
        </p:txBody>
      </p:sp>
      <p:sp>
        <p:nvSpPr>
          <p:cNvPr id="7" name="TextBox 6"/>
          <p:cNvSpPr txBox="1"/>
          <p:nvPr/>
        </p:nvSpPr>
        <p:spPr>
          <a:xfrm>
            <a:off x="6400800" y="2148840"/>
            <a:ext cx="5120640" cy="320040"/>
          </a:xfrm>
          <a:prstGeom prst="rect">
            <a:avLst/>
          </a:prstGeom>
          <a:noFill/>
        </p:spPr>
        <p:txBody>
          <a:bodyPr wrap="square" anchor="t" lIns="0" rIns="0" tIns="0" bIns="0">
            <a:spAutoFit/>
          </a:bodyPr>
          <a:lstStyle/>
          <a:p>
            <a:pPr algn="l"/>
            <a:r>
              <a:rPr sz="1200" b="0" i="0">
                <a:solidFill>
                  <a:srgbClr val="85837D"/>
                </a:solidFill>
                <a:latin typeface="Calibri"/>
              </a:rPr>
              <a:t>CNN agent, 3 tasks, mean of 3 seeds; replay (dashed) and sleep overlap near 1.0</a:t>
            </a:r>
          </a:p>
        </p:txBody>
      </p:sp>
      <p:graphicFrame>
        <p:nvGraphicFramePr>
          <p:cNvPr id="8" name="Chart 7"/>
          <p:cNvGraphicFramePr>
            <a:graphicFrameLocks noGrp="1"/>
          </p:cNvGraphicFramePr>
          <p:nvPr/>
        </p:nvGraphicFramePr>
        <p:xfrm>
          <a:off x="6309360" y="2468880"/>
          <a:ext cx="5212080" cy="3474720"/>
        </p:xfrm>
        <a:graphic>
          <a:graphicData uri="http://schemas.openxmlformats.org/drawingml/2006/chart">
            <c:chart xmlns:c="http://schemas.openxmlformats.org/drawingml/2006/chart" r:id="rId2"/>
          </a:graphicData>
        </a:graphic>
      </p:graphicFrame>
      <p:sp>
        <p:nvSpPr>
          <p:cNvPr id="9" name="TextBox 8"/>
          <p:cNvSpPr txBox="1"/>
          <p:nvPr/>
        </p:nvSpPr>
        <p:spPr>
          <a:xfrm>
            <a:off x="548640" y="6446520"/>
            <a:ext cx="5486400" cy="274320"/>
          </a:xfrm>
          <a:prstGeom prst="rect">
            <a:avLst/>
          </a:prstGeom>
          <a:noFill/>
        </p:spPr>
        <p:txBody>
          <a:bodyPr wrap="square" anchor="t" lIns="0" rIns="0" tIns="0" bIns="0">
            <a:spAutoFit/>
          </a:bodyPr>
          <a:lstStyle/>
          <a:p>
            <a:pPr algn="l"/>
            <a:r>
              <a:rPr sz="1000" b="0" i="0">
                <a:solidFill>
                  <a:srgbClr val="85837D"/>
                </a:solidFill>
                <a:latin typeface="Calibri"/>
              </a:rPr>
              <a:t>NeuroPlast · final review</a:t>
            </a:r>
          </a:p>
        </p:txBody>
      </p:sp>
      <p:sp>
        <p:nvSpPr>
          <p:cNvPr id="10" name="TextBox 9"/>
          <p:cNvSpPr txBox="1"/>
          <p:nvPr/>
        </p:nvSpPr>
        <p:spPr>
          <a:xfrm>
            <a:off x="9814255" y="6446520"/>
            <a:ext cx="1828800" cy="274320"/>
          </a:xfrm>
          <a:prstGeom prst="rect">
            <a:avLst/>
          </a:prstGeom>
          <a:noFill/>
        </p:spPr>
        <p:txBody>
          <a:bodyPr wrap="square" anchor="t" lIns="0" rIns="0" tIns="0" bIns="0">
            <a:spAutoFit/>
          </a:bodyPr>
          <a:lstStyle/>
          <a:p>
            <a:pPr algn="r"/>
            <a:r>
              <a:rPr sz="1000" b="0" i="0">
                <a:solidFill>
                  <a:srgbClr val="85837D"/>
                </a:solidFill>
                <a:latin typeface="Calibri"/>
              </a:rPr>
              <a:t>2 / 15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320040"/>
          </a:xfrm>
          <a:prstGeom prst="rect">
            <a:avLst/>
          </a:prstGeom>
          <a:noFill/>
        </p:spPr>
        <p:txBody>
          <a:bodyPr wrap="square" anchor="t" lIns="0" rIns="0" tIns="0" bIns="0">
            <a:spAutoFit/>
          </a:bodyPr>
          <a:lstStyle/>
          <a:p>
            <a:pPr algn="l"/>
            <a:r>
              <a:rPr sz="1200" b="1" i="0">
                <a:solidFill>
                  <a:srgbClr val="2A78D6"/>
                </a:solidFill>
                <a:latin typeface="Calibri"/>
              </a:rPr>
              <a:t>RESEARCH QUESTION</a:t>
            </a:r>
          </a:p>
        </p:txBody>
      </p:sp>
      <p:sp>
        <p:nvSpPr>
          <p:cNvPr id="3" name="TextBox 2"/>
          <p:cNvSpPr txBox="1"/>
          <p:nvPr/>
        </p:nvSpPr>
        <p:spPr>
          <a:xfrm>
            <a:off x="548640" y="740664"/>
            <a:ext cx="11094415" cy="822960"/>
          </a:xfrm>
          <a:prstGeom prst="rect">
            <a:avLst/>
          </a:prstGeom>
          <a:noFill/>
        </p:spPr>
        <p:txBody>
          <a:bodyPr wrap="square" anchor="t" lIns="0" rIns="0" tIns="0" bIns="0">
            <a:spAutoFit/>
          </a:bodyPr>
          <a:lstStyle/>
          <a:p>
            <a:pPr algn="l"/>
            <a:r>
              <a:rPr sz="3000" b="1" i="0">
                <a:solidFill>
                  <a:srgbClr val="151514"/>
                </a:solidFill>
                <a:latin typeface="Cambria"/>
              </a:rPr>
              <a:t>Which brain-inspired mechanisms actually help?</a:t>
            </a:r>
          </a:p>
        </p:txBody>
      </p:sp>
      <p:sp>
        <p:nvSpPr>
          <p:cNvPr id="4" name="TextBox 3"/>
          <p:cNvSpPr txBox="1"/>
          <p:nvPr/>
        </p:nvSpPr>
        <p:spPr>
          <a:xfrm>
            <a:off x="548640" y="1783080"/>
            <a:ext cx="11094415" cy="731520"/>
          </a:xfrm>
          <a:prstGeom prst="rect">
            <a:avLst/>
          </a:prstGeom>
          <a:noFill/>
        </p:spPr>
        <p:txBody>
          <a:bodyPr wrap="square" anchor="t" lIns="0" rIns="0" tIns="0" bIns="0">
            <a:spAutoFit/>
          </a:bodyPr>
          <a:lstStyle/>
          <a:p>
            <a:pPr algn="l"/>
            <a:r>
              <a:rPr sz="1800" b="0" i="0">
                <a:solidFill>
                  <a:srgbClr val="52514E"/>
                </a:solidFill>
                <a:latin typeface="Calibri"/>
              </a:rPr>
              <a:t>Switch each mechanism on alone and compare it with a control that is not brain-inspired but matches its resources.</a:t>
            </a:r>
          </a:p>
        </p:txBody>
      </p:sp>
      <p:sp>
        <p:nvSpPr>
          <p:cNvPr id="5" name="Rounded Rectangle 4"/>
          <p:cNvSpPr/>
          <p:nvPr/>
        </p:nvSpPr>
        <p:spPr>
          <a:xfrm>
            <a:off x="548640" y="2560320"/>
            <a:ext cx="2624328" cy="1371600"/>
          </a:xfrm>
          <a:prstGeom prst="roundRect">
            <a:avLst>
              <a:gd name="adj" fmla="val 10000"/>
            </a:avLst>
          </a:prstGeom>
          <a:solidFill>
            <a:srgbClr val="F4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31520" y="2688336"/>
            <a:ext cx="2258568" cy="566928"/>
          </a:xfrm>
          <a:prstGeom prst="rect">
            <a:avLst/>
          </a:prstGeom>
          <a:noFill/>
        </p:spPr>
        <p:txBody>
          <a:bodyPr wrap="square" anchor="t" lIns="0" rIns="0" tIns="0" bIns="0">
            <a:spAutoFit/>
          </a:bodyPr>
          <a:lstStyle/>
          <a:p>
            <a:pPr algn="l">
              <a:lnSpc>
                <a:spcPct val="95000"/>
              </a:lnSpc>
            </a:pPr>
            <a:r>
              <a:rPr sz="1500" b="1" i="0">
                <a:solidFill>
                  <a:srgbClr val="151514"/>
                </a:solidFill>
                <a:latin typeface="Calibri"/>
              </a:rPr>
              <a:t>Spiking encoder</a:t>
            </a:r>
          </a:p>
        </p:txBody>
      </p:sp>
      <p:sp>
        <p:nvSpPr>
          <p:cNvPr id="7" name="TextBox 6"/>
          <p:cNvSpPr txBox="1"/>
          <p:nvPr/>
        </p:nvSpPr>
        <p:spPr>
          <a:xfrm>
            <a:off x="731520" y="3291839"/>
            <a:ext cx="2258568" cy="603504"/>
          </a:xfrm>
          <a:prstGeom prst="rect">
            <a:avLst/>
          </a:prstGeom>
          <a:noFill/>
        </p:spPr>
        <p:txBody>
          <a:bodyPr wrap="square" anchor="t" lIns="0" rIns="0" tIns="0" bIns="0">
            <a:spAutoFit/>
          </a:bodyPr>
          <a:lstStyle/>
          <a:p>
            <a:pPr algn="l"/>
            <a:r>
              <a:rPr sz="1300" b="1" i="0">
                <a:solidFill>
                  <a:srgbClr val="2A78D6"/>
                </a:solidFill>
                <a:latin typeface="Calibri"/>
              </a:rPr>
              <a:t>vs  </a:t>
            </a:r>
            <a:r>
              <a:rPr sz="1300" b="0" i="0">
                <a:solidFill>
                  <a:srgbClr val="52514E"/>
                </a:solidFill>
                <a:latin typeface="Calibri"/>
              </a:rPr>
              <a:t>same-shape CNN, matched operations</a:t>
            </a:r>
          </a:p>
        </p:txBody>
      </p:sp>
      <p:sp>
        <p:nvSpPr>
          <p:cNvPr id="8" name="Rounded Rectangle 7"/>
          <p:cNvSpPr/>
          <p:nvPr/>
        </p:nvSpPr>
        <p:spPr>
          <a:xfrm>
            <a:off x="3401568" y="2560320"/>
            <a:ext cx="2624328" cy="1371600"/>
          </a:xfrm>
          <a:prstGeom prst="roundRect">
            <a:avLst>
              <a:gd name="adj" fmla="val 10000"/>
            </a:avLst>
          </a:prstGeom>
          <a:solidFill>
            <a:srgbClr val="F4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584448" y="2688336"/>
            <a:ext cx="2258568" cy="566928"/>
          </a:xfrm>
          <a:prstGeom prst="rect">
            <a:avLst/>
          </a:prstGeom>
          <a:noFill/>
        </p:spPr>
        <p:txBody>
          <a:bodyPr wrap="square" anchor="t" lIns="0" rIns="0" tIns="0" bIns="0">
            <a:spAutoFit/>
          </a:bodyPr>
          <a:lstStyle/>
          <a:p>
            <a:pPr algn="l">
              <a:lnSpc>
                <a:spcPct val="95000"/>
              </a:lnSpc>
            </a:pPr>
            <a:r>
              <a:rPr sz="1500" b="1" i="0">
                <a:solidFill>
                  <a:srgbClr val="151514"/>
                </a:solidFill>
                <a:latin typeface="Calibri"/>
              </a:rPr>
              <a:t>STDP (local plasticity)</a:t>
            </a:r>
          </a:p>
        </p:txBody>
      </p:sp>
      <p:sp>
        <p:nvSpPr>
          <p:cNvPr id="10" name="TextBox 9"/>
          <p:cNvSpPr txBox="1"/>
          <p:nvPr/>
        </p:nvSpPr>
        <p:spPr>
          <a:xfrm>
            <a:off x="3584448" y="3291839"/>
            <a:ext cx="2258568" cy="603504"/>
          </a:xfrm>
          <a:prstGeom prst="rect">
            <a:avLst/>
          </a:prstGeom>
          <a:noFill/>
        </p:spPr>
        <p:txBody>
          <a:bodyPr wrap="square" anchor="t" lIns="0" rIns="0" tIns="0" bIns="0">
            <a:spAutoFit/>
          </a:bodyPr>
          <a:lstStyle/>
          <a:p>
            <a:pPr algn="l"/>
            <a:r>
              <a:rPr sz="1300" b="1" i="0">
                <a:solidFill>
                  <a:srgbClr val="2A78D6"/>
                </a:solidFill>
                <a:latin typeface="Calibri"/>
              </a:rPr>
              <a:t>vs  </a:t>
            </a:r>
            <a:r>
              <a:rPr sz="1300" b="0" i="0">
                <a:solidFill>
                  <a:srgbClr val="52514E"/>
                </a:solidFill>
                <a:latin typeface="Calibri"/>
              </a:rPr>
              <a:t>a random update of the same size</a:t>
            </a:r>
          </a:p>
        </p:txBody>
      </p:sp>
      <p:sp>
        <p:nvSpPr>
          <p:cNvPr id="11" name="Rounded Rectangle 10"/>
          <p:cNvSpPr/>
          <p:nvPr/>
        </p:nvSpPr>
        <p:spPr>
          <a:xfrm>
            <a:off x="6254496" y="2560320"/>
            <a:ext cx="2624328" cy="1371600"/>
          </a:xfrm>
          <a:prstGeom prst="roundRect">
            <a:avLst>
              <a:gd name="adj" fmla="val 10000"/>
            </a:avLst>
          </a:prstGeom>
          <a:solidFill>
            <a:srgbClr val="F4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437376" y="2688336"/>
            <a:ext cx="2258568" cy="566928"/>
          </a:xfrm>
          <a:prstGeom prst="rect">
            <a:avLst/>
          </a:prstGeom>
          <a:noFill/>
        </p:spPr>
        <p:txBody>
          <a:bodyPr wrap="square" anchor="t" lIns="0" rIns="0" tIns="0" bIns="0">
            <a:spAutoFit/>
          </a:bodyPr>
          <a:lstStyle/>
          <a:p>
            <a:pPr algn="l">
              <a:lnSpc>
                <a:spcPct val="95000"/>
              </a:lnSpc>
            </a:pPr>
            <a:r>
              <a:rPr sz="1500" b="1" i="0">
                <a:solidFill>
                  <a:srgbClr val="151514"/>
                </a:solidFill>
                <a:latin typeface="Calibri"/>
              </a:rPr>
              <a:t>Homeostasis</a:t>
            </a:r>
          </a:p>
        </p:txBody>
      </p:sp>
      <p:sp>
        <p:nvSpPr>
          <p:cNvPr id="13" name="TextBox 12"/>
          <p:cNvSpPr txBox="1"/>
          <p:nvPr/>
        </p:nvSpPr>
        <p:spPr>
          <a:xfrm>
            <a:off x="6437376" y="3291839"/>
            <a:ext cx="2258568" cy="603504"/>
          </a:xfrm>
          <a:prstGeom prst="rect">
            <a:avLst/>
          </a:prstGeom>
          <a:noFill/>
        </p:spPr>
        <p:txBody>
          <a:bodyPr wrap="square" anchor="t" lIns="0" rIns="0" tIns="0" bIns="0">
            <a:spAutoFit/>
          </a:bodyPr>
          <a:lstStyle/>
          <a:p>
            <a:pPr algn="l"/>
            <a:r>
              <a:rPr sz="1300" b="1" i="0">
                <a:solidFill>
                  <a:srgbClr val="2A78D6"/>
                </a:solidFill>
                <a:latin typeface="Calibri"/>
              </a:rPr>
              <a:t>vs  </a:t>
            </a:r>
            <a:r>
              <a:rPr sz="1300" b="0" i="0">
                <a:solidFill>
                  <a:srgbClr val="52514E"/>
                </a:solidFill>
                <a:latin typeface="Calibri"/>
              </a:rPr>
              <a:t>the same agent without it</a:t>
            </a:r>
          </a:p>
        </p:txBody>
      </p:sp>
      <p:sp>
        <p:nvSpPr>
          <p:cNvPr id="14" name="Rounded Rectangle 13"/>
          <p:cNvSpPr/>
          <p:nvPr/>
        </p:nvSpPr>
        <p:spPr>
          <a:xfrm>
            <a:off x="9107424" y="2560320"/>
            <a:ext cx="2624328" cy="1371600"/>
          </a:xfrm>
          <a:prstGeom prst="roundRect">
            <a:avLst>
              <a:gd name="adj" fmla="val 10000"/>
            </a:avLst>
          </a:prstGeom>
          <a:solidFill>
            <a:srgbClr val="F4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290303" y="2688336"/>
            <a:ext cx="2258568" cy="566928"/>
          </a:xfrm>
          <a:prstGeom prst="rect">
            <a:avLst/>
          </a:prstGeom>
          <a:noFill/>
        </p:spPr>
        <p:txBody>
          <a:bodyPr wrap="square" anchor="t" lIns="0" rIns="0" tIns="0" bIns="0">
            <a:spAutoFit/>
          </a:bodyPr>
          <a:lstStyle/>
          <a:p>
            <a:pPr algn="l">
              <a:lnSpc>
                <a:spcPct val="95000"/>
              </a:lnSpc>
            </a:pPr>
            <a:r>
              <a:rPr sz="1500" b="1" i="0">
                <a:solidFill>
                  <a:srgbClr val="151514"/>
                </a:solidFill>
                <a:latin typeface="Calibri"/>
              </a:rPr>
              <a:t>DFA: learning without backprop</a:t>
            </a:r>
          </a:p>
        </p:txBody>
      </p:sp>
      <p:sp>
        <p:nvSpPr>
          <p:cNvPr id="16" name="TextBox 15"/>
          <p:cNvSpPr txBox="1"/>
          <p:nvPr/>
        </p:nvSpPr>
        <p:spPr>
          <a:xfrm>
            <a:off x="9290303" y="3291839"/>
            <a:ext cx="2258568" cy="603504"/>
          </a:xfrm>
          <a:prstGeom prst="rect">
            <a:avLst/>
          </a:prstGeom>
          <a:noFill/>
        </p:spPr>
        <p:txBody>
          <a:bodyPr wrap="square" anchor="t" lIns="0" rIns="0" tIns="0" bIns="0">
            <a:spAutoFit/>
          </a:bodyPr>
          <a:lstStyle/>
          <a:p>
            <a:pPr algn="l"/>
            <a:r>
              <a:rPr sz="1300" b="1" i="0">
                <a:solidFill>
                  <a:srgbClr val="2A78D6"/>
                </a:solidFill>
                <a:latin typeface="Calibri"/>
              </a:rPr>
              <a:t>vs  </a:t>
            </a:r>
            <a:r>
              <a:rPr sz="1300" b="0" i="0">
                <a:solidFill>
                  <a:srgbClr val="52514E"/>
                </a:solidFill>
                <a:latin typeface="Calibri"/>
              </a:rPr>
              <a:t>ordinary backpropagation</a:t>
            </a:r>
          </a:p>
        </p:txBody>
      </p:sp>
      <p:sp>
        <p:nvSpPr>
          <p:cNvPr id="17" name="Rounded Rectangle 16"/>
          <p:cNvSpPr/>
          <p:nvPr/>
        </p:nvSpPr>
        <p:spPr>
          <a:xfrm>
            <a:off x="1975104" y="4133087"/>
            <a:ext cx="2624328" cy="1371600"/>
          </a:xfrm>
          <a:prstGeom prst="roundRect">
            <a:avLst>
              <a:gd name="adj" fmla="val 10000"/>
            </a:avLst>
          </a:prstGeom>
          <a:solidFill>
            <a:srgbClr val="F4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2157984" y="4261103"/>
            <a:ext cx="2258568" cy="566928"/>
          </a:xfrm>
          <a:prstGeom prst="rect">
            <a:avLst/>
          </a:prstGeom>
          <a:noFill/>
        </p:spPr>
        <p:txBody>
          <a:bodyPr wrap="square" anchor="t" lIns="0" rIns="0" tIns="0" bIns="0">
            <a:spAutoFit/>
          </a:bodyPr>
          <a:lstStyle/>
          <a:p>
            <a:pPr algn="l">
              <a:lnSpc>
                <a:spcPct val="95000"/>
              </a:lnSpc>
            </a:pPr>
            <a:r>
              <a:rPr sz="1500" b="1" i="0">
                <a:solidFill>
                  <a:srgbClr val="151514"/>
                </a:solidFill>
                <a:latin typeface="Calibri"/>
              </a:rPr>
              <a:t>Sleep-like consolidation</a:t>
            </a:r>
          </a:p>
        </p:txBody>
      </p:sp>
      <p:sp>
        <p:nvSpPr>
          <p:cNvPr id="19" name="TextBox 18"/>
          <p:cNvSpPr txBox="1"/>
          <p:nvPr/>
        </p:nvSpPr>
        <p:spPr>
          <a:xfrm>
            <a:off x="2157984" y="4864607"/>
            <a:ext cx="2258568" cy="603504"/>
          </a:xfrm>
          <a:prstGeom prst="rect">
            <a:avLst/>
          </a:prstGeom>
          <a:noFill/>
        </p:spPr>
        <p:txBody>
          <a:bodyPr wrap="square" anchor="t" lIns="0" rIns="0" tIns="0" bIns="0">
            <a:spAutoFit/>
          </a:bodyPr>
          <a:lstStyle/>
          <a:p>
            <a:pPr algn="l"/>
            <a:r>
              <a:rPr sz="1300" b="1" i="0">
                <a:solidFill>
                  <a:srgbClr val="2A78D6"/>
                </a:solidFill>
                <a:latin typeface="Calibri"/>
              </a:rPr>
              <a:t>vs  </a:t>
            </a:r>
            <a:r>
              <a:rPr sz="1300" b="0" i="0">
                <a:solidFill>
                  <a:srgbClr val="52514E"/>
                </a:solidFill>
                <a:latin typeface="Calibri"/>
              </a:rPr>
              <a:t>replay with an exactly matched replay budget</a:t>
            </a:r>
          </a:p>
        </p:txBody>
      </p:sp>
      <p:sp>
        <p:nvSpPr>
          <p:cNvPr id="20" name="Rounded Rectangle 19"/>
          <p:cNvSpPr/>
          <p:nvPr/>
        </p:nvSpPr>
        <p:spPr>
          <a:xfrm>
            <a:off x="4828032" y="4133087"/>
            <a:ext cx="2624328" cy="1371600"/>
          </a:xfrm>
          <a:prstGeom prst="roundRect">
            <a:avLst>
              <a:gd name="adj" fmla="val 10000"/>
            </a:avLst>
          </a:prstGeom>
          <a:solidFill>
            <a:srgbClr val="F4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010912" y="4261103"/>
            <a:ext cx="2258568" cy="566928"/>
          </a:xfrm>
          <a:prstGeom prst="rect">
            <a:avLst/>
          </a:prstGeom>
          <a:noFill/>
        </p:spPr>
        <p:txBody>
          <a:bodyPr wrap="square" anchor="t" lIns="0" rIns="0" tIns="0" bIns="0">
            <a:spAutoFit/>
          </a:bodyPr>
          <a:lstStyle/>
          <a:p>
            <a:pPr algn="l">
              <a:lnSpc>
                <a:spcPct val="95000"/>
              </a:lnSpc>
            </a:pPr>
            <a:r>
              <a:rPr sz="1500" b="1" i="0">
                <a:solidFill>
                  <a:srgbClr val="151514"/>
                </a:solidFill>
                <a:latin typeface="Calibri"/>
              </a:rPr>
              <a:t>One shared network</a:t>
            </a:r>
          </a:p>
        </p:txBody>
      </p:sp>
      <p:sp>
        <p:nvSpPr>
          <p:cNvPr id="22" name="TextBox 21"/>
          <p:cNvSpPr txBox="1"/>
          <p:nvPr/>
        </p:nvSpPr>
        <p:spPr>
          <a:xfrm>
            <a:off x="5010912" y="4864607"/>
            <a:ext cx="2258568" cy="603504"/>
          </a:xfrm>
          <a:prstGeom prst="rect">
            <a:avLst/>
          </a:prstGeom>
          <a:noFill/>
        </p:spPr>
        <p:txBody>
          <a:bodyPr wrap="square" anchor="t" lIns="0" rIns="0" tIns="0" bIns="0">
            <a:spAutoFit/>
          </a:bodyPr>
          <a:lstStyle/>
          <a:p>
            <a:pPr algn="l"/>
            <a:r>
              <a:rPr sz="1300" b="1" i="0">
                <a:solidFill>
                  <a:srgbClr val="2A78D6"/>
                </a:solidFill>
                <a:latin typeface="Calibri"/>
              </a:rPr>
              <a:t>vs  </a:t>
            </a:r>
            <a:r>
              <a:rPr sz="1300" b="0" i="0">
                <a:solidFill>
                  <a:srgbClr val="52514E"/>
                </a:solidFill>
                <a:latin typeface="Calibri"/>
              </a:rPr>
              <a:t>one network per task, at equal total memory</a:t>
            </a:r>
          </a:p>
        </p:txBody>
      </p:sp>
      <p:sp>
        <p:nvSpPr>
          <p:cNvPr id="23" name="Rounded Rectangle 22"/>
          <p:cNvSpPr/>
          <p:nvPr/>
        </p:nvSpPr>
        <p:spPr>
          <a:xfrm>
            <a:off x="7680960" y="4133087"/>
            <a:ext cx="2624328" cy="1371600"/>
          </a:xfrm>
          <a:prstGeom prst="roundRect">
            <a:avLst>
              <a:gd name="adj" fmla="val 10000"/>
            </a:avLst>
          </a:prstGeom>
          <a:solidFill>
            <a:srgbClr val="F4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863840" y="4261103"/>
            <a:ext cx="2258568" cy="566928"/>
          </a:xfrm>
          <a:prstGeom prst="rect">
            <a:avLst/>
          </a:prstGeom>
          <a:noFill/>
        </p:spPr>
        <p:txBody>
          <a:bodyPr wrap="square" anchor="t" lIns="0" rIns="0" tIns="0" bIns="0">
            <a:spAutoFit/>
          </a:bodyPr>
          <a:lstStyle/>
          <a:p>
            <a:pPr algn="l">
              <a:lnSpc>
                <a:spcPct val="95000"/>
              </a:lnSpc>
            </a:pPr>
            <a:r>
              <a:rPr sz="1500" b="1" i="0">
                <a:solidFill>
                  <a:srgbClr val="151514"/>
                </a:solidFill>
                <a:latin typeface="Calibri"/>
              </a:rPr>
              <a:t>Transformer working memory</a:t>
            </a:r>
          </a:p>
        </p:txBody>
      </p:sp>
      <p:sp>
        <p:nvSpPr>
          <p:cNvPr id="25" name="TextBox 24"/>
          <p:cNvSpPr txBox="1"/>
          <p:nvPr/>
        </p:nvSpPr>
        <p:spPr>
          <a:xfrm>
            <a:off x="7863840" y="4864607"/>
            <a:ext cx="2258568" cy="603504"/>
          </a:xfrm>
          <a:prstGeom prst="rect">
            <a:avLst/>
          </a:prstGeom>
          <a:noFill/>
        </p:spPr>
        <p:txBody>
          <a:bodyPr wrap="square" anchor="t" lIns="0" rIns="0" tIns="0" bIns="0">
            <a:spAutoFit/>
          </a:bodyPr>
          <a:lstStyle/>
          <a:p>
            <a:pPr algn="l"/>
            <a:r>
              <a:rPr sz="1300" b="1" i="0">
                <a:solidFill>
                  <a:srgbClr val="2A78D6"/>
                </a:solidFill>
                <a:latin typeface="Calibri"/>
              </a:rPr>
              <a:t>vs  </a:t>
            </a:r>
            <a:r>
              <a:rPr sz="1300" b="0" i="0">
                <a:solidFill>
                  <a:srgbClr val="52514E"/>
                </a:solidFill>
                <a:latin typeface="Calibri"/>
              </a:rPr>
              <a:t>no memory, and a stack of recent frames</a:t>
            </a:r>
          </a:p>
        </p:txBody>
      </p:sp>
      <p:sp>
        <p:nvSpPr>
          <p:cNvPr id="26" name="TextBox 25"/>
          <p:cNvSpPr txBox="1"/>
          <p:nvPr/>
        </p:nvSpPr>
        <p:spPr>
          <a:xfrm>
            <a:off x="548640" y="5806440"/>
            <a:ext cx="11094415" cy="457200"/>
          </a:xfrm>
          <a:prstGeom prst="rect">
            <a:avLst/>
          </a:prstGeom>
          <a:noFill/>
        </p:spPr>
        <p:txBody>
          <a:bodyPr wrap="square" anchor="t" lIns="0" rIns="0" tIns="0" bIns="0">
            <a:spAutoFit/>
          </a:bodyPr>
          <a:lstStyle/>
          <a:p>
            <a:pPr algn="l"/>
            <a:r>
              <a:rPr sz="1400" b="0" i="1">
                <a:solidFill>
                  <a:srgbClr val="52514E"/>
                </a:solidFill>
                <a:latin typeface="Calibri"/>
              </a:rPr>
              <a:t>Negative results count: the aim is to find out which mechanisms contribute, not to make all of them win.</a:t>
            </a:r>
          </a:p>
        </p:txBody>
      </p:sp>
      <p:sp>
        <p:nvSpPr>
          <p:cNvPr id="27" name="TextBox 26"/>
          <p:cNvSpPr txBox="1"/>
          <p:nvPr/>
        </p:nvSpPr>
        <p:spPr>
          <a:xfrm>
            <a:off x="548640" y="6446520"/>
            <a:ext cx="5486400" cy="274320"/>
          </a:xfrm>
          <a:prstGeom prst="rect">
            <a:avLst/>
          </a:prstGeom>
          <a:noFill/>
        </p:spPr>
        <p:txBody>
          <a:bodyPr wrap="square" anchor="t" lIns="0" rIns="0" tIns="0" bIns="0">
            <a:spAutoFit/>
          </a:bodyPr>
          <a:lstStyle/>
          <a:p>
            <a:pPr algn="l"/>
            <a:r>
              <a:rPr sz="1000" b="0" i="0">
                <a:solidFill>
                  <a:srgbClr val="85837D"/>
                </a:solidFill>
                <a:latin typeface="Calibri"/>
              </a:rPr>
              <a:t>NeuroPlast · final review</a:t>
            </a:r>
          </a:p>
        </p:txBody>
      </p:sp>
      <p:sp>
        <p:nvSpPr>
          <p:cNvPr id="28" name="TextBox 27"/>
          <p:cNvSpPr txBox="1"/>
          <p:nvPr/>
        </p:nvSpPr>
        <p:spPr>
          <a:xfrm>
            <a:off x="9814255" y="6446520"/>
            <a:ext cx="1828800" cy="274320"/>
          </a:xfrm>
          <a:prstGeom prst="rect">
            <a:avLst/>
          </a:prstGeom>
          <a:noFill/>
        </p:spPr>
        <p:txBody>
          <a:bodyPr wrap="square" anchor="t" lIns="0" rIns="0" tIns="0" bIns="0">
            <a:spAutoFit/>
          </a:bodyPr>
          <a:lstStyle/>
          <a:p>
            <a:pPr algn="r"/>
            <a:r>
              <a:rPr sz="1000" b="0" i="0">
                <a:solidFill>
                  <a:srgbClr val="85837D"/>
                </a:solidFill>
                <a:latin typeface="Calibri"/>
              </a:rPr>
              <a:t>3 / 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320040"/>
          </a:xfrm>
          <a:prstGeom prst="rect">
            <a:avLst/>
          </a:prstGeom>
          <a:noFill/>
        </p:spPr>
        <p:txBody>
          <a:bodyPr wrap="square" anchor="t" lIns="0" rIns="0" tIns="0" bIns="0">
            <a:spAutoFit/>
          </a:bodyPr>
          <a:lstStyle/>
          <a:p>
            <a:pPr algn="l"/>
            <a:r>
              <a:rPr sz="1200" b="1" i="0">
                <a:solidFill>
                  <a:srgbClr val="2A78D6"/>
                </a:solidFill>
                <a:latin typeface="Calibri"/>
              </a:rPr>
              <a:t>WHERE THIS SITS</a:t>
            </a:r>
          </a:p>
        </p:txBody>
      </p:sp>
      <p:sp>
        <p:nvSpPr>
          <p:cNvPr id="3" name="TextBox 2"/>
          <p:cNvSpPr txBox="1"/>
          <p:nvPr/>
        </p:nvSpPr>
        <p:spPr>
          <a:xfrm>
            <a:off x="548640" y="740664"/>
            <a:ext cx="11094415" cy="822960"/>
          </a:xfrm>
          <a:prstGeom prst="rect">
            <a:avLst/>
          </a:prstGeom>
          <a:noFill/>
        </p:spPr>
        <p:txBody>
          <a:bodyPr wrap="square" anchor="t" lIns="0" rIns="0" tIns="0" bIns="0">
            <a:spAutoFit/>
          </a:bodyPr>
          <a:lstStyle/>
          <a:p>
            <a:pPr algn="l"/>
            <a:r>
              <a:rPr sz="3000" b="1" i="0">
                <a:solidFill>
                  <a:srgbClr val="151514"/>
                </a:solidFill>
                <a:latin typeface="Cambria"/>
              </a:rPr>
              <a:t>Related work</a:t>
            </a:r>
          </a:p>
        </p:txBody>
      </p:sp>
      <p:sp>
        <p:nvSpPr>
          <p:cNvPr id="4" name="Rounded Rectangle 3"/>
          <p:cNvSpPr/>
          <p:nvPr/>
        </p:nvSpPr>
        <p:spPr>
          <a:xfrm>
            <a:off x="548640" y="1737360"/>
            <a:ext cx="5410047" cy="1828800"/>
          </a:xfrm>
          <a:prstGeom prst="roundRect">
            <a:avLst>
              <a:gd name="adj" fmla="val 12000"/>
            </a:avLst>
          </a:prstGeom>
          <a:solidFill>
            <a:srgbClr val="F4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49808" y="1956815"/>
            <a:ext cx="128016" cy="128016"/>
          </a:xfrm>
          <a:prstGeom prst="ellipse">
            <a:avLst/>
          </a:prstGeom>
          <a:solidFill>
            <a:srgbClr val="1BAF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50976" y="1865376"/>
            <a:ext cx="4870551" cy="365760"/>
          </a:xfrm>
          <a:prstGeom prst="rect">
            <a:avLst/>
          </a:prstGeom>
          <a:noFill/>
        </p:spPr>
        <p:txBody>
          <a:bodyPr wrap="square" anchor="t" lIns="0" rIns="0" tIns="0" bIns="0">
            <a:spAutoFit/>
          </a:bodyPr>
          <a:lstStyle/>
          <a:p>
            <a:pPr algn="l"/>
            <a:r>
              <a:rPr sz="1600" b="1" i="0">
                <a:solidFill>
                  <a:srgbClr val="151514"/>
                </a:solidFill>
                <a:latin typeface="Calibri"/>
              </a:rPr>
              <a:t>Continual RL</a:t>
            </a:r>
          </a:p>
        </p:txBody>
      </p:sp>
      <p:sp>
        <p:nvSpPr>
          <p:cNvPr id="7" name="TextBox 6"/>
          <p:cNvSpPr txBox="1"/>
          <p:nvPr/>
        </p:nvSpPr>
        <p:spPr>
          <a:xfrm>
            <a:off x="749808" y="2240280"/>
            <a:ext cx="5044287" cy="1280160"/>
          </a:xfrm>
          <a:prstGeom prst="rect">
            <a:avLst/>
          </a:prstGeom>
          <a:noFill/>
        </p:spPr>
        <p:txBody>
          <a:bodyPr wrap="square" anchor="t" lIns="0" rIns="0" tIns="0" bIns="0">
            <a:spAutoFit/>
          </a:bodyPr>
          <a:lstStyle/>
          <a:p>
            <a:pPr algn="l">
              <a:spcAft>
                <a:spcPts val="200"/>
              </a:spcAft>
            </a:pPr>
            <a:r>
              <a:rPr sz="1350" b="0" i="0">
                <a:solidFill>
                  <a:srgbClr val="52514E"/>
                </a:solidFill>
                <a:latin typeface="Calibri"/>
              </a:rPr>
              <a:t>EWC: protect important weights (Kirkpatrick et al., 2017)</a:t>
            </a:r>
          </a:p>
          <a:p>
            <a:pPr algn="l">
              <a:spcAft>
                <a:spcPts val="200"/>
              </a:spcAft>
            </a:pPr>
            <a:r>
              <a:rPr sz="1350" b="0" i="0">
                <a:solidFill>
                  <a:srgbClr val="52514E"/>
                </a:solidFill>
                <a:latin typeface="Calibri"/>
              </a:rPr>
              <a:t>CLEAR: replay + behavioural cloning, a very strong baseline (Rolnick et al., 2019)</a:t>
            </a:r>
          </a:p>
          <a:p>
            <a:pPr algn="l">
              <a:spcAft>
                <a:spcPts val="200"/>
              </a:spcAft>
            </a:pPr>
            <a:r>
              <a:rPr sz="1350" b="0" i="0">
                <a:solidFill>
                  <a:srgbClr val="52514E"/>
                </a:solidFill>
                <a:latin typeface="Calibri"/>
              </a:rPr>
              <a:t>PackNet: isolate parameters per task (Mallya &amp; Lazebnik, 2018)</a:t>
            </a:r>
          </a:p>
        </p:txBody>
      </p:sp>
      <p:sp>
        <p:nvSpPr>
          <p:cNvPr id="8" name="Rounded Rectangle 7"/>
          <p:cNvSpPr/>
          <p:nvPr/>
        </p:nvSpPr>
        <p:spPr>
          <a:xfrm>
            <a:off x="6233007" y="1737360"/>
            <a:ext cx="5410047" cy="1828800"/>
          </a:xfrm>
          <a:prstGeom prst="roundRect">
            <a:avLst>
              <a:gd name="adj" fmla="val 12000"/>
            </a:avLst>
          </a:prstGeom>
          <a:solidFill>
            <a:srgbClr val="F4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6434175" y="1956815"/>
            <a:ext cx="128016" cy="128016"/>
          </a:xfrm>
          <a:prstGeom prst="ellipse">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35343" y="1865376"/>
            <a:ext cx="4870551" cy="365760"/>
          </a:xfrm>
          <a:prstGeom prst="rect">
            <a:avLst/>
          </a:prstGeom>
          <a:noFill/>
        </p:spPr>
        <p:txBody>
          <a:bodyPr wrap="square" anchor="t" lIns="0" rIns="0" tIns="0" bIns="0">
            <a:spAutoFit/>
          </a:bodyPr>
          <a:lstStyle/>
          <a:p>
            <a:pPr algn="l"/>
            <a:r>
              <a:rPr sz="1600" b="1" i="0">
                <a:solidFill>
                  <a:srgbClr val="151514"/>
                </a:solidFill>
                <a:latin typeface="Calibri"/>
              </a:rPr>
              <a:t>Sleep and consolidation</a:t>
            </a:r>
          </a:p>
        </p:txBody>
      </p:sp>
      <p:sp>
        <p:nvSpPr>
          <p:cNvPr id="11" name="TextBox 10"/>
          <p:cNvSpPr txBox="1"/>
          <p:nvPr/>
        </p:nvSpPr>
        <p:spPr>
          <a:xfrm>
            <a:off x="6434175" y="2240280"/>
            <a:ext cx="5044287" cy="1280160"/>
          </a:xfrm>
          <a:prstGeom prst="rect">
            <a:avLst/>
          </a:prstGeom>
          <a:noFill/>
        </p:spPr>
        <p:txBody>
          <a:bodyPr wrap="square" anchor="t" lIns="0" rIns="0" tIns="0" bIns="0">
            <a:spAutoFit/>
          </a:bodyPr>
          <a:lstStyle/>
          <a:p>
            <a:pPr algn="l">
              <a:spcAft>
                <a:spcPts val="200"/>
              </a:spcAft>
            </a:pPr>
            <a:r>
              <a:rPr sz="1350" b="0" i="0">
                <a:solidFill>
                  <a:srgbClr val="52514E"/>
                </a:solidFill>
                <a:latin typeface="Calibri"/>
              </a:rPr>
              <a:t>Sleep-like unsupervised replay recovers forgotten tasks in classifiers (Tadros et al., 2022)</a:t>
            </a:r>
          </a:p>
          <a:p>
            <a:pPr algn="l">
              <a:spcAft>
                <a:spcPts val="200"/>
              </a:spcAft>
            </a:pPr>
            <a:r>
              <a:rPr sz="1350" b="0" i="0">
                <a:solidFill>
                  <a:srgbClr val="52514E"/>
                </a:solidFill>
                <a:latin typeface="Calibri"/>
              </a:rPr>
              <a:t>Ours: offline replay + distillation in RL, compared with CLEAR-style replay</a:t>
            </a:r>
          </a:p>
        </p:txBody>
      </p:sp>
      <p:sp>
        <p:nvSpPr>
          <p:cNvPr id="12" name="Rounded Rectangle 11"/>
          <p:cNvSpPr/>
          <p:nvPr/>
        </p:nvSpPr>
        <p:spPr>
          <a:xfrm>
            <a:off x="548640" y="3794760"/>
            <a:ext cx="5410047" cy="1828800"/>
          </a:xfrm>
          <a:prstGeom prst="roundRect">
            <a:avLst>
              <a:gd name="adj" fmla="val 12000"/>
            </a:avLst>
          </a:prstGeom>
          <a:solidFill>
            <a:srgbClr val="F4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749808" y="4014216"/>
            <a:ext cx="128016" cy="128016"/>
          </a:xfrm>
          <a:prstGeom prst="ellipse">
            <a:avLst/>
          </a:prstGeom>
          <a:solidFill>
            <a:srgbClr val="4A3A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50976" y="3922776"/>
            <a:ext cx="4870551" cy="365760"/>
          </a:xfrm>
          <a:prstGeom prst="rect">
            <a:avLst/>
          </a:prstGeom>
          <a:noFill/>
        </p:spPr>
        <p:txBody>
          <a:bodyPr wrap="square" anchor="t" lIns="0" rIns="0" tIns="0" bIns="0">
            <a:spAutoFit/>
          </a:bodyPr>
          <a:lstStyle/>
          <a:p>
            <a:pPr algn="l"/>
            <a:r>
              <a:rPr sz="1600" b="1" i="0">
                <a:solidFill>
                  <a:srgbClr val="151514"/>
                </a:solidFill>
                <a:latin typeface="Calibri"/>
              </a:rPr>
              <a:t>Spiking networks for RL</a:t>
            </a:r>
          </a:p>
        </p:txBody>
      </p:sp>
      <p:sp>
        <p:nvSpPr>
          <p:cNvPr id="15" name="TextBox 14"/>
          <p:cNvSpPr txBox="1"/>
          <p:nvPr/>
        </p:nvSpPr>
        <p:spPr>
          <a:xfrm>
            <a:off x="749808" y="4297680"/>
            <a:ext cx="5044287" cy="1280160"/>
          </a:xfrm>
          <a:prstGeom prst="rect">
            <a:avLst/>
          </a:prstGeom>
          <a:noFill/>
        </p:spPr>
        <p:txBody>
          <a:bodyPr wrap="square" anchor="t" lIns="0" rIns="0" tIns="0" bIns="0">
            <a:spAutoFit/>
          </a:bodyPr>
          <a:lstStyle/>
          <a:p>
            <a:pPr algn="l">
              <a:spcAft>
                <a:spcPts val="200"/>
              </a:spcAft>
            </a:pPr>
            <a:r>
              <a:rPr sz="1350" b="0" i="0">
                <a:solidFill>
                  <a:srgbClr val="52514E"/>
                </a:solidFill>
                <a:latin typeface="Calibri"/>
              </a:rPr>
              <a:t>Surrogate gradients make SNNs trainable (Neftci et al., 2019)</a:t>
            </a:r>
          </a:p>
          <a:p>
            <a:pPr algn="l">
              <a:spcAft>
                <a:spcPts val="200"/>
              </a:spcAft>
            </a:pPr>
            <a:r>
              <a:rPr sz="1350" b="0" i="0">
                <a:solidFill>
                  <a:srgbClr val="52514E"/>
                </a:solidFill>
                <a:latin typeface="Calibri"/>
              </a:rPr>
              <a:t>The surrogate slope matters more in RL (Van den Berghe et al., 2025)</a:t>
            </a:r>
          </a:p>
          <a:p>
            <a:pPr algn="l">
              <a:spcAft>
                <a:spcPts val="200"/>
              </a:spcAft>
            </a:pPr>
            <a:r>
              <a:rPr sz="1350" b="0" i="0">
                <a:solidFill>
                  <a:srgbClr val="52514E"/>
                </a:solidFill>
                <a:latin typeface="Calibri"/>
              </a:rPr>
              <a:t>Spiking decision transformers (Pandey &amp; Biswas, 2025)</a:t>
            </a:r>
          </a:p>
        </p:txBody>
      </p:sp>
      <p:sp>
        <p:nvSpPr>
          <p:cNvPr id="16" name="Rounded Rectangle 15"/>
          <p:cNvSpPr/>
          <p:nvPr/>
        </p:nvSpPr>
        <p:spPr>
          <a:xfrm>
            <a:off x="6233007" y="3794760"/>
            <a:ext cx="5410047" cy="1828800"/>
          </a:xfrm>
          <a:prstGeom prst="roundRect">
            <a:avLst>
              <a:gd name="adj" fmla="val 12000"/>
            </a:avLst>
          </a:prstGeom>
          <a:solidFill>
            <a:srgbClr val="F4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6434175" y="4014216"/>
            <a:ext cx="128016" cy="128016"/>
          </a:xfrm>
          <a:prstGeom prst="ellipse">
            <a:avLst/>
          </a:prstGeom>
          <a:solidFill>
            <a:srgbClr val="EB68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35343" y="3922776"/>
            <a:ext cx="4870551" cy="365760"/>
          </a:xfrm>
          <a:prstGeom prst="rect">
            <a:avLst/>
          </a:prstGeom>
          <a:noFill/>
        </p:spPr>
        <p:txBody>
          <a:bodyPr wrap="square" anchor="t" lIns="0" rIns="0" tIns="0" bIns="0">
            <a:spAutoFit/>
          </a:bodyPr>
          <a:lstStyle/>
          <a:p>
            <a:pPr algn="l"/>
            <a:r>
              <a:rPr sz="1600" b="1" i="0">
                <a:solidFill>
                  <a:srgbClr val="151514"/>
                </a:solidFill>
                <a:latin typeface="Calibri"/>
              </a:rPr>
              <a:t>Local learning rules</a:t>
            </a:r>
          </a:p>
        </p:txBody>
      </p:sp>
      <p:sp>
        <p:nvSpPr>
          <p:cNvPr id="19" name="TextBox 18"/>
          <p:cNvSpPr txBox="1"/>
          <p:nvPr/>
        </p:nvSpPr>
        <p:spPr>
          <a:xfrm>
            <a:off x="6434175" y="4297680"/>
            <a:ext cx="5044287" cy="1280160"/>
          </a:xfrm>
          <a:prstGeom prst="rect">
            <a:avLst/>
          </a:prstGeom>
          <a:noFill/>
        </p:spPr>
        <p:txBody>
          <a:bodyPr wrap="square" anchor="t" lIns="0" rIns="0" tIns="0" bIns="0">
            <a:spAutoFit/>
          </a:bodyPr>
          <a:lstStyle/>
          <a:p>
            <a:pPr algn="l">
              <a:spcAft>
                <a:spcPts val="200"/>
              </a:spcAft>
            </a:pPr>
            <a:r>
              <a:rPr sz="1350" b="0" i="0">
                <a:solidFill>
                  <a:srgbClr val="52514E"/>
                </a:solidFill>
                <a:latin typeface="Calibri"/>
              </a:rPr>
              <a:t>Three-factor, reward-modulated STDP (Frémaux &amp; Gerstner, 2016)</a:t>
            </a:r>
          </a:p>
          <a:p>
            <a:pPr algn="l">
              <a:spcAft>
                <a:spcPts val="200"/>
              </a:spcAft>
            </a:pPr>
            <a:r>
              <a:rPr sz="1350" b="0" i="0">
                <a:solidFill>
                  <a:srgbClr val="52514E"/>
                </a:solidFill>
                <a:latin typeface="Calibri"/>
              </a:rPr>
              <a:t>Direct feedback alignment: no weight transport (Nøkland, 2016)</a:t>
            </a:r>
          </a:p>
          <a:p>
            <a:pPr algn="l">
              <a:spcAft>
                <a:spcPts val="200"/>
              </a:spcAft>
            </a:pPr>
            <a:r>
              <a:rPr sz="1350" b="0" i="0">
                <a:solidFill>
                  <a:srgbClr val="52514E"/>
                </a:solidFill>
                <a:latin typeface="Calibri"/>
              </a:rPr>
              <a:t>Homeostatic plasticity (Turrigiano &amp; Nelson, 2004)</a:t>
            </a:r>
          </a:p>
        </p:txBody>
      </p:sp>
      <p:sp>
        <p:nvSpPr>
          <p:cNvPr id="20" name="TextBox 19"/>
          <p:cNvSpPr txBox="1"/>
          <p:nvPr/>
        </p:nvSpPr>
        <p:spPr>
          <a:xfrm>
            <a:off x="548640" y="5852160"/>
            <a:ext cx="11094415" cy="457200"/>
          </a:xfrm>
          <a:prstGeom prst="rect">
            <a:avLst/>
          </a:prstGeom>
          <a:noFill/>
        </p:spPr>
        <p:txBody>
          <a:bodyPr wrap="square" anchor="t" lIns="0" rIns="0" tIns="0" bIns="0">
            <a:spAutoFit/>
          </a:bodyPr>
          <a:lstStyle/>
          <a:p>
            <a:pPr algn="l"/>
            <a:r>
              <a:rPr sz="1400" b="1" i="0">
                <a:solidFill>
                  <a:srgbClr val="52514E"/>
                </a:solidFill>
                <a:latin typeface="Calibri"/>
              </a:rPr>
              <a:t>Gap: </a:t>
            </a:r>
            <a:r>
              <a:rPr sz="1400" b="0" i="0">
                <a:solidFill>
                  <a:srgbClr val="52514E"/>
                </a:solidFill>
                <a:latin typeface="Calibri"/>
              </a:rPr>
              <a:t>these mechanisms are usually tested together, against an unmodified baseline, so it is unclear which one did the work.</a:t>
            </a:r>
          </a:p>
        </p:txBody>
      </p:sp>
      <p:sp>
        <p:nvSpPr>
          <p:cNvPr id="21" name="TextBox 20"/>
          <p:cNvSpPr txBox="1"/>
          <p:nvPr/>
        </p:nvSpPr>
        <p:spPr>
          <a:xfrm>
            <a:off x="548640" y="6446520"/>
            <a:ext cx="5486400" cy="274320"/>
          </a:xfrm>
          <a:prstGeom prst="rect">
            <a:avLst/>
          </a:prstGeom>
          <a:noFill/>
        </p:spPr>
        <p:txBody>
          <a:bodyPr wrap="square" anchor="t" lIns="0" rIns="0" tIns="0" bIns="0">
            <a:spAutoFit/>
          </a:bodyPr>
          <a:lstStyle/>
          <a:p>
            <a:pPr algn="l"/>
            <a:r>
              <a:rPr sz="1000" b="0" i="0">
                <a:solidFill>
                  <a:srgbClr val="85837D"/>
                </a:solidFill>
                <a:latin typeface="Calibri"/>
              </a:rPr>
              <a:t>NeuroPlast · final review</a:t>
            </a:r>
          </a:p>
        </p:txBody>
      </p:sp>
      <p:sp>
        <p:nvSpPr>
          <p:cNvPr id="22" name="TextBox 21"/>
          <p:cNvSpPr txBox="1"/>
          <p:nvPr/>
        </p:nvSpPr>
        <p:spPr>
          <a:xfrm>
            <a:off x="9814255" y="6446520"/>
            <a:ext cx="1828800" cy="274320"/>
          </a:xfrm>
          <a:prstGeom prst="rect">
            <a:avLst/>
          </a:prstGeom>
          <a:noFill/>
        </p:spPr>
        <p:txBody>
          <a:bodyPr wrap="square" anchor="t" lIns="0" rIns="0" tIns="0" bIns="0">
            <a:spAutoFit/>
          </a:bodyPr>
          <a:lstStyle/>
          <a:p>
            <a:pPr algn="r"/>
            <a:r>
              <a:rPr sz="1000" b="0" i="0">
                <a:solidFill>
                  <a:srgbClr val="85837D"/>
                </a:solidFill>
                <a:latin typeface="Calibri"/>
              </a:rPr>
              <a:t>4 / 15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320040"/>
          </a:xfrm>
          <a:prstGeom prst="rect">
            <a:avLst/>
          </a:prstGeom>
          <a:noFill/>
        </p:spPr>
        <p:txBody>
          <a:bodyPr wrap="square" anchor="t" lIns="0" rIns="0" tIns="0" bIns="0">
            <a:spAutoFit/>
          </a:bodyPr>
          <a:lstStyle/>
          <a:p>
            <a:pPr algn="l"/>
            <a:r>
              <a:rPr sz="1200" b="1" i="0">
                <a:solidFill>
                  <a:srgbClr val="2A78D6"/>
                </a:solidFill>
                <a:latin typeface="Calibri"/>
              </a:rPr>
              <a:t>WHAT I BUILT</a:t>
            </a:r>
          </a:p>
        </p:txBody>
      </p:sp>
      <p:sp>
        <p:nvSpPr>
          <p:cNvPr id="3" name="TextBox 2"/>
          <p:cNvSpPr txBox="1"/>
          <p:nvPr/>
        </p:nvSpPr>
        <p:spPr>
          <a:xfrm>
            <a:off x="548640" y="740664"/>
            <a:ext cx="11094415" cy="822960"/>
          </a:xfrm>
          <a:prstGeom prst="rect">
            <a:avLst/>
          </a:prstGeom>
          <a:noFill/>
        </p:spPr>
        <p:txBody>
          <a:bodyPr wrap="square" anchor="t" lIns="0" rIns="0" tIns="0" bIns="0">
            <a:spAutoFit/>
          </a:bodyPr>
          <a:lstStyle/>
          <a:p>
            <a:pPr algn="l"/>
            <a:r>
              <a:rPr sz="3000" b="1" i="0">
                <a:solidFill>
                  <a:srgbClr val="151514"/>
                </a:solidFill>
                <a:latin typeface="Cambria"/>
              </a:rPr>
              <a:t>System architecture</a:t>
            </a:r>
          </a:p>
        </p:txBody>
      </p:sp>
      <p:sp>
        <p:nvSpPr>
          <p:cNvPr id="4" name="Rounded Rectangle 3"/>
          <p:cNvSpPr/>
          <p:nvPr/>
        </p:nvSpPr>
        <p:spPr>
          <a:xfrm>
            <a:off x="548640" y="1783080"/>
            <a:ext cx="2514600" cy="1417320"/>
          </a:xfrm>
          <a:prstGeom prst="roundRect">
            <a:avLst>
              <a:gd name="adj" fmla="val 12000"/>
            </a:avLst>
          </a:prstGeom>
          <a:solidFill>
            <a:srgbClr val="F4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49808" y="1911095"/>
            <a:ext cx="2176272" cy="365760"/>
          </a:xfrm>
          <a:prstGeom prst="rect">
            <a:avLst/>
          </a:prstGeom>
          <a:noFill/>
        </p:spPr>
        <p:txBody>
          <a:bodyPr wrap="square" anchor="t" lIns="0" rIns="0" tIns="0" bIns="0">
            <a:spAutoFit/>
          </a:bodyPr>
          <a:lstStyle/>
          <a:p>
            <a:pPr algn="l"/>
            <a:r>
              <a:rPr sz="1600" b="1" i="0">
                <a:solidFill>
                  <a:srgbClr val="151514"/>
                </a:solidFill>
                <a:latin typeface="Calibri"/>
              </a:rPr>
              <a:t>Environment</a:t>
            </a:r>
          </a:p>
        </p:txBody>
      </p:sp>
      <p:sp>
        <p:nvSpPr>
          <p:cNvPr id="6" name="TextBox 5"/>
          <p:cNvSpPr txBox="1"/>
          <p:nvPr/>
        </p:nvSpPr>
        <p:spPr>
          <a:xfrm>
            <a:off x="749808" y="2286000"/>
            <a:ext cx="2148840" cy="868680"/>
          </a:xfrm>
          <a:prstGeom prst="rect">
            <a:avLst/>
          </a:prstGeom>
          <a:noFill/>
        </p:spPr>
        <p:txBody>
          <a:bodyPr wrap="square" anchor="t" lIns="0" rIns="0" tIns="0" bIns="0">
            <a:spAutoFit/>
          </a:bodyPr>
          <a:lstStyle/>
          <a:p>
            <a:pPr algn="l">
              <a:spcAft>
                <a:spcPts val="200"/>
              </a:spcAft>
            </a:pPr>
            <a:r>
              <a:rPr sz="1250" b="0" i="0">
                <a:solidFill>
                  <a:srgbClr val="52514E"/>
                </a:solidFill>
                <a:latin typeface="Calibri"/>
              </a:rPr>
              <a:t>MiniGrid, 7×7 view of the room</a:t>
            </a:r>
          </a:p>
          <a:p>
            <a:pPr algn="l">
              <a:spcAft>
                <a:spcPts val="200"/>
              </a:spcAft>
            </a:pPr>
            <a:r>
              <a:rPr sz="1250" b="0" i="0">
                <a:solidFill>
                  <a:srgbClr val="52514E"/>
                </a:solidFill>
                <a:latin typeface="Calibri"/>
              </a:rPr>
              <a:t>task ID given each episode</a:t>
            </a:r>
          </a:p>
          <a:p>
            <a:pPr algn="l">
              <a:spcAft>
                <a:spcPts val="200"/>
              </a:spcAft>
            </a:pPr>
            <a:r>
              <a:rPr sz="1250" b="0" i="0">
                <a:solidFill>
                  <a:srgbClr val="52514E"/>
                </a:solidFill>
                <a:latin typeface="Calibri"/>
              </a:rPr>
              <a:t>reward for the right object</a:t>
            </a:r>
          </a:p>
        </p:txBody>
      </p:sp>
      <p:sp>
        <p:nvSpPr>
          <p:cNvPr id="7" name="Rounded Rectangle 6"/>
          <p:cNvSpPr/>
          <p:nvPr/>
        </p:nvSpPr>
        <p:spPr>
          <a:xfrm>
            <a:off x="3447288" y="1783080"/>
            <a:ext cx="2514600" cy="1417320"/>
          </a:xfrm>
          <a:prstGeom prst="roundRect">
            <a:avLst>
              <a:gd name="adj" fmla="val 12000"/>
            </a:avLst>
          </a:prstGeom>
          <a:solidFill>
            <a:srgbClr val="F4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3648456" y="2002536"/>
            <a:ext cx="128016" cy="128016"/>
          </a:xfrm>
          <a:prstGeom prst="ellipse">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49624" y="1911095"/>
            <a:ext cx="1975104" cy="365760"/>
          </a:xfrm>
          <a:prstGeom prst="rect">
            <a:avLst/>
          </a:prstGeom>
          <a:noFill/>
        </p:spPr>
        <p:txBody>
          <a:bodyPr wrap="square" anchor="t" lIns="0" rIns="0" tIns="0" bIns="0">
            <a:spAutoFit/>
          </a:bodyPr>
          <a:lstStyle/>
          <a:p>
            <a:pPr algn="l"/>
            <a:r>
              <a:rPr sz="1600" b="1" i="0">
                <a:solidFill>
                  <a:srgbClr val="151514"/>
                </a:solidFill>
                <a:latin typeface="Calibri"/>
              </a:rPr>
              <a:t>Spiking encoder</a:t>
            </a:r>
          </a:p>
        </p:txBody>
      </p:sp>
      <p:sp>
        <p:nvSpPr>
          <p:cNvPr id="10" name="TextBox 9"/>
          <p:cNvSpPr txBox="1"/>
          <p:nvPr/>
        </p:nvSpPr>
        <p:spPr>
          <a:xfrm>
            <a:off x="3648456" y="2286000"/>
            <a:ext cx="2148840" cy="868680"/>
          </a:xfrm>
          <a:prstGeom prst="rect">
            <a:avLst/>
          </a:prstGeom>
          <a:noFill/>
        </p:spPr>
        <p:txBody>
          <a:bodyPr wrap="square" anchor="t" lIns="0" rIns="0" tIns="0" bIns="0">
            <a:spAutoFit/>
          </a:bodyPr>
          <a:lstStyle/>
          <a:p>
            <a:pPr algn="l">
              <a:spcAft>
                <a:spcPts val="200"/>
              </a:spcAft>
            </a:pPr>
            <a:r>
              <a:rPr sz="1250" b="0" i="0">
                <a:solidFill>
                  <a:srgbClr val="52514E"/>
                </a:solidFill>
                <a:latin typeface="Calibri"/>
              </a:rPr>
              <a:t>3 conv layers of LIF neurons</a:t>
            </a:r>
          </a:p>
          <a:p>
            <a:pPr algn="l">
              <a:spcAft>
                <a:spcPts val="200"/>
              </a:spcAft>
            </a:pPr>
            <a:r>
              <a:rPr sz="1250" b="0" i="0">
                <a:solidFill>
                  <a:srgbClr val="52514E"/>
                </a:solidFill>
                <a:latin typeface="Calibri"/>
              </a:rPr>
              <a:t>4 spike steps per frame</a:t>
            </a:r>
          </a:p>
          <a:p>
            <a:pPr algn="l">
              <a:spcAft>
                <a:spcPts val="200"/>
              </a:spcAft>
            </a:pPr>
            <a:r>
              <a:rPr sz="1250" b="0" i="0">
                <a:solidFill>
                  <a:srgbClr val="52514E"/>
                </a:solidFill>
                <a:latin typeface="Calibri"/>
              </a:rPr>
              <a:t>control: same-shape CNN</a:t>
            </a:r>
          </a:p>
        </p:txBody>
      </p:sp>
      <p:sp>
        <p:nvSpPr>
          <p:cNvPr id="11" name="Rounded Rectangle 10"/>
          <p:cNvSpPr/>
          <p:nvPr/>
        </p:nvSpPr>
        <p:spPr>
          <a:xfrm>
            <a:off x="6345936" y="1783080"/>
            <a:ext cx="2514600" cy="1417320"/>
          </a:xfrm>
          <a:prstGeom prst="roundRect">
            <a:avLst>
              <a:gd name="adj" fmla="val 12000"/>
            </a:avLst>
          </a:prstGeom>
          <a:solidFill>
            <a:srgbClr val="F4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6547103" y="2002536"/>
            <a:ext cx="128016" cy="128016"/>
          </a:xfrm>
          <a:prstGeom prst="ellipse">
            <a:avLst/>
          </a:prstGeom>
          <a:solidFill>
            <a:srgbClr val="4A3A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48272" y="1911095"/>
            <a:ext cx="1975103" cy="365760"/>
          </a:xfrm>
          <a:prstGeom prst="rect">
            <a:avLst/>
          </a:prstGeom>
          <a:noFill/>
        </p:spPr>
        <p:txBody>
          <a:bodyPr wrap="square" anchor="t" lIns="0" rIns="0" tIns="0" bIns="0">
            <a:spAutoFit/>
          </a:bodyPr>
          <a:lstStyle/>
          <a:p>
            <a:pPr algn="l"/>
            <a:r>
              <a:rPr sz="1600" b="1" i="0">
                <a:solidFill>
                  <a:srgbClr val="151514"/>
                </a:solidFill>
                <a:latin typeface="Calibri"/>
              </a:rPr>
              <a:t>Transformer memory</a:t>
            </a:r>
          </a:p>
        </p:txBody>
      </p:sp>
      <p:sp>
        <p:nvSpPr>
          <p:cNvPr id="14" name="TextBox 13"/>
          <p:cNvSpPr txBox="1"/>
          <p:nvPr/>
        </p:nvSpPr>
        <p:spPr>
          <a:xfrm>
            <a:off x="6547103" y="2286000"/>
            <a:ext cx="2148840" cy="868680"/>
          </a:xfrm>
          <a:prstGeom prst="rect">
            <a:avLst/>
          </a:prstGeom>
          <a:noFill/>
        </p:spPr>
        <p:txBody>
          <a:bodyPr wrap="square" anchor="t" lIns="0" rIns="0" tIns="0" bIns="0">
            <a:spAutoFit/>
          </a:bodyPr>
          <a:lstStyle/>
          <a:p>
            <a:pPr algn="l">
              <a:spcAft>
                <a:spcPts val="200"/>
              </a:spcAft>
            </a:pPr>
            <a:r>
              <a:rPr sz="1250" b="0" i="0">
                <a:solidFill>
                  <a:srgbClr val="52514E"/>
                </a:solidFill>
                <a:latin typeface="Calibri"/>
              </a:rPr>
              <a:t>1 layer, 4 attention heads</a:t>
            </a:r>
          </a:p>
          <a:p>
            <a:pPr algn="l">
              <a:spcAft>
                <a:spcPts val="200"/>
              </a:spcAft>
            </a:pPr>
            <a:r>
              <a:rPr sz="1250" b="0" i="0">
                <a:solidFill>
                  <a:srgbClr val="52514E"/>
                </a:solidFill>
                <a:latin typeface="Calibri"/>
              </a:rPr>
              <a:t>attends over the last 4 frames</a:t>
            </a:r>
          </a:p>
          <a:p>
            <a:pPr algn="l">
              <a:spcAft>
                <a:spcPts val="200"/>
              </a:spcAft>
            </a:pPr>
            <a:r>
              <a:rPr sz="1250" b="0" i="0">
                <a:solidFill>
                  <a:srgbClr val="52514E"/>
                </a:solidFill>
                <a:latin typeface="Calibri"/>
              </a:rPr>
              <a:t>SNN+Transformer agent only</a:t>
            </a:r>
          </a:p>
        </p:txBody>
      </p:sp>
      <p:sp>
        <p:nvSpPr>
          <p:cNvPr id="15" name="Rounded Rectangle 14"/>
          <p:cNvSpPr/>
          <p:nvPr/>
        </p:nvSpPr>
        <p:spPr>
          <a:xfrm>
            <a:off x="9244584" y="1783080"/>
            <a:ext cx="2514600" cy="1417320"/>
          </a:xfrm>
          <a:prstGeom prst="roundRect">
            <a:avLst>
              <a:gd name="adj" fmla="val 12000"/>
            </a:avLst>
          </a:prstGeom>
          <a:solidFill>
            <a:srgbClr val="F4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445752" y="1911095"/>
            <a:ext cx="2176271" cy="365760"/>
          </a:xfrm>
          <a:prstGeom prst="rect">
            <a:avLst/>
          </a:prstGeom>
          <a:noFill/>
        </p:spPr>
        <p:txBody>
          <a:bodyPr wrap="square" anchor="t" lIns="0" rIns="0" tIns="0" bIns="0">
            <a:spAutoFit/>
          </a:bodyPr>
          <a:lstStyle/>
          <a:p>
            <a:pPr algn="l"/>
            <a:r>
              <a:rPr sz="1600" b="1" i="0">
                <a:solidFill>
                  <a:srgbClr val="151514"/>
                </a:solidFill>
                <a:latin typeface="Calibri"/>
              </a:rPr>
              <a:t>Actor-critic heads</a:t>
            </a:r>
          </a:p>
        </p:txBody>
      </p:sp>
      <p:sp>
        <p:nvSpPr>
          <p:cNvPr id="17" name="TextBox 16"/>
          <p:cNvSpPr txBox="1"/>
          <p:nvPr/>
        </p:nvSpPr>
        <p:spPr>
          <a:xfrm>
            <a:off x="9445752" y="2286000"/>
            <a:ext cx="2148840" cy="868680"/>
          </a:xfrm>
          <a:prstGeom prst="rect">
            <a:avLst/>
          </a:prstGeom>
          <a:noFill/>
        </p:spPr>
        <p:txBody>
          <a:bodyPr wrap="square" anchor="t" lIns="0" rIns="0" tIns="0" bIns="0">
            <a:spAutoFit/>
          </a:bodyPr>
          <a:lstStyle/>
          <a:p>
            <a:pPr algn="l">
              <a:spcAft>
                <a:spcPts val="200"/>
              </a:spcAft>
            </a:pPr>
            <a:r>
              <a:rPr sz="1250" b="0" i="0">
                <a:solidFill>
                  <a:srgbClr val="52514E"/>
                </a:solidFill>
                <a:latin typeface="Calibri"/>
              </a:rPr>
              <a:t>policy + value head per task</a:t>
            </a:r>
          </a:p>
          <a:p>
            <a:pPr algn="l">
              <a:spcAft>
                <a:spcPts val="200"/>
              </a:spcAft>
            </a:pPr>
            <a:r>
              <a:rPr sz="1250" b="0" i="0">
                <a:solidFill>
                  <a:srgbClr val="52514E"/>
                </a:solidFill>
                <a:latin typeface="Calibri"/>
              </a:rPr>
              <a:t>task embedding on features</a:t>
            </a:r>
          </a:p>
          <a:p>
            <a:pPr algn="l">
              <a:spcAft>
                <a:spcPts val="200"/>
              </a:spcAft>
            </a:pPr>
            <a:r>
              <a:rPr sz="1250" b="0" i="0">
                <a:solidFill>
                  <a:srgbClr val="52514E"/>
                </a:solidFill>
                <a:latin typeface="Calibri"/>
              </a:rPr>
              <a:t>trained with PPO</a:t>
            </a:r>
          </a:p>
        </p:txBody>
      </p:sp>
      <p:cxnSp>
        <p:nvCxnSpPr>
          <p:cNvPr id="18" name="Connector 17"/>
          <p:cNvCxnSpPr/>
          <p:nvPr/>
        </p:nvCxnSpPr>
        <p:spPr>
          <a:xfrm>
            <a:off x="3108960" y="2491740"/>
            <a:ext cx="292608" cy="0"/>
          </a:xfrm>
          <a:prstGeom prst="line">
            <a:avLst/>
          </a:prstGeom>
          <a:ln w="22225">
            <a:solidFill>
              <a:srgbClr val="A9A79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007607" y="2491740"/>
            <a:ext cx="292609" cy="0"/>
          </a:xfrm>
          <a:prstGeom prst="line">
            <a:avLst/>
          </a:prstGeom>
          <a:ln w="22225">
            <a:solidFill>
              <a:srgbClr val="A9A79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8906256" y="2491740"/>
            <a:ext cx="292607" cy="0"/>
          </a:xfrm>
          <a:prstGeom prst="line">
            <a:avLst/>
          </a:prstGeom>
          <a:ln w="22225">
            <a:solidFill>
              <a:srgbClr val="A9A79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0501884" y="3246120"/>
            <a:ext cx="0" cy="274320"/>
          </a:xfrm>
          <a:prstGeom prst="line">
            <a:avLst/>
          </a:prstGeom>
          <a:ln w="22225">
            <a:solidFill>
              <a:srgbClr val="A9A79E"/>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1805940" y="3520440"/>
            <a:ext cx="8695944" cy="0"/>
          </a:xfrm>
          <a:prstGeom prst="line">
            <a:avLst/>
          </a:prstGeom>
          <a:ln w="22225">
            <a:solidFill>
              <a:srgbClr val="A9A79E"/>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1805940" y="3246120"/>
            <a:ext cx="0" cy="274320"/>
          </a:xfrm>
          <a:prstGeom prst="line">
            <a:avLst/>
          </a:prstGeom>
          <a:ln w="22225">
            <a:solidFill>
              <a:srgbClr val="A9A79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5638647" y="3364992"/>
            <a:ext cx="914400" cy="310896"/>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5638647" y="3364992"/>
            <a:ext cx="914400" cy="310896"/>
          </a:xfrm>
          <a:prstGeom prst="rect">
            <a:avLst/>
          </a:prstGeom>
          <a:noFill/>
        </p:spPr>
        <p:txBody>
          <a:bodyPr wrap="square" anchor="ctr" lIns="0" rIns="0" tIns="0" bIns="0">
            <a:spAutoFit/>
          </a:bodyPr>
          <a:lstStyle/>
          <a:p>
            <a:pPr algn="ctr"/>
            <a:r>
              <a:rPr sz="1200" b="0" i="0">
                <a:solidFill>
                  <a:srgbClr val="85837D"/>
                </a:solidFill>
                <a:latin typeface="Calibri"/>
              </a:rPr>
              <a:t>action</a:t>
            </a:r>
          </a:p>
        </p:txBody>
      </p:sp>
      <p:sp>
        <p:nvSpPr>
          <p:cNvPr id="26" name="TextBox 25"/>
          <p:cNvSpPr txBox="1"/>
          <p:nvPr/>
        </p:nvSpPr>
        <p:spPr>
          <a:xfrm>
            <a:off x="548640" y="4069080"/>
            <a:ext cx="10972800" cy="320040"/>
          </a:xfrm>
          <a:prstGeom prst="rect">
            <a:avLst/>
          </a:prstGeom>
          <a:noFill/>
        </p:spPr>
        <p:txBody>
          <a:bodyPr wrap="square" anchor="t" lIns="0" rIns="0" tIns="0" bIns="0">
            <a:spAutoFit/>
          </a:bodyPr>
          <a:lstStyle/>
          <a:p>
            <a:pPr algn="l"/>
            <a:r>
              <a:rPr sz="1300" b="0" i="0">
                <a:solidFill>
                  <a:srgbClr val="85837D"/>
                </a:solidFill>
                <a:latin typeface="Calibri"/>
              </a:rPr>
              <a:t>Continual training of the sleep variant: wake and sleep phases alternate on the same shared network</a:t>
            </a:r>
          </a:p>
        </p:txBody>
      </p:sp>
      <p:sp>
        <p:nvSpPr>
          <p:cNvPr id="27" name="Rounded Rectangle 26"/>
          <p:cNvSpPr/>
          <p:nvPr/>
        </p:nvSpPr>
        <p:spPr>
          <a:xfrm>
            <a:off x="548640" y="4480560"/>
            <a:ext cx="4206240" cy="1463040"/>
          </a:xfrm>
          <a:prstGeom prst="roundRect">
            <a:avLst>
              <a:gd name="adj" fmla="val 12000"/>
            </a:avLst>
          </a:prstGeom>
          <a:solidFill>
            <a:srgbClr val="F4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749808" y="4700016"/>
            <a:ext cx="128016" cy="128016"/>
          </a:xfrm>
          <a:prstGeom prst="ellipse">
            <a:avLst/>
          </a:prstGeom>
          <a:solidFill>
            <a:srgbClr val="5251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0976" y="4608576"/>
            <a:ext cx="3666743" cy="365760"/>
          </a:xfrm>
          <a:prstGeom prst="rect">
            <a:avLst/>
          </a:prstGeom>
          <a:noFill/>
        </p:spPr>
        <p:txBody>
          <a:bodyPr wrap="square" anchor="t" lIns="0" rIns="0" tIns="0" bIns="0">
            <a:spAutoFit/>
          </a:bodyPr>
          <a:lstStyle/>
          <a:p>
            <a:pPr algn="l"/>
            <a:r>
              <a:rPr sz="1600" b="1" i="0">
                <a:solidFill>
                  <a:srgbClr val="151514"/>
                </a:solidFill>
                <a:latin typeface="Calibri"/>
              </a:rPr>
              <a:t>Wake: online learning</a:t>
            </a:r>
          </a:p>
        </p:txBody>
      </p:sp>
      <p:sp>
        <p:nvSpPr>
          <p:cNvPr id="30" name="TextBox 29"/>
          <p:cNvSpPr txBox="1"/>
          <p:nvPr/>
        </p:nvSpPr>
        <p:spPr>
          <a:xfrm>
            <a:off x="749808" y="4983480"/>
            <a:ext cx="3840479" cy="914400"/>
          </a:xfrm>
          <a:prstGeom prst="rect">
            <a:avLst/>
          </a:prstGeom>
          <a:noFill/>
        </p:spPr>
        <p:txBody>
          <a:bodyPr wrap="square" anchor="t" lIns="0" rIns="0" tIns="0" bIns="0">
            <a:spAutoFit/>
          </a:bodyPr>
          <a:lstStyle/>
          <a:p>
            <a:pPr algn="l">
              <a:spcAft>
                <a:spcPts val="200"/>
              </a:spcAft>
            </a:pPr>
            <a:r>
              <a:rPr sz="1250" b="0" i="0">
                <a:solidFill>
                  <a:srgbClr val="52514E"/>
                </a:solidFill>
                <a:latin typeface="Calibri"/>
              </a:rPr>
              <a:t>PPO on the current task, acting in the environment</a:t>
            </a:r>
          </a:p>
          <a:p>
            <a:pPr algn="l">
              <a:spcAft>
                <a:spcPts val="200"/>
              </a:spcAft>
            </a:pPr>
            <a:r>
              <a:rPr sz="1250" b="0" i="0">
                <a:solidFill>
                  <a:srgbClr val="52514E"/>
                </a:solidFill>
                <a:latin typeface="Calibri"/>
              </a:rPr>
              <a:t>states stored in the buffer at the end of each task</a:t>
            </a:r>
          </a:p>
        </p:txBody>
      </p:sp>
      <p:sp>
        <p:nvSpPr>
          <p:cNvPr id="31" name="Can 30"/>
          <p:cNvSpPr/>
          <p:nvPr/>
        </p:nvSpPr>
        <p:spPr>
          <a:xfrm>
            <a:off x="5257800" y="4572000"/>
            <a:ext cx="1691640" cy="1280160"/>
          </a:xfrm>
          <a:prstGeom prst="can">
            <a:avLst/>
          </a:prstGeom>
          <a:solidFill>
            <a:srgbClr val="EBE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257800" y="4983480"/>
            <a:ext cx="1691640" cy="822960"/>
          </a:xfrm>
          <a:prstGeom prst="rect">
            <a:avLst/>
          </a:prstGeom>
          <a:noFill/>
        </p:spPr>
        <p:txBody>
          <a:bodyPr wrap="square" anchor="t" lIns="0" rIns="0" tIns="0" bIns="0">
            <a:spAutoFit/>
          </a:bodyPr>
          <a:lstStyle/>
          <a:p>
            <a:pPr algn="ctr"/>
            <a:r>
              <a:rPr sz="1400" b="1" i="0">
                <a:solidFill>
                  <a:srgbClr val="151514"/>
                </a:solidFill>
                <a:latin typeface="Calibri"/>
              </a:rPr>
              <a:t>Replay buffer</a:t>
            </a:r>
          </a:p>
          <a:p>
            <a:pPr algn="ctr"/>
            <a:r>
              <a:rPr sz="1200" b="0" i="0">
                <a:solidFill>
                  <a:srgbClr val="52514E"/>
                </a:solidFill>
                <a:latin typeface="Calibri"/>
              </a:rPr>
              <a:t>5,000 states / task</a:t>
            </a:r>
          </a:p>
        </p:txBody>
      </p:sp>
      <p:sp>
        <p:nvSpPr>
          <p:cNvPr id="33" name="Rounded Rectangle 32"/>
          <p:cNvSpPr/>
          <p:nvPr/>
        </p:nvSpPr>
        <p:spPr>
          <a:xfrm>
            <a:off x="7434072" y="4480560"/>
            <a:ext cx="4208983" cy="1463040"/>
          </a:xfrm>
          <a:prstGeom prst="roundRect">
            <a:avLst>
              <a:gd name="adj" fmla="val 12000"/>
            </a:avLst>
          </a:prstGeom>
          <a:solidFill>
            <a:srgbClr val="F4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7635240" y="4700016"/>
            <a:ext cx="128016" cy="128016"/>
          </a:xfrm>
          <a:prstGeom prst="ellipse">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36408" y="4608576"/>
            <a:ext cx="3669487" cy="365760"/>
          </a:xfrm>
          <a:prstGeom prst="rect">
            <a:avLst/>
          </a:prstGeom>
          <a:noFill/>
        </p:spPr>
        <p:txBody>
          <a:bodyPr wrap="square" anchor="t" lIns="0" rIns="0" tIns="0" bIns="0">
            <a:spAutoFit/>
          </a:bodyPr>
          <a:lstStyle/>
          <a:p>
            <a:pPr algn="l"/>
            <a:r>
              <a:rPr sz="1600" b="1" i="0">
                <a:solidFill>
                  <a:srgbClr val="151514"/>
                </a:solidFill>
                <a:latin typeface="Calibri"/>
              </a:rPr>
              <a:t>Sleep: offline consolidation</a:t>
            </a:r>
          </a:p>
        </p:txBody>
      </p:sp>
      <p:sp>
        <p:nvSpPr>
          <p:cNvPr id="36" name="TextBox 35"/>
          <p:cNvSpPr txBox="1"/>
          <p:nvPr/>
        </p:nvSpPr>
        <p:spPr>
          <a:xfrm>
            <a:off x="7635240" y="4983480"/>
            <a:ext cx="3843223" cy="914400"/>
          </a:xfrm>
          <a:prstGeom prst="rect">
            <a:avLst/>
          </a:prstGeom>
          <a:noFill/>
        </p:spPr>
        <p:txBody>
          <a:bodyPr wrap="square" anchor="t" lIns="0" rIns="0" tIns="0" bIns="0">
            <a:spAutoFit/>
          </a:bodyPr>
          <a:lstStyle/>
          <a:p>
            <a:pPr algn="l">
              <a:spcAft>
                <a:spcPts val="200"/>
              </a:spcAft>
            </a:pPr>
            <a:r>
              <a:rPr sz="1250" b="0" i="0">
                <a:solidFill>
                  <a:srgbClr val="52514E"/>
                </a:solidFill>
                <a:latin typeface="Calibri"/>
              </a:rPr>
              <a:t>every 25 updates and at each task end: 700 gradient steps, no environment</a:t>
            </a:r>
          </a:p>
          <a:p>
            <a:pPr algn="l">
              <a:spcAft>
                <a:spcPts val="200"/>
              </a:spcAft>
            </a:pPr>
            <a:r>
              <a:rPr sz="1250" b="0" i="0">
                <a:solidFill>
                  <a:srgbClr val="52514E"/>
                </a:solidFill>
                <a:latin typeface="Calibri"/>
              </a:rPr>
              <a:t>distil old tasks' policies + rehearse the current task</a:t>
            </a:r>
          </a:p>
        </p:txBody>
      </p:sp>
      <p:cxnSp>
        <p:nvCxnSpPr>
          <p:cNvPr id="37" name="Connector 36"/>
          <p:cNvCxnSpPr/>
          <p:nvPr/>
        </p:nvCxnSpPr>
        <p:spPr>
          <a:xfrm>
            <a:off x="4800599" y="5212080"/>
            <a:ext cx="411481" cy="0"/>
          </a:xfrm>
          <a:prstGeom prst="line">
            <a:avLst/>
          </a:prstGeom>
          <a:ln w="22225">
            <a:solidFill>
              <a:srgbClr val="A9A79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6995160" y="5212080"/>
            <a:ext cx="393192" cy="0"/>
          </a:xfrm>
          <a:prstGeom prst="line">
            <a:avLst/>
          </a:prstGeom>
          <a:ln w="22225">
            <a:solidFill>
              <a:srgbClr val="A9A79E"/>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548640" y="6446520"/>
            <a:ext cx="5486400" cy="274320"/>
          </a:xfrm>
          <a:prstGeom prst="rect">
            <a:avLst/>
          </a:prstGeom>
          <a:noFill/>
        </p:spPr>
        <p:txBody>
          <a:bodyPr wrap="square" anchor="t" lIns="0" rIns="0" tIns="0" bIns="0">
            <a:spAutoFit/>
          </a:bodyPr>
          <a:lstStyle/>
          <a:p>
            <a:pPr algn="l"/>
            <a:r>
              <a:rPr sz="1000" b="0" i="0">
                <a:solidFill>
                  <a:srgbClr val="85837D"/>
                </a:solidFill>
                <a:latin typeface="Calibri"/>
              </a:rPr>
              <a:t>NeuroPlast · final review</a:t>
            </a:r>
          </a:p>
        </p:txBody>
      </p:sp>
      <p:sp>
        <p:nvSpPr>
          <p:cNvPr id="40" name="TextBox 39"/>
          <p:cNvSpPr txBox="1"/>
          <p:nvPr/>
        </p:nvSpPr>
        <p:spPr>
          <a:xfrm>
            <a:off x="9814255" y="6446520"/>
            <a:ext cx="1828800" cy="274320"/>
          </a:xfrm>
          <a:prstGeom prst="rect">
            <a:avLst/>
          </a:prstGeom>
          <a:noFill/>
        </p:spPr>
        <p:txBody>
          <a:bodyPr wrap="square" anchor="t" lIns="0" rIns="0" tIns="0" bIns="0">
            <a:spAutoFit/>
          </a:bodyPr>
          <a:lstStyle/>
          <a:p>
            <a:pPr algn="r"/>
            <a:r>
              <a:rPr sz="1000" b="0" i="0">
                <a:solidFill>
                  <a:srgbClr val="85837D"/>
                </a:solidFill>
                <a:latin typeface="Calibri"/>
              </a:rPr>
              <a:t>5 / 15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320040"/>
          </a:xfrm>
          <a:prstGeom prst="rect">
            <a:avLst/>
          </a:prstGeom>
          <a:noFill/>
        </p:spPr>
        <p:txBody>
          <a:bodyPr wrap="square" anchor="t" lIns="0" rIns="0" tIns="0" bIns="0">
            <a:spAutoFit/>
          </a:bodyPr>
          <a:lstStyle/>
          <a:p>
            <a:pPr algn="l"/>
            <a:r>
              <a:rPr sz="1200" b="1" i="0">
                <a:solidFill>
                  <a:srgbClr val="2A78D6"/>
                </a:solidFill>
                <a:latin typeface="Calibri"/>
              </a:rPr>
              <a:t>HOW IT WAS TESTED</a:t>
            </a:r>
          </a:p>
        </p:txBody>
      </p:sp>
      <p:sp>
        <p:nvSpPr>
          <p:cNvPr id="3" name="TextBox 2"/>
          <p:cNvSpPr txBox="1"/>
          <p:nvPr/>
        </p:nvSpPr>
        <p:spPr>
          <a:xfrm>
            <a:off x="548640" y="740664"/>
            <a:ext cx="11094415" cy="822960"/>
          </a:xfrm>
          <a:prstGeom prst="rect">
            <a:avLst/>
          </a:prstGeom>
          <a:noFill/>
        </p:spPr>
        <p:txBody>
          <a:bodyPr wrap="square" anchor="t" lIns="0" rIns="0" tIns="0" bIns="0">
            <a:spAutoFit/>
          </a:bodyPr>
          <a:lstStyle/>
          <a:p>
            <a:pPr algn="l"/>
            <a:r>
              <a:rPr sz="3000" b="1" i="0">
                <a:solidFill>
                  <a:srgbClr val="151514"/>
                </a:solidFill>
                <a:latin typeface="Cambria"/>
              </a:rPr>
              <a:t>Experimental setup and fairness controls</a:t>
            </a:r>
          </a:p>
        </p:txBody>
      </p:sp>
      <p:sp>
        <p:nvSpPr>
          <p:cNvPr id="4" name="Rounded Rectangle 3"/>
          <p:cNvSpPr/>
          <p:nvPr/>
        </p:nvSpPr>
        <p:spPr>
          <a:xfrm>
            <a:off x="548640" y="1737360"/>
            <a:ext cx="5212080" cy="3017520"/>
          </a:xfrm>
          <a:prstGeom prst="roundRect">
            <a:avLst>
              <a:gd name="adj" fmla="val 12000"/>
            </a:avLst>
          </a:prstGeom>
          <a:solidFill>
            <a:srgbClr val="F4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49808" y="1956815"/>
            <a:ext cx="128016" cy="128016"/>
          </a:xfrm>
          <a:prstGeom prst="ellipse">
            <a:avLst/>
          </a:prstGeom>
          <a:solidFill>
            <a:srgbClr val="5251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50976" y="1865376"/>
            <a:ext cx="4672583" cy="365760"/>
          </a:xfrm>
          <a:prstGeom prst="rect">
            <a:avLst/>
          </a:prstGeom>
          <a:noFill/>
        </p:spPr>
        <p:txBody>
          <a:bodyPr wrap="square" anchor="t" lIns="0" rIns="0" tIns="0" bIns="0">
            <a:spAutoFit/>
          </a:bodyPr>
          <a:lstStyle/>
          <a:p>
            <a:pPr algn="l"/>
            <a:r>
              <a:rPr sz="1600" b="1" i="0">
                <a:solidFill>
                  <a:srgbClr val="151514"/>
                </a:solidFill>
                <a:latin typeface="Calibri"/>
              </a:rPr>
              <a:t>Setup</a:t>
            </a:r>
          </a:p>
        </p:txBody>
      </p:sp>
      <p:sp>
        <p:nvSpPr>
          <p:cNvPr id="7" name="TextBox 6"/>
          <p:cNvSpPr txBox="1"/>
          <p:nvPr/>
        </p:nvSpPr>
        <p:spPr>
          <a:xfrm>
            <a:off x="749808" y="2240280"/>
            <a:ext cx="4846320" cy="2468879"/>
          </a:xfrm>
          <a:prstGeom prst="rect">
            <a:avLst/>
          </a:prstGeom>
          <a:noFill/>
        </p:spPr>
        <p:txBody>
          <a:bodyPr wrap="square" anchor="t" lIns="0" rIns="0" tIns="0" bIns="0">
            <a:spAutoFit/>
          </a:bodyPr>
          <a:lstStyle/>
          <a:p/>
        </p:txBody>
      </p:sp>
      <p:sp>
        <p:nvSpPr>
          <p:cNvPr id="8" name="TextBox 7"/>
          <p:cNvSpPr txBox="1"/>
          <p:nvPr/>
        </p:nvSpPr>
        <p:spPr>
          <a:xfrm>
            <a:off x="749808" y="2286000"/>
            <a:ext cx="4846320" cy="2468880"/>
          </a:xfrm>
          <a:prstGeom prst="rect">
            <a:avLst/>
          </a:prstGeom>
          <a:noFill/>
        </p:spPr>
        <p:txBody>
          <a:bodyPr wrap="square" anchor="t" lIns="0" rIns="0" tIns="0" bIns="0">
            <a:spAutoFit/>
          </a:bodyPr>
          <a:lstStyle/>
          <a:p>
            <a:pPr algn="l" marL="256032" indent="-201168">
              <a:spcAft>
                <a:spcPts val="800"/>
              </a:spcAft>
              <a:buClr>
                <a:srgbClr val="85837D"/>
              </a:buClr>
              <a:buFont typeface="Arial"/>
              <a:buChar char="•"/>
            </a:pPr>
            <a:r>
              <a:rPr sz="1500" b="0" i="0">
                <a:solidFill>
                  <a:srgbClr val="151514"/>
                </a:solidFill>
                <a:latin typeface="Calibri"/>
              </a:rPr>
              <a:t>MiniGrid: fetch3 / fetch5 sequences (task ID given), DoorKey-6x6, Memory S7/S11/S13</a:t>
            </a:r>
          </a:p>
          <a:p>
            <a:pPr algn="l" marL="256032" indent="-201168">
              <a:spcAft>
                <a:spcPts val="800"/>
              </a:spcAft>
              <a:buClr>
                <a:srgbClr val="85837D"/>
              </a:buClr>
              <a:buFont typeface="Arial"/>
              <a:buChar char="•"/>
            </a:pPr>
            <a:r>
              <a:rPr sz="1500" b="0" i="0">
                <a:solidFill>
                  <a:srgbClr val="151514"/>
                </a:solidFill>
                <a:latin typeface="Calibri"/>
              </a:rPr>
              <a:t>PPO, small agents (159,864–327,800 parameters)</a:t>
            </a:r>
          </a:p>
          <a:p>
            <a:pPr algn="l" marL="256032" indent="-201168">
              <a:spcAft>
                <a:spcPts val="800"/>
              </a:spcAft>
              <a:buClr>
                <a:srgbClr val="85837D"/>
              </a:buClr>
              <a:buFont typeface="Arial"/>
              <a:buChar char="•"/>
            </a:pPr>
            <a:r>
              <a:rPr sz="1500" b="0" i="0">
                <a:solidFill>
                  <a:srgbClr val="151514"/>
                </a:solidFill>
                <a:latin typeface="Calibri"/>
              </a:rPr>
              <a:t>Metrics: final accuracy (ACC), forgetting, learning speed (AUC), solve rate</a:t>
            </a:r>
          </a:p>
        </p:txBody>
      </p:sp>
      <p:sp>
        <p:nvSpPr>
          <p:cNvPr id="9" name="TextBox 8"/>
          <p:cNvSpPr txBox="1"/>
          <p:nvPr/>
        </p:nvSpPr>
        <p:spPr>
          <a:xfrm>
            <a:off x="640080" y="4937760"/>
            <a:ext cx="1691640" cy="685800"/>
          </a:xfrm>
          <a:prstGeom prst="rect">
            <a:avLst/>
          </a:prstGeom>
          <a:noFill/>
        </p:spPr>
        <p:txBody>
          <a:bodyPr wrap="square" anchor="t" lIns="0" rIns="0" tIns="0" bIns="0">
            <a:spAutoFit/>
          </a:bodyPr>
          <a:lstStyle/>
          <a:p>
            <a:pPr algn="l"/>
            <a:r>
              <a:rPr sz="3400" b="1" i="0">
                <a:solidFill>
                  <a:srgbClr val="151514"/>
                </a:solidFill>
                <a:latin typeface="Cambria"/>
              </a:rPr>
              <a:t>3–10</a:t>
            </a:r>
          </a:p>
        </p:txBody>
      </p:sp>
      <p:sp>
        <p:nvSpPr>
          <p:cNvPr id="10" name="TextBox 9"/>
          <p:cNvSpPr txBox="1"/>
          <p:nvPr/>
        </p:nvSpPr>
        <p:spPr>
          <a:xfrm>
            <a:off x="640080" y="5596128"/>
            <a:ext cx="1691640" cy="731520"/>
          </a:xfrm>
          <a:prstGeom prst="rect">
            <a:avLst/>
          </a:prstGeom>
          <a:noFill/>
        </p:spPr>
        <p:txBody>
          <a:bodyPr wrap="square" anchor="t" lIns="0" rIns="0" tIns="0" bIns="0">
            <a:spAutoFit/>
          </a:bodyPr>
          <a:lstStyle/>
          <a:p>
            <a:pPr algn="l">
              <a:lnSpc>
                <a:spcPct val="105000"/>
              </a:lnSpc>
            </a:pPr>
            <a:r>
              <a:rPr sz="1300" b="0" i="0">
                <a:solidFill>
                  <a:srgbClr val="52514E"/>
                </a:solidFill>
                <a:latin typeface="Calibri"/>
              </a:rPr>
              <a:t>seeds per arm</a:t>
            </a:r>
          </a:p>
        </p:txBody>
      </p:sp>
      <p:sp>
        <p:nvSpPr>
          <p:cNvPr id="11" name="TextBox 10"/>
          <p:cNvSpPr txBox="1"/>
          <p:nvPr/>
        </p:nvSpPr>
        <p:spPr>
          <a:xfrm>
            <a:off x="2423160" y="4937760"/>
            <a:ext cx="1691640" cy="685800"/>
          </a:xfrm>
          <a:prstGeom prst="rect">
            <a:avLst/>
          </a:prstGeom>
          <a:noFill/>
        </p:spPr>
        <p:txBody>
          <a:bodyPr wrap="square" anchor="t" lIns="0" rIns="0" tIns="0" bIns="0">
            <a:spAutoFit/>
          </a:bodyPr>
          <a:lstStyle/>
          <a:p>
            <a:pPr algn="l"/>
            <a:r>
              <a:rPr sz="3400" b="1" i="0">
                <a:solidFill>
                  <a:srgbClr val="151514"/>
                </a:solidFill>
                <a:latin typeface="Cambria"/>
              </a:rPr>
              <a:t>289</a:t>
            </a:r>
          </a:p>
        </p:txBody>
      </p:sp>
      <p:sp>
        <p:nvSpPr>
          <p:cNvPr id="12" name="TextBox 11"/>
          <p:cNvSpPr txBox="1"/>
          <p:nvPr/>
        </p:nvSpPr>
        <p:spPr>
          <a:xfrm>
            <a:off x="2423160" y="5596128"/>
            <a:ext cx="1691640" cy="731520"/>
          </a:xfrm>
          <a:prstGeom prst="rect">
            <a:avLst/>
          </a:prstGeom>
          <a:noFill/>
        </p:spPr>
        <p:txBody>
          <a:bodyPr wrap="square" anchor="t" lIns="0" rIns="0" tIns="0" bIns="0">
            <a:spAutoFit/>
          </a:bodyPr>
          <a:lstStyle/>
          <a:p>
            <a:pPr algn="l">
              <a:lnSpc>
                <a:spcPct val="105000"/>
              </a:lnSpc>
            </a:pPr>
            <a:r>
              <a:rPr sz="1300" b="0" i="0">
                <a:solidFill>
                  <a:srgbClr val="52514E"/>
                </a:solidFill>
                <a:latin typeface="Calibri"/>
              </a:rPr>
              <a:t>PPO runs</a:t>
            </a:r>
          </a:p>
        </p:txBody>
      </p:sp>
      <p:sp>
        <p:nvSpPr>
          <p:cNvPr id="13" name="TextBox 12"/>
          <p:cNvSpPr txBox="1"/>
          <p:nvPr/>
        </p:nvSpPr>
        <p:spPr>
          <a:xfrm>
            <a:off x="4206240" y="4937760"/>
            <a:ext cx="1691640" cy="685800"/>
          </a:xfrm>
          <a:prstGeom prst="rect">
            <a:avLst/>
          </a:prstGeom>
          <a:noFill/>
        </p:spPr>
        <p:txBody>
          <a:bodyPr wrap="square" anchor="t" lIns="0" rIns="0" tIns="0" bIns="0">
            <a:spAutoFit/>
          </a:bodyPr>
          <a:lstStyle/>
          <a:p>
            <a:pPr algn="l"/>
            <a:r>
              <a:rPr sz="3400" b="1" i="0">
                <a:solidFill>
                  <a:srgbClr val="151514"/>
                </a:solidFill>
                <a:latin typeface="Cambria"/>
              </a:rPr>
              <a:t>110</a:t>
            </a:r>
          </a:p>
        </p:txBody>
      </p:sp>
      <p:sp>
        <p:nvSpPr>
          <p:cNvPr id="14" name="TextBox 13"/>
          <p:cNvSpPr txBox="1"/>
          <p:nvPr/>
        </p:nvSpPr>
        <p:spPr>
          <a:xfrm>
            <a:off x="4206240" y="5596128"/>
            <a:ext cx="1691640" cy="731520"/>
          </a:xfrm>
          <a:prstGeom prst="rect">
            <a:avLst/>
          </a:prstGeom>
          <a:noFill/>
        </p:spPr>
        <p:txBody>
          <a:bodyPr wrap="square" anchor="t" lIns="0" rIns="0" tIns="0" bIns="0">
            <a:spAutoFit/>
          </a:bodyPr>
          <a:lstStyle/>
          <a:p>
            <a:pPr algn="l">
              <a:lnSpc>
                <a:spcPct val="105000"/>
              </a:lnSpc>
            </a:pPr>
            <a:r>
              <a:rPr sz="1300" b="0" i="0">
                <a:solidFill>
                  <a:srgbClr val="52514E"/>
                </a:solidFill>
                <a:latin typeface="Calibri"/>
              </a:rPr>
              <a:t>single-thread CPU hours, no GPU</a:t>
            </a:r>
          </a:p>
        </p:txBody>
      </p:sp>
      <p:sp>
        <p:nvSpPr>
          <p:cNvPr id="15" name="Rounded Rectangle 14"/>
          <p:cNvSpPr/>
          <p:nvPr/>
        </p:nvSpPr>
        <p:spPr>
          <a:xfrm>
            <a:off x="6035040" y="1737360"/>
            <a:ext cx="5608015" cy="4251960"/>
          </a:xfrm>
          <a:prstGeom prst="roundRect">
            <a:avLst>
              <a:gd name="adj" fmla="val 12000"/>
            </a:avLst>
          </a:prstGeom>
          <a:solidFill>
            <a:srgbClr val="F4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6236207" y="1956815"/>
            <a:ext cx="128016" cy="128016"/>
          </a:xfrm>
          <a:prstGeom prst="ellipse">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37376" y="1865376"/>
            <a:ext cx="5068519" cy="365760"/>
          </a:xfrm>
          <a:prstGeom prst="rect">
            <a:avLst/>
          </a:prstGeom>
          <a:noFill/>
        </p:spPr>
        <p:txBody>
          <a:bodyPr wrap="square" anchor="t" lIns="0" rIns="0" tIns="0" bIns="0">
            <a:spAutoFit/>
          </a:bodyPr>
          <a:lstStyle/>
          <a:p>
            <a:pPr algn="l"/>
            <a:r>
              <a:rPr sz="1600" b="1" i="0">
                <a:solidFill>
                  <a:srgbClr val="151514"/>
                </a:solidFill>
                <a:latin typeface="Calibri"/>
              </a:rPr>
              <a:t>Fairness controls</a:t>
            </a:r>
          </a:p>
        </p:txBody>
      </p:sp>
      <p:sp>
        <p:nvSpPr>
          <p:cNvPr id="18" name="TextBox 17"/>
          <p:cNvSpPr txBox="1"/>
          <p:nvPr/>
        </p:nvSpPr>
        <p:spPr>
          <a:xfrm>
            <a:off x="6236207" y="2240280"/>
            <a:ext cx="5242255" cy="3703320"/>
          </a:xfrm>
          <a:prstGeom prst="rect">
            <a:avLst/>
          </a:prstGeom>
          <a:noFill/>
        </p:spPr>
        <p:txBody>
          <a:bodyPr wrap="square" anchor="t" lIns="0" rIns="0" tIns="0" bIns="0">
            <a:spAutoFit/>
          </a:bodyPr>
          <a:lstStyle/>
          <a:p/>
        </p:txBody>
      </p:sp>
      <p:sp>
        <p:nvSpPr>
          <p:cNvPr id="19" name="TextBox 18"/>
          <p:cNvSpPr txBox="1"/>
          <p:nvPr/>
        </p:nvSpPr>
        <p:spPr>
          <a:xfrm>
            <a:off x="6236208" y="2286000"/>
            <a:ext cx="5333695" cy="3657600"/>
          </a:xfrm>
          <a:prstGeom prst="rect">
            <a:avLst/>
          </a:prstGeom>
          <a:noFill/>
        </p:spPr>
        <p:txBody>
          <a:bodyPr wrap="square" anchor="t" lIns="0" rIns="0" tIns="0" bIns="0">
            <a:spAutoFit/>
          </a:bodyPr>
          <a:lstStyle/>
          <a:p>
            <a:pPr algn="l" marL="256032" indent="-201168">
              <a:spcAft>
                <a:spcPts val="1200"/>
              </a:spcAft>
              <a:buClr>
                <a:srgbClr val="85837D"/>
              </a:buClr>
              <a:buFont typeface="Arial"/>
              <a:buChar char="•"/>
            </a:pPr>
            <a:r>
              <a:rPr sz="1600" b="0" i="0">
                <a:solidFill>
                  <a:srgbClr val="151514"/>
                </a:solidFill>
                <a:latin typeface="Calibri"/>
              </a:rPr>
              <a:t>Same frames, seeds and learning rate in every arm of a comparison</a:t>
            </a:r>
          </a:p>
          <a:p>
            <a:pPr algn="l" marL="256032" indent="-201168">
              <a:spcAft>
                <a:spcPts val="1200"/>
              </a:spcAft>
              <a:buClr>
                <a:srgbClr val="85837D"/>
              </a:buClr>
              <a:buFont typeface="Arial"/>
              <a:buChar char="•"/>
            </a:pPr>
            <a:r>
              <a:rPr sz="1600" b="0" i="0">
                <a:solidFill>
                  <a:srgbClr val="151514"/>
                </a:solidFill>
                <a:latin typeface="Calibri"/>
              </a:rPr>
              <a:t>STDP vs a random update of exactly the same size</a:t>
            </a:r>
          </a:p>
          <a:p>
            <a:pPr algn="l" marL="256032" indent="-201168">
              <a:spcAft>
                <a:spcPts val="1200"/>
              </a:spcAft>
              <a:buClr>
                <a:srgbClr val="85837D"/>
              </a:buClr>
              <a:buFont typeface="Arial"/>
              <a:buChar char="•"/>
            </a:pPr>
            <a:r>
              <a:rPr sz="1600" b="0" i="0">
                <a:solidFill>
                  <a:srgbClr val="151514"/>
                </a:solidFill>
                <a:latin typeface="Calibri"/>
              </a:rPr>
              <a:t>Sleep vs replay with the number of replayed samples matched exactly</a:t>
            </a:r>
          </a:p>
          <a:p>
            <a:pPr algn="l" marL="256032" indent="-201168">
              <a:spcAft>
                <a:spcPts val="1200"/>
              </a:spcAft>
              <a:buClr>
                <a:srgbClr val="85837D"/>
              </a:buClr>
              <a:buFont typeface="Arial"/>
              <a:buChar char="•"/>
            </a:pPr>
            <a:r>
              <a:rPr sz="1600" b="0" i="0">
                <a:solidFill>
                  <a:srgbClr val="151514"/>
                </a:solidFill>
                <a:latin typeface="Calibri"/>
              </a:rPr>
              <a:t>Memory counted as parameters plus replay buffer, not parameters alone</a:t>
            </a:r>
          </a:p>
          <a:p>
            <a:pPr algn="l" marL="256032" indent="-201168">
              <a:spcAft>
                <a:spcPts val="1200"/>
              </a:spcAft>
              <a:buClr>
                <a:srgbClr val="85837D"/>
              </a:buClr>
              <a:buFont typeface="Arial"/>
              <a:buChar char="•"/>
            </a:pPr>
            <a:r>
              <a:rPr sz="1600" b="0" i="0">
                <a:solidFill>
                  <a:srgbClr val="151514"/>
                </a:solidFill>
                <a:latin typeface="Calibri"/>
              </a:rPr>
              <a:t>Pre-registered tests; Welch / Fisher; Holm correction; 95% CIs</a:t>
            </a:r>
          </a:p>
        </p:txBody>
      </p:sp>
      <p:sp>
        <p:nvSpPr>
          <p:cNvPr id="20" name="TextBox 19"/>
          <p:cNvSpPr txBox="1"/>
          <p:nvPr/>
        </p:nvSpPr>
        <p:spPr>
          <a:xfrm>
            <a:off x="548640" y="6446520"/>
            <a:ext cx="5486400" cy="274320"/>
          </a:xfrm>
          <a:prstGeom prst="rect">
            <a:avLst/>
          </a:prstGeom>
          <a:noFill/>
        </p:spPr>
        <p:txBody>
          <a:bodyPr wrap="square" anchor="t" lIns="0" rIns="0" tIns="0" bIns="0">
            <a:spAutoFit/>
          </a:bodyPr>
          <a:lstStyle/>
          <a:p>
            <a:pPr algn="l"/>
            <a:r>
              <a:rPr sz="1000" b="0" i="0">
                <a:solidFill>
                  <a:srgbClr val="85837D"/>
                </a:solidFill>
                <a:latin typeface="Calibri"/>
              </a:rPr>
              <a:t>NeuroPlast · final review</a:t>
            </a:r>
          </a:p>
        </p:txBody>
      </p:sp>
      <p:sp>
        <p:nvSpPr>
          <p:cNvPr id="21" name="TextBox 20"/>
          <p:cNvSpPr txBox="1"/>
          <p:nvPr/>
        </p:nvSpPr>
        <p:spPr>
          <a:xfrm>
            <a:off x="9814255" y="6446520"/>
            <a:ext cx="1828800" cy="274320"/>
          </a:xfrm>
          <a:prstGeom prst="rect">
            <a:avLst/>
          </a:prstGeom>
          <a:noFill/>
        </p:spPr>
        <p:txBody>
          <a:bodyPr wrap="square" anchor="t" lIns="0" rIns="0" tIns="0" bIns="0">
            <a:spAutoFit/>
          </a:bodyPr>
          <a:lstStyle/>
          <a:p>
            <a:pPr algn="r"/>
            <a:r>
              <a:rPr sz="1000" b="0" i="0">
                <a:solidFill>
                  <a:srgbClr val="85837D"/>
                </a:solidFill>
                <a:latin typeface="Calibri"/>
              </a:rPr>
              <a:t>6 / 15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320040"/>
          </a:xfrm>
          <a:prstGeom prst="rect">
            <a:avLst/>
          </a:prstGeom>
          <a:noFill/>
        </p:spPr>
        <p:txBody>
          <a:bodyPr wrap="square" anchor="t" lIns="0" rIns="0" tIns="0" bIns="0">
            <a:spAutoFit/>
          </a:bodyPr>
          <a:lstStyle/>
          <a:p>
            <a:pPr algn="l"/>
            <a:r>
              <a:rPr sz="1200" b="1" i="0">
                <a:solidFill>
                  <a:srgbClr val="2A78D6"/>
                </a:solidFill>
                <a:latin typeface="Calibri"/>
              </a:rPr>
              <a:t>MECHANISM SCORECARD</a:t>
            </a:r>
          </a:p>
        </p:txBody>
      </p:sp>
      <p:sp>
        <p:nvSpPr>
          <p:cNvPr id="3" name="TextBox 2"/>
          <p:cNvSpPr txBox="1"/>
          <p:nvPr/>
        </p:nvSpPr>
        <p:spPr>
          <a:xfrm>
            <a:off x="548640" y="740664"/>
            <a:ext cx="11094415" cy="822960"/>
          </a:xfrm>
          <a:prstGeom prst="rect">
            <a:avLst/>
          </a:prstGeom>
          <a:noFill/>
        </p:spPr>
        <p:txBody>
          <a:bodyPr wrap="square" anchor="t" lIns="0" rIns="0" tIns="0" bIns="0">
            <a:spAutoFit/>
          </a:bodyPr>
          <a:lstStyle/>
          <a:p>
            <a:pPr algn="l"/>
            <a:r>
              <a:rPr sz="3000" b="1" i="0">
                <a:solidFill>
                  <a:srgbClr val="151514"/>
                </a:solidFill>
                <a:latin typeface="Cambria"/>
              </a:rPr>
              <a:t>Results at a glance: mostly no, with two exceptions</a:t>
            </a:r>
          </a:p>
        </p:txBody>
      </p:sp>
      <p:sp>
        <p:nvSpPr>
          <p:cNvPr id="4" name="TextBox 3"/>
          <p:cNvSpPr txBox="1"/>
          <p:nvPr/>
        </p:nvSpPr>
        <p:spPr>
          <a:xfrm>
            <a:off x="731520" y="1719072"/>
            <a:ext cx="3291840" cy="274320"/>
          </a:xfrm>
          <a:prstGeom prst="rect">
            <a:avLst/>
          </a:prstGeom>
          <a:noFill/>
        </p:spPr>
        <p:txBody>
          <a:bodyPr wrap="square" anchor="t" lIns="0" rIns="0" tIns="0" bIns="0">
            <a:spAutoFit/>
          </a:bodyPr>
          <a:lstStyle/>
          <a:p>
            <a:pPr algn="l"/>
            <a:r>
              <a:rPr sz="1050" b="1" i="0">
                <a:solidFill>
                  <a:srgbClr val="85837D"/>
                </a:solidFill>
                <a:latin typeface="Calibri"/>
              </a:rPr>
              <a:t>MECHANISM</a:t>
            </a:r>
          </a:p>
        </p:txBody>
      </p:sp>
      <p:sp>
        <p:nvSpPr>
          <p:cNvPr id="5" name="TextBox 4"/>
          <p:cNvSpPr txBox="1"/>
          <p:nvPr/>
        </p:nvSpPr>
        <p:spPr>
          <a:xfrm>
            <a:off x="3840480" y="1719072"/>
            <a:ext cx="3108960" cy="274320"/>
          </a:xfrm>
          <a:prstGeom prst="rect">
            <a:avLst/>
          </a:prstGeom>
          <a:noFill/>
        </p:spPr>
        <p:txBody>
          <a:bodyPr wrap="square" anchor="t" lIns="0" rIns="0" tIns="0" bIns="0">
            <a:spAutoFit/>
          </a:bodyPr>
          <a:lstStyle/>
          <a:p>
            <a:pPr algn="l"/>
            <a:r>
              <a:rPr sz="1050" b="1" i="0">
                <a:solidFill>
                  <a:srgbClr val="85837D"/>
                </a:solidFill>
                <a:latin typeface="Calibri"/>
              </a:rPr>
              <a:t>VERDICT</a:t>
            </a:r>
          </a:p>
        </p:txBody>
      </p:sp>
      <p:sp>
        <p:nvSpPr>
          <p:cNvPr id="6" name="TextBox 5"/>
          <p:cNvSpPr txBox="1"/>
          <p:nvPr/>
        </p:nvSpPr>
        <p:spPr>
          <a:xfrm>
            <a:off x="7178040" y="1719072"/>
            <a:ext cx="4572000" cy="274320"/>
          </a:xfrm>
          <a:prstGeom prst="rect">
            <a:avLst/>
          </a:prstGeom>
          <a:noFill/>
        </p:spPr>
        <p:txBody>
          <a:bodyPr wrap="square" anchor="t" lIns="0" rIns="0" tIns="0" bIns="0">
            <a:spAutoFit/>
          </a:bodyPr>
          <a:lstStyle/>
          <a:p>
            <a:pPr algn="l"/>
            <a:r>
              <a:rPr sz="1050" b="1" i="0">
                <a:solidFill>
                  <a:srgbClr val="85837D"/>
                </a:solidFill>
                <a:latin typeface="Calibri"/>
              </a:rPr>
              <a:t>KEY NUMBER (95% CI)</a:t>
            </a:r>
          </a:p>
        </p:txBody>
      </p:sp>
      <p:sp>
        <p:nvSpPr>
          <p:cNvPr id="7" name="Rounded Rectangle 6"/>
          <p:cNvSpPr/>
          <p:nvPr/>
        </p:nvSpPr>
        <p:spPr>
          <a:xfrm>
            <a:off x="548640" y="2057400"/>
            <a:ext cx="11094415" cy="512064"/>
          </a:xfrm>
          <a:prstGeom prst="roundRect">
            <a:avLst>
              <a:gd name="adj" fmla="val 20000"/>
            </a:avLst>
          </a:prstGeom>
          <a:solidFill>
            <a:srgbClr val="F4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31520" y="2057400"/>
            <a:ext cx="3200400" cy="512064"/>
          </a:xfrm>
          <a:prstGeom prst="rect">
            <a:avLst/>
          </a:prstGeom>
          <a:noFill/>
        </p:spPr>
        <p:txBody>
          <a:bodyPr wrap="square" anchor="ctr" lIns="0" rIns="0" tIns="0" bIns="0">
            <a:spAutoFit/>
          </a:bodyPr>
          <a:lstStyle/>
          <a:p>
            <a:pPr algn="l"/>
            <a:r>
              <a:rPr sz="1450" b="1" i="0">
                <a:solidFill>
                  <a:srgbClr val="151514"/>
                </a:solidFill>
                <a:latin typeface="Calibri"/>
              </a:rPr>
              <a:t>Spiking encoder</a:t>
            </a:r>
          </a:p>
        </p:txBody>
      </p:sp>
      <p:sp>
        <p:nvSpPr>
          <p:cNvPr id="9" name="Rounded Rectangle 8"/>
          <p:cNvSpPr/>
          <p:nvPr/>
        </p:nvSpPr>
        <p:spPr>
          <a:xfrm>
            <a:off x="3840480" y="2148840"/>
            <a:ext cx="3154680" cy="365760"/>
          </a:xfrm>
          <a:prstGeom prst="roundRect">
            <a:avLst>
              <a:gd name="adj" fmla="val 50000"/>
            </a:avLst>
          </a:prstGeom>
          <a:solidFill>
            <a:srgbClr val="FBF0D9"/>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1200" b="1">
                <a:solidFill>
                  <a:srgbClr val="7A5300"/>
                </a:solidFill>
                <a:latin typeface="Calibri"/>
              </a:rPr>
              <a:t>⇄  Fewer operations, not more accuracy</a:t>
            </a:r>
          </a:p>
        </p:txBody>
      </p:sp>
      <p:sp>
        <p:nvSpPr>
          <p:cNvPr id="10" name="TextBox 9"/>
          <p:cNvSpPr txBox="1"/>
          <p:nvPr/>
        </p:nvSpPr>
        <p:spPr>
          <a:xfrm>
            <a:off x="7178040" y="2057400"/>
            <a:ext cx="4373575" cy="512064"/>
          </a:xfrm>
          <a:prstGeom prst="rect">
            <a:avLst/>
          </a:prstGeom>
          <a:noFill/>
        </p:spPr>
        <p:txBody>
          <a:bodyPr wrap="square" anchor="ctr" lIns="0" rIns="0" tIns="0" bIns="0">
            <a:spAutoFit/>
          </a:bodyPr>
          <a:lstStyle/>
          <a:p>
            <a:pPr algn="l"/>
            <a:r>
              <a:rPr sz="1300" b="0" i="0">
                <a:solidFill>
                  <a:srgbClr val="52514E"/>
                </a:solidFill>
                <a:latin typeface="Calibri"/>
              </a:rPr>
              <a:t>works at 16.6k ops/frame where the CNN needs 33k; 5.2× CPU cost</a:t>
            </a:r>
          </a:p>
        </p:txBody>
      </p:sp>
      <p:sp>
        <p:nvSpPr>
          <p:cNvPr id="11" name="Rounded Rectangle 10"/>
          <p:cNvSpPr/>
          <p:nvPr/>
        </p:nvSpPr>
        <p:spPr>
          <a:xfrm>
            <a:off x="548640" y="2660904"/>
            <a:ext cx="11094415" cy="512064"/>
          </a:xfrm>
          <a:prstGeom prst="roundRect">
            <a:avLst>
              <a:gd name="adj" fmla="val 20000"/>
            </a:avLst>
          </a:prstGeom>
          <a:solidFill>
            <a:srgbClr val="FA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31520" y="2660904"/>
            <a:ext cx="3200400" cy="512064"/>
          </a:xfrm>
          <a:prstGeom prst="rect">
            <a:avLst/>
          </a:prstGeom>
          <a:noFill/>
        </p:spPr>
        <p:txBody>
          <a:bodyPr wrap="square" anchor="ctr" lIns="0" rIns="0" tIns="0" bIns="0">
            <a:spAutoFit/>
          </a:bodyPr>
          <a:lstStyle/>
          <a:p>
            <a:pPr algn="l"/>
            <a:r>
              <a:rPr sz="1450" b="1" i="0">
                <a:solidFill>
                  <a:srgbClr val="151514"/>
                </a:solidFill>
                <a:latin typeface="Calibri"/>
              </a:rPr>
              <a:t>Local learning rule (STDP)</a:t>
            </a:r>
          </a:p>
        </p:txBody>
      </p:sp>
      <p:sp>
        <p:nvSpPr>
          <p:cNvPr id="13" name="Rounded Rectangle 12"/>
          <p:cNvSpPr/>
          <p:nvPr/>
        </p:nvSpPr>
        <p:spPr>
          <a:xfrm>
            <a:off x="3840480" y="2752344"/>
            <a:ext cx="3154680" cy="365760"/>
          </a:xfrm>
          <a:prstGeom prst="roundRect">
            <a:avLst>
              <a:gd name="adj" fmla="val 50000"/>
            </a:avLst>
          </a:prstGeom>
          <a:solidFill>
            <a:srgbClr val="EFEEE9"/>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1200" b="1">
                <a:solidFill>
                  <a:srgbClr val="52514E"/>
                </a:solidFill>
                <a:latin typeface="Calibri"/>
              </a:rPr>
              <a:t>○  No effect</a:t>
            </a:r>
          </a:p>
        </p:txBody>
      </p:sp>
      <p:sp>
        <p:nvSpPr>
          <p:cNvPr id="14" name="TextBox 13"/>
          <p:cNvSpPr txBox="1"/>
          <p:nvPr/>
        </p:nvSpPr>
        <p:spPr>
          <a:xfrm>
            <a:off x="7178040" y="2660904"/>
            <a:ext cx="4373575" cy="512064"/>
          </a:xfrm>
          <a:prstGeom prst="rect">
            <a:avLst/>
          </a:prstGeom>
          <a:noFill/>
        </p:spPr>
        <p:txBody>
          <a:bodyPr wrap="square" anchor="ctr" lIns="0" rIns="0" tIns="0" bIns="0">
            <a:spAutoFit/>
          </a:bodyPr>
          <a:lstStyle/>
          <a:p>
            <a:pPr algn="l"/>
            <a:r>
              <a:rPr sz="1300" b="0" i="0">
                <a:solidFill>
                  <a:srgbClr val="52514E"/>
                </a:solidFill>
                <a:latin typeface="Calibri"/>
              </a:rPr>
              <a:t>vs random update: ΔAUC +0.033 [−0.260, +0.326], p = 0.818</a:t>
            </a:r>
          </a:p>
        </p:txBody>
      </p:sp>
      <p:sp>
        <p:nvSpPr>
          <p:cNvPr id="15" name="Rounded Rectangle 14"/>
          <p:cNvSpPr/>
          <p:nvPr/>
        </p:nvSpPr>
        <p:spPr>
          <a:xfrm>
            <a:off x="548640" y="3264408"/>
            <a:ext cx="11094415" cy="512064"/>
          </a:xfrm>
          <a:prstGeom prst="roundRect">
            <a:avLst>
              <a:gd name="adj" fmla="val 20000"/>
            </a:avLst>
          </a:prstGeom>
          <a:solidFill>
            <a:srgbClr val="F4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31520" y="3264408"/>
            <a:ext cx="3200400" cy="512064"/>
          </a:xfrm>
          <a:prstGeom prst="rect">
            <a:avLst/>
          </a:prstGeom>
          <a:noFill/>
        </p:spPr>
        <p:txBody>
          <a:bodyPr wrap="square" anchor="ctr" lIns="0" rIns="0" tIns="0" bIns="0">
            <a:spAutoFit/>
          </a:bodyPr>
          <a:lstStyle/>
          <a:p>
            <a:pPr algn="l"/>
            <a:r>
              <a:rPr sz="1450" b="1" i="0">
                <a:solidFill>
                  <a:srgbClr val="151514"/>
                </a:solidFill>
                <a:latin typeface="Calibri"/>
              </a:rPr>
              <a:t>Homeostasis, without backprop</a:t>
            </a:r>
          </a:p>
        </p:txBody>
      </p:sp>
      <p:sp>
        <p:nvSpPr>
          <p:cNvPr id="17" name="Rounded Rectangle 16"/>
          <p:cNvSpPr/>
          <p:nvPr/>
        </p:nvSpPr>
        <p:spPr>
          <a:xfrm>
            <a:off x="3840480" y="3355848"/>
            <a:ext cx="3154680" cy="365760"/>
          </a:xfrm>
          <a:prstGeom prst="roundRect">
            <a:avLst>
              <a:gd name="adj" fmla="val 50000"/>
            </a:avLst>
          </a:prstGeom>
          <a:solidFill>
            <a:srgbClr val="E3F4EC"/>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1200" b="1">
                <a:solidFill>
                  <a:srgbClr val="0F6B4A"/>
                </a:solidFill>
                <a:latin typeface="Calibri"/>
              </a:rPr>
              <a:t>◐  Faster learning, not more reliable</a:t>
            </a:r>
          </a:p>
        </p:txBody>
      </p:sp>
      <p:sp>
        <p:nvSpPr>
          <p:cNvPr id="18" name="TextBox 17"/>
          <p:cNvSpPr txBox="1"/>
          <p:nvPr/>
        </p:nvSpPr>
        <p:spPr>
          <a:xfrm>
            <a:off x="7178040" y="3264408"/>
            <a:ext cx="4373575" cy="512064"/>
          </a:xfrm>
          <a:prstGeom prst="rect">
            <a:avLst/>
          </a:prstGeom>
          <a:noFill/>
        </p:spPr>
        <p:txBody>
          <a:bodyPr wrap="square" anchor="ctr" lIns="0" rIns="0" tIns="0" bIns="0">
            <a:spAutoFit/>
          </a:bodyPr>
          <a:lstStyle/>
          <a:p>
            <a:pPr algn="l"/>
            <a:r>
              <a:rPr sz="1300" b="0" i="0">
                <a:solidFill>
                  <a:srgbClr val="52514E"/>
                </a:solidFill>
                <a:latin typeface="Calibri"/>
              </a:rPr>
              <a:t>ΔAUC +0.326 [+0.101, +0.551], Holm p = 0.017; solved 7/10 vs 2/10 (n.s.)</a:t>
            </a:r>
          </a:p>
        </p:txBody>
      </p:sp>
      <p:sp>
        <p:nvSpPr>
          <p:cNvPr id="19" name="Rounded Rectangle 18"/>
          <p:cNvSpPr/>
          <p:nvPr/>
        </p:nvSpPr>
        <p:spPr>
          <a:xfrm>
            <a:off x="548640" y="3867912"/>
            <a:ext cx="11094415" cy="512064"/>
          </a:xfrm>
          <a:prstGeom prst="roundRect">
            <a:avLst>
              <a:gd name="adj" fmla="val 20000"/>
            </a:avLst>
          </a:prstGeom>
          <a:solidFill>
            <a:srgbClr val="FA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31520" y="3867912"/>
            <a:ext cx="3200400" cy="512064"/>
          </a:xfrm>
          <a:prstGeom prst="rect">
            <a:avLst/>
          </a:prstGeom>
          <a:noFill/>
        </p:spPr>
        <p:txBody>
          <a:bodyPr wrap="square" anchor="ctr" lIns="0" rIns="0" tIns="0" bIns="0">
            <a:spAutoFit/>
          </a:bodyPr>
          <a:lstStyle/>
          <a:p>
            <a:pPr algn="l"/>
            <a:r>
              <a:rPr sz="1450" b="1" i="0">
                <a:solidFill>
                  <a:srgbClr val="151514"/>
                </a:solidFill>
                <a:latin typeface="Calibri"/>
              </a:rPr>
              <a:t>Homeostasis, with backprop</a:t>
            </a:r>
          </a:p>
        </p:txBody>
      </p:sp>
      <p:sp>
        <p:nvSpPr>
          <p:cNvPr id="21" name="Rounded Rectangle 20"/>
          <p:cNvSpPr/>
          <p:nvPr/>
        </p:nvSpPr>
        <p:spPr>
          <a:xfrm>
            <a:off x="3840480" y="3959352"/>
            <a:ext cx="3154680" cy="365760"/>
          </a:xfrm>
          <a:prstGeom prst="roundRect">
            <a:avLst>
              <a:gd name="adj" fmla="val 50000"/>
            </a:avLst>
          </a:prstGeom>
          <a:solidFill>
            <a:srgbClr val="EFEEE9"/>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1200" b="1">
                <a:solidFill>
                  <a:srgbClr val="52514E"/>
                </a:solidFill>
                <a:latin typeface="Calibri"/>
              </a:rPr>
              <a:t>○  Not significant after correction</a:t>
            </a:r>
          </a:p>
        </p:txBody>
      </p:sp>
      <p:sp>
        <p:nvSpPr>
          <p:cNvPr id="22" name="TextBox 21"/>
          <p:cNvSpPr txBox="1"/>
          <p:nvPr/>
        </p:nvSpPr>
        <p:spPr>
          <a:xfrm>
            <a:off x="7178040" y="3867912"/>
            <a:ext cx="4373575" cy="512064"/>
          </a:xfrm>
          <a:prstGeom prst="rect">
            <a:avLst/>
          </a:prstGeom>
          <a:noFill/>
        </p:spPr>
        <p:txBody>
          <a:bodyPr wrap="square" anchor="ctr" lIns="0" rIns="0" tIns="0" bIns="0">
            <a:spAutoFit/>
          </a:bodyPr>
          <a:lstStyle/>
          <a:p>
            <a:pPr algn="l"/>
            <a:r>
              <a:rPr sz="1300" b="0" i="0">
                <a:solidFill>
                  <a:srgbClr val="52514E"/>
                </a:solidFill>
                <a:latin typeface="Calibri"/>
              </a:rPr>
              <a:t>ΔAUC +0.200 [+0.024, +0.377]; Holm p = 0.117</a:t>
            </a:r>
          </a:p>
        </p:txBody>
      </p:sp>
      <p:sp>
        <p:nvSpPr>
          <p:cNvPr id="23" name="Rounded Rectangle 22"/>
          <p:cNvSpPr/>
          <p:nvPr/>
        </p:nvSpPr>
        <p:spPr>
          <a:xfrm>
            <a:off x="548640" y="4471416"/>
            <a:ext cx="11094415" cy="512064"/>
          </a:xfrm>
          <a:prstGeom prst="roundRect">
            <a:avLst>
              <a:gd name="adj" fmla="val 20000"/>
            </a:avLst>
          </a:prstGeom>
          <a:solidFill>
            <a:srgbClr val="F4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31520" y="4471416"/>
            <a:ext cx="3200400" cy="512064"/>
          </a:xfrm>
          <a:prstGeom prst="rect">
            <a:avLst/>
          </a:prstGeom>
          <a:noFill/>
        </p:spPr>
        <p:txBody>
          <a:bodyPr wrap="square" anchor="ctr" lIns="0" rIns="0" tIns="0" bIns="0">
            <a:spAutoFit/>
          </a:bodyPr>
          <a:lstStyle/>
          <a:p>
            <a:pPr algn="l"/>
            <a:r>
              <a:rPr sz="1450" b="1" i="0">
                <a:solidFill>
                  <a:srgbClr val="151514"/>
                </a:solidFill>
                <a:latin typeface="Calibri"/>
              </a:rPr>
              <a:t>Sleep-like consolidation</a:t>
            </a:r>
          </a:p>
        </p:txBody>
      </p:sp>
      <p:sp>
        <p:nvSpPr>
          <p:cNvPr id="25" name="Rounded Rectangle 24"/>
          <p:cNvSpPr/>
          <p:nvPr/>
        </p:nvSpPr>
        <p:spPr>
          <a:xfrm>
            <a:off x="3840480" y="4562856"/>
            <a:ext cx="3154680" cy="365760"/>
          </a:xfrm>
          <a:prstGeom prst="roundRect">
            <a:avLst>
              <a:gd name="adj" fmla="val 50000"/>
            </a:avLst>
          </a:prstGeom>
          <a:solidFill>
            <a:srgbClr val="EFEEE9"/>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1200" b="1">
                <a:solidFill>
                  <a:srgbClr val="52514E"/>
                </a:solidFill>
                <a:latin typeface="Calibri"/>
              </a:rPr>
              <a:t>○  Ties replay</a:t>
            </a:r>
          </a:p>
        </p:txBody>
      </p:sp>
      <p:sp>
        <p:nvSpPr>
          <p:cNvPr id="26" name="TextBox 25"/>
          <p:cNvSpPr txBox="1"/>
          <p:nvPr/>
        </p:nvSpPr>
        <p:spPr>
          <a:xfrm>
            <a:off x="7178040" y="4471416"/>
            <a:ext cx="4373575" cy="512064"/>
          </a:xfrm>
          <a:prstGeom prst="rect">
            <a:avLst/>
          </a:prstGeom>
          <a:noFill/>
        </p:spPr>
        <p:txBody>
          <a:bodyPr wrap="square" anchor="ctr" lIns="0" rIns="0" tIns="0" bIns="0">
            <a:spAutoFit/>
          </a:bodyPr>
          <a:lstStyle/>
          <a:p>
            <a:pPr algn="l"/>
            <a:r>
              <a:rPr sz="1300" b="0" i="0">
                <a:solidFill>
                  <a:srgbClr val="52514E"/>
                </a:solidFill>
                <a:latin typeface="Calibri"/>
              </a:rPr>
              <a:t>sleep − replay ΔACC +0.017 [−0.026, +0.060], p = 0.415</a:t>
            </a:r>
          </a:p>
        </p:txBody>
      </p:sp>
      <p:sp>
        <p:nvSpPr>
          <p:cNvPr id="27" name="Rounded Rectangle 26"/>
          <p:cNvSpPr/>
          <p:nvPr/>
        </p:nvSpPr>
        <p:spPr>
          <a:xfrm>
            <a:off x="548640" y="5074920"/>
            <a:ext cx="11094415" cy="512064"/>
          </a:xfrm>
          <a:prstGeom prst="roundRect">
            <a:avLst>
              <a:gd name="adj" fmla="val 20000"/>
            </a:avLst>
          </a:prstGeom>
          <a:solidFill>
            <a:srgbClr val="FA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31520" y="5074920"/>
            <a:ext cx="3200400" cy="512064"/>
          </a:xfrm>
          <a:prstGeom prst="rect">
            <a:avLst/>
          </a:prstGeom>
          <a:noFill/>
        </p:spPr>
        <p:txBody>
          <a:bodyPr wrap="square" anchor="ctr" lIns="0" rIns="0" tIns="0" bIns="0">
            <a:spAutoFit/>
          </a:bodyPr>
          <a:lstStyle/>
          <a:p>
            <a:pPr algn="l"/>
            <a:r>
              <a:rPr sz="1450" b="1" i="0">
                <a:solidFill>
                  <a:srgbClr val="151514"/>
                </a:solidFill>
                <a:latin typeface="Calibri"/>
              </a:rPr>
              <a:t>One shared network</a:t>
            </a:r>
          </a:p>
        </p:txBody>
      </p:sp>
      <p:sp>
        <p:nvSpPr>
          <p:cNvPr id="29" name="Rounded Rectangle 28"/>
          <p:cNvSpPr/>
          <p:nvPr/>
        </p:nvSpPr>
        <p:spPr>
          <a:xfrm>
            <a:off x="3840480" y="5166360"/>
            <a:ext cx="3154680" cy="365760"/>
          </a:xfrm>
          <a:prstGeom prst="roundRect">
            <a:avLst>
              <a:gd name="adj" fmla="val 50000"/>
            </a:avLst>
          </a:prstGeom>
          <a:solidFill>
            <a:srgbClr val="E3F4EC"/>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1200" b="1">
                <a:solidFill>
                  <a:srgbClr val="0F6B4A"/>
                </a:solidFill>
                <a:latin typeface="Calibri"/>
              </a:rPr>
              <a:t>◐  Only with small replay buffers</a:t>
            </a:r>
          </a:p>
        </p:txBody>
      </p:sp>
      <p:sp>
        <p:nvSpPr>
          <p:cNvPr id="30" name="TextBox 29"/>
          <p:cNvSpPr txBox="1"/>
          <p:nvPr/>
        </p:nvSpPr>
        <p:spPr>
          <a:xfrm>
            <a:off x="7178040" y="5074920"/>
            <a:ext cx="4373575" cy="512064"/>
          </a:xfrm>
          <a:prstGeom prst="rect">
            <a:avLst/>
          </a:prstGeom>
          <a:noFill/>
        </p:spPr>
        <p:txBody>
          <a:bodyPr wrap="square" anchor="ctr" lIns="0" rIns="0" tIns="0" bIns="0">
            <a:spAutoFit/>
          </a:bodyPr>
          <a:lstStyle/>
          <a:p>
            <a:pPr algn="l"/>
            <a:r>
              <a:rPr sz="1300" b="0" i="0">
                <a:solidFill>
                  <a:srgbClr val="52514E"/>
                </a:solidFill>
                <a:latin typeface="Calibri"/>
              </a:rPr>
              <a:t>200 states/task: similar mean ACC (0.838 vs 0.833; 3 seeds, wide CI) in 0.89 vs 1.92 MB</a:t>
            </a:r>
          </a:p>
        </p:txBody>
      </p:sp>
      <p:sp>
        <p:nvSpPr>
          <p:cNvPr id="31" name="Rounded Rectangle 30"/>
          <p:cNvSpPr/>
          <p:nvPr/>
        </p:nvSpPr>
        <p:spPr>
          <a:xfrm>
            <a:off x="548640" y="5678424"/>
            <a:ext cx="11094415" cy="512064"/>
          </a:xfrm>
          <a:prstGeom prst="roundRect">
            <a:avLst>
              <a:gd name="adj" fmla="val 20000"/>
            </a:avLst>
          </a:prstGeom>
          <a:solidFill>
            <a:srgbClr val="F4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731520" y="5678424"/>
            <a:ext cx="3200400" cy="512064"/>
          </a:xfrm>
          <a:prstGeom prst="rect">
            <a:avLst/>
          </a:prstGeom>
          <a:noFill/>
        </p:spPr>
        <p:txBody>
          <a:bodyPr wrap="square" anchor="ctr" lIns="0" rIns="0" tIns="0" bIns="0">
            <a:spAutoFit/>
          </a:bodyPr>
          <a:lstStyle/>
          <a:p>
            <a:pPr algn="l"/>
            <a:r>
              <a:rPr sz="1450" b="1" i="0">
                <a:solidFill>
                  <a:srgbClr val="151514"/>
                </a:solidFill>
                <a:latin typeface="Calibri"/>
              </a:rPr>
              <a:t>Transformer working memory</a:t>
            </a:r>
          </a:p>
        </p:txBody>
      </p:sp>
      <p:sp>
        <p:nvSpPr>
          <p:cNvPr id="33" name="Rounded Rectangle 32"/>
          <p:cNvSpPr/>
          <p:nvPr/>
        </p:nvSpPr>
        <p:spPr>
          <a:xfrm>
            <a:off x="3840480" y="5769864"/>
            <a:ext cx="3154680" cy="365760"/>
          </a:xfrm>
          <a:prstGeom prst="roundRect">
            <a:avLst>
              <a:gd name="adj" fmla="val 50000"/>
            </a:avLst>
          </a:prstGeom>
          <a:solidFill>
            <a:srgbClr val="EFEEE9"/>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1200" b="1">
                <a:solidFill>
                  <a:srgbClr val="52514E"/>
                </a:solidFill>
                <a:latin typeface="Calibri"/>
              </a:rPr>
              <a:t>?  Untested: no usable benchmark</a:t>
            </a:r>
          </a:p>
        </p:txBody>
      </p:sp>
      <p:sp>
        <p:nvSpPr>
          <p:cNvPr id="34" name="TextBox 33"/>
          <p:cNvSpPr txBox="1"/>
          <p:nvPr/>
        </p:nvSpPr>
        <p:spPr>
          <a:xfrm>
            <a:off x="7178040" y="5678424"/>
            <a:ext cx="4373575" cy="512064"/>
          </a:xfrm>
          <a:prstGeom prst="rect">
            <a:avLst/>
          </a:prstGeom>
          <a:noFill/>
        </p:spPr>
        <p:txBody>
          <a:bodyPr wrap="square" anchor="ctr" lIns="0" rIns="0" tIns="0" bIns="0">
            <a:spAutoFit/>
          </a:bodyPr>
          <a:lstStyle/>
          <a:p>
            <a:pPr algn="l"/>
            <a:r>
              <a:rPr sz="1300" b="0" i="0">
                <a:solidFill>
                  <a:srgbClr val="52514E"/>
                </a:solidFill>
                <a:latin typeface="Calibri"/>
              </a:rPr>
              <a:t>no benchmark both required memory and was learnable in budget</a:t>
            </a:r>
          </a:p>
        </p:txBody>
      </p:sp>
      <p:sp>
        <p:nvSpPr>
          <p:cNvPr id="35" name="TextBox 34"/>
          <p:cNvSpPr txBox="1"/>
          <p:nvPr/>
        </p:nvSpPr>
        <p:spPr>
          <a:xfrm>
            <a:off x="548640" y="6446520"/>
            <a:ext cx="5486400" cy="274320"/>
          </a:xfrm>
          <a:prstGeom prst="rect">
            <a:avLst/>
          </a:prstGeom>
          <a:noFill/>
        </p:spPr>
        <p:txBody>
          <a:bodyPr wrap="square" anchor="t" lIns="0" rIns="0" tIns="0" bIns="0">
            <a:spAutoFit/>
          </a:bodyPr>
          <a:lstStyle/>
          <a:p>
            <a:pPr algn="l"/>
            <a:r>
              <a:rPr sz="1000" b="0" i="0">
                <a:solidFill>
                  <a:srgbClr val="85837D"/>
                </a:solidFill>
                <a:latin typeface="Calibri"/>
              </a:rPr>
              <a:t>NeuroPlast · final review</a:t>
            </a:r>
          </a:p>
        </p:txBody>
      </p:sp>
      <p:sp>
        <p:nvSpPr>
          <p:cNvPr id="36" name="TextBox 35"/>
          <p:cNvSpPr txBox="1"/>
          <p:nvPr/>
        </p:nvSpPr>
        <p:spPr>
          <a:xfrm>
            <a:off x="9814255" y="6446520"/>
            <a:ext cx="1828800" cy="274320"/>
          </a:xfrm>
          <a:prstGeom prst="rect">
            <a:avLst/>
          </a:prstGeom>
          <a:noFill/>
        </p:spPr>
        <p:txBody>
          <a:bodyPr wrap="square" anchor="t" lIns="0" rIns="0" tIns="0" bIns="0">
            <a:spAutoFit/>
          </a:bodyPr>
          <a:lstStyle/>
          <a:p>
            <a:pPr algn="r"/>
            <a:r>
              <a:rPr sz="1000" b="0" i="0">
                <a:solidFill>
                  <a:srgbClr val="85837D"/>
                </a:solidFill>
                <a:latin typeface="Calibri"/>
              </a:rPr>
              <a:t>7 / 15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320040"/>
          </a:xfrm>
          <a:prstGeom prst="rect">
            <a:avLst/>
          </a:prstGeom>
          <a:noFill/>
        </p:spPr>
        <p:txBody>
          <a:bodyPr wrap="square" anchor="t" lIns="0" rIns="0" tIns="0" bIns="0">
            <a:spAutoFit/>
          </a:bodyPr>
          <a:lstStyle/>
          <a:p>
            <a:pPr algn="l"/>
            <a:r>
              <a:rPr sz="1200" b="1" i="0">
                <a:solidFill>
                  <a:srgbClr val="2A78D6"/>
                </a:solidFill>
                <a:latin typeface="Calibri"/>
              </a:rPr>
              <a:t>FORGETTING</a:t>
            </a:r>
          </a:p>
        </p:txBody>
      </p:sp>
      <p:sp>
        <p:nvSpPr>
          <p:cNvPr id="3" name="TextBox 2"/>
          <p:cNvSpPr txBox="1"/>
          <p:nvPr/>
        </p:nvSpPr>
        <p:spPr>
          <a:xfrm>
            <a:off x="548640" y="740664"/>
            <a:ext cx="11094415" cy="822960"/>
          </a:xfrm>
          <a:prstGeom prst="rect">
            <a:avLst/>
          </a:prstGeom>
          <a:noFill/>
        </p:spPr>
        <p:txBody>
          <a:bodyPr wrap="square" anchor="t" lIns="0" rIns="0" tIns="0" bIns="0">
            <a:spAutoFit/>
          </a:bodyPr>
          <a:lstStyle/>
          <a:p>
            <a:pPr algn="l"/>
            <a:r>
              <a:rPr sz="3000" b="1" i="0">
                <a:solidFill>
                  <a:srgbClr val="151514"/>
                </a:solidFill>
                <a:latin typeface="Cambria"/>
              </a:rPr>
              <a:t>Sleep and replay stop forgetting; sleep does not beat replay</a:t>
            </a:r>
          </a:p>
        </p:txBody>
      </p:sp>
      <p:pic>
        <p:nvPicPr>
          <p:cNvPr id="4" name="Picture 3" descr="fig_forgetting.png"/>
          <p:cNvPicPr>
            <a:picLocks noChangeAspect="1"/>
          </p:cNvPicPr>
          <p:nvPr/>
        </p:nvPicPr>
        <p:blipFill>
          <a:blip r:embed="rId2"/>
          <a:stretch>
            <a:fillRect/>
          </a:stretch>
        </p:blipFill>
        <p:spPr>
          <a:xfrm>
            <a:off x="457200" y="1690257"/>
            <a:ext cx="7589520" cy="4391885"/>
          </a:xfrm>
          <a:prstGeom prst="rect">
            <a:avLst/>
          </a:prstGeom>
        </p:spPr>
      </p:pic>
      <p:sp>
        <p:nvSpPr>
          <p:cNvPr id="5" name="TextBox 4"/>
          <p:cNvSpPr txBox="1"/>
          <p:nvPr/>
        </p:nvSpPr>
        <p:spPr>
          <a:xfrm>
            <a:off x="8229600" y="1737360"/>
            <a:ext cx="3474720" cy="685800"/>
          </a:xfrm>
          <a:prstGeom prst="rect">
            <a:avLst/>
          </a:prstGeom>
          <a:noFill/>
        </p:spPr>
        <p:txBody>
          <a:bodyPr wrap="square" anchor="t" lIns="0" rIns="0" tIns="0" bIns="0">
            <a:spAutoFit/>
          </a:bodyPr>
          <a:lstStyle/>
          <a:p>
            <a:pPr algn="l"/>
            <a:r>
              <a:rPr sz="4000" b="1" i="0">
                <a:solidFill>
                  <a:srgbClr val="E87BA4"/>
                </a:solidFill>
                <a:latin typeface="Cambria"/>
              </a:rPr>
              <a:t>0.555</a:t>
            </a:r>
          </a:p>
        </p:txBody>
      </p:sp>
      <p:sp>
        <p:nvSpPr>
          <p:cNvPr id="6" name="TextBox 5"/>
          <p:cNvSpPr txBox="1"/>
          <p:nvPr/>
        </p:nvSpPr>
        <p:spPr>
          <a:xfrm>
            <a:off x="8229600" y="2395728"/>
            <a:ext cx="3474720" cy="731520"/>
          </a:xfrm>
          <a:prstGeom prst="rect">
            <a:avLst/>
          </a:prstGeom>
          <a:noFill/>
        </p:spPr>
        <p:txBody>
          <a:bodyPr wrap="square" anchor="t" lIns="0" rIns="0" tIns="0" bIns="0">
            <a:spAutoFit/>
          </a:bodyPr>
          <a:lstStyle/>
          <a:p>
            <a:pPr algn="l">
              <a:lnSpc>
                <a:spcPct val="105000"/>
              </a:lnSpc>
            </a:pPr>
            <a:r>
              <a:rPr sz="1300" b="0" i="0">
                <a:solidFill>
                  <a:srgbClr val="52514E"/>
                </a:solidFill>
                <a:latin typeface="Calibri"/>
              </a:rPr>
              <a:t>naive fine-tuning, final ACC (CNN, 3 tasks)</a:t>
            </a:r>
          </a:p>
        </p:txBody>
      </p:sp>
      <p:sp>
        <p:nvSpPr>
          <p:cNvPr id="7" name="TextBox 6"/>
          <p:cNvSpPr txBox="1"/>
          <p:nvPr/>
        </p:nvSpPr>
        <p:spPr>
          <a:xfrm>
            <a:off x="8229600" y="3063240"/>
            <a:ext cx="3474720" cy="685800"/>
          </a:xfrm>
          <a:prstGeom prst="rect">
            <a:avLst/>
          </a:prstGeom>
          <a:noFill/>
        </p:spPr>
        <p:txBody>
          <a:bodyPr wrap="square" anchor="t" lIns="0" rIns="0" tIns="0" bIns="0">
            <a:spAutoFit/>
          </a:bodyPr>
          <a:lstStyle/>
          <a:p>
            <a:pPr algn="l"/>
            <a:r>
              <a:rPr sz="3400" b="1" i="0">
                <a:solidFill>
                  <a:srgbClr val="2A78D6"/>
                </a:solidFill>
                <a:latin typeface="Cambria"/>
              </a:rPr>
              <a:t>0.970 · 0.978</a:t>
            </a:r>
          </a:p>
        </p:txBody>
      </p:sp>
      <p:sp>
        <p:nvSpPr>
          <p:cNvPr id="8" name="TextBox 7"/>
          <p:cNvSpPr txBox="1"/>
          <p:nvPr/>
        </p:nvSpPr>
        <p:spPr>
          <a:xfrm>
            <a:off x="8229600" y="3721608"/>
            <a:ext cx="3474720" cy="731520"/>
          </a:xfrm>
          <a:prstGeom prst="rect">
            <a:avLst/>
          </a:prstGeom>
          <a:noFill/>
        </p:spPr>
        <p:txBody>
          <a:bodyPr wrap="square" anchor="t" lIns="0" rIns="0" tIns="0" bIns="0">
            <a:spAutoFit/>
          </a:bodyPr>
          <a:lstStyle/>
          <a:p>
            <a:pPr algn="l">
              <a:lnSpc>
                <a:spcPct val="105000"/>
              </a:lnSpc>
            </a:pPr>
            <a:r>
              <a:rPr sz="1300" b="0" i="0">
                <a:solidFill>
                  <a:srgbClr val="52514E"/>
                </a:solidFill>
                <a:latin typeface="Calibri"/>
              </a:rPr>
              <a:t>replay · sleep, final ACC</a:t>
            </a:r>
          </a:p>
        </p:txBody>
      </p:sp>
      <p:sp>
        <p:nvSpPr>
          <p:cNvPr id="9" name="TextBox 8"/>
          <p:cNvSpPr txBox="1"/>
          <p:nvPr/>
        </p:nvSpPr>
        <p:spPr>
          <a:xfrm>
            <a:off x="8229600" y="4389120"/>
            <a:ext cx="3474720" cy="685800"/>
          </a:xfrm>
          <a:prstGeom prst="rect">
            <a:avLst/>
          </a:prstGeom>
          <a:noFill/>
        </p:spPr>
        <p:txBody>
          <a:bodyPr wrap="square" anchor="t" lIns="0" rIns="0" tIns="0" bIns="0">
            <a:spAutoFit/>
          </a:bodyPr>
          <a:lstStyle/>
          <a:p>
            <a:pPr algn="l"/>
            <a:r>
              <a:rPr sz="3400" b="1" i="0">
                <a:solidFill>
                  <a:srgbClr val="151514"/>
                </a:solidFill>
                <a:latin typeface="Cambria"/>
              </a:rPr>
              <a:t>+0.017</a:t>
            </a:r>
          </a:p>
        </p:txBody>
      </p:sp>
      <p:sp>
        <p:nvSpPr>
          <p:cNvPr id="10" name="TextBox 9"/>
          <p:cNvSpPr txBox="1"/>
          <p:nvPr/>
        </p:nvSpPr>
        <p:spPr>
          <a:xfrm>
            <a:off x="8229600" y="5047488"/>
            <a:ext cx="3474720" cy="731520"/>
          </a:xfrm>
          <a:prstGeom prst="rect">
            <a:avLst/>
          </a:prstGeom>
          <a:noFill/>
        </p:spPr>
        <p:txBody>
          <a:bodyPr wrap="square" anchor="t" lIns="0" rIns="0" tIns="0" bIns="0">
            <a:spAutoFit/>
          </a:bodyPr>
          <a:lstStyle/>
          <a:p>
            <a:pPr algn="l">
              <a:lnSpc>
                <a:spcPct val="105000"/>
              </a:lnSpc>
            </a:pPr>
            <a:r>
              <a:rPr sz="1300" b="0" i="0">
                <a:solidFill>
                  <a:srgbClr val="52514E"/>
                </a:solidFill>
                <a:latin typeface="Calibri"/>
              </a:rPr>
              <a:t>sleep − replay at an exactly matched replay budget, 95% CI [−0.026, +0.060], p = 0.415</a:t>
            </a:r>
          </a:p>
        </p:txBody>
      </p:sp>
      <p:sp>
        <p:nvSpPr>
          <p:cNvPr id="11" name="TextBox 10"/>
          <p:cNvSpPr txBox="1"/>
          <p:nvPr/>
        </p:nvSpPr>
        <p:spPr>
          <a:xfrm>
            <a:off x="548640" y="6446520"/>
            <a:ext cx="5486400" cy="274320"/>
          </a:xfrm>
          <a:prstGeom prst="rect">
            <a:avLst/>
          </a:prstGeom>
          <a:noFill/>
        </p:spPr>
        <p:txBody>
          <a:bodyPr wrap="square" anchor="t" lIns="0" rIns="0" tIns="0" bIns="0">
            <a:spAutoFit/>
          </a:bodyPr>
          <a:lstStyle/>
          <a:p>
            <a:pPr algn="l"/>
            <a:r>
              <a:rPr sz="1000" b="0" i="0">
                <a:solidFill>
                  <a:srgbClr val="85837D"/>
                </a:solidFill>
                <a:latin typeface="Calibri"/>
              </a:rPr>
              <a:t>NeuroPlast · final review</a:t>
            </a:r>
          </a:p>
        </p:txBody>
      </p:sp>
      <p:sp>
        <p:nvSpPr>
          <p:cNvPr id="12" name="TextBox 11"/>
          <p:cNvSpPr txBox="1"/>
          <p:nvPr/>
        </p:nvSpPr>
        <p:spPr>
          <a:xfrm>
            <a:off x="9814255" y="6446520"/>
            <a:ext cx="1828800" cy="274320"/>
          </a:xfrm>
          <a:prstGeom prst="rect">
            <a:avLst/>
          </a:prstGeom>
          <a:noFill/>
        </p:spPr>
        <p:txBody>
          <a:bodyPr wrap="square" anchor="t" lIns="0" rIns="0" tIns="0" bIns="0">
            <a:spAutoFit/>
          </a:bodyPr>
          <a:lstStyle/>
          <a:p>
            <a:pPr algn="r"/>
            <a:r>
              <a:rPr sz="1000" b="0" i="0">
                <a:solidFill>
                  <a:srgbClr val="85837D"/>
                </a:solidFill>
                <a:latin typeface="Calibri"/>
              </a:rPr>
              <a:t>8 / 15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320040"/>
          </a:xfrm>
          <a:prstGeom prst="rect">
            <a:avLst/>
          </a:prstGeom>
          <a:noFill/>
        </p:spPr>
        <p:txBody>
          <a:bodyPr wrap="square" anchor="t" lIns="0" rIns="0" tIns="0" bIns="0">
            <a:spAutoFit/>
          </a:bodyPr>
          <a:lstStyle/>
          <a:p>
            <a:pPr algn="l"/>
            <a:r>
              <a:rPr sz="1200" b="1" i="0">
                <a:solidFill>
                  <a:srgbClr val="2A78D6"/>
                </a:solidFill>
                <a:latin typeface="Calibri"/>
              </a:rPr>
              <a:t>MEMORY TRADE-OFF</a:t>
            </a:r>
          </a:p>
        </p:txBody>
      </p:sp>
      <p:sp>
        <p:nvSpPr>
          <p:cNvPr id="3" name="TextBox 2"/>
          <p:cNvSpPr txBox="1"/>
          <p:nvPr/>
        </p:nvSpPr>
        <p:spPr>
          <a:xfrm>
            <a:off x="548640" y="740664"/>
            <a:ext cx="11094415" cy="822960"/>
          </a:xfrm>
          <a:prstGeom prst="rect">
            <a:avLst/>
          </a:prstGeom>
          <a:noFill/>
        </p:spPr>
        <p:txBody>
          <a:bodyPr wrap="square" anchor="t" lIns="0" rIns="0" tIns="0" bIns="0">
            <a:spAutoFit/>
          </a:bodyPr>
          <a:lstStyle/>
          <a:p>
            <a:pPr algn="l"/>
            <a:r>
              <a:rPr sz="3000" b="1" i="0">
                <a:solidFill>
                  <a:srgbClr val="151514"/>
                </a:solidFill>
                <a:latin typeface="Cambria"/>
              </a:rPr>
              <a:t>A shared network is competitive only with a small buffer</a:t>
            </a:r>
          </a:p>
        </p:txBody>
      </p:sp>
      <p:pic>
        <p:nvPicPr>
          <p:cNvPr id="4" name="Picture 3" descr="fig_memory.png"/>
          <p:cNvPicPr>
            <a:picLocks noChangeAspect="1"/>
          </p:cNvPicPr>
          <p:nvPr/>
        </p:nvPicPr>
        <p:blipFill>
          <a:blip r:embed="rId2"/>
          <a:stretch>
            <a:fillRect/>
          </a:stretch>
        </p:blipFill>
        <p:spPr>
          <a:xfrm>
            <a:off x="532580" y="1691640"/>
            <a:ext cx="7621639" cy="3566160"/>
          </a:xfrm>
          <a:prstGeom prst="rect">
            <a:avLst/>
          </a:prstGeom>
        </p:spPr>
      </p:pic>
      <p:sp>
        <p:nvSpPr>
          <p:cNvPr id="5" name="TextBox 4"/>
          <p:cNvSpPr txBox="1"/>
          <p:nvPr/>
        </p:nvSpPr>
        <p:spPr>
          <a:xfrm>
            <a:off x="548640" y="5349240"/>
            <a:ext cx="7589520" cy="822960"/>
          </a:xfrm>
          <a:prstGeom prst="rect">
            <a:avLst/>
          </a:prstGeom>
          <a:noFill/>
        </p:spPr>
        <p:txBody>
          <a:bodyPr wrap="square" anchor="t" lIns="0" rIns="0" tIns="0" bIns="0">
            <a:spAutoFit/>
          </a:bodyPr>
          <a:lstStyle/>
          <a:p>
            <a:pPr algn="l"/>
            <a:r>
              <a:rPr sz="1200" b="0" i="0">
                <a:solidFill>
                  <a:srgbClr val="85837D"/>
                </a:solidFill>
                <a:latin typeface="Calibri"/>
              </a:rPr>
              <a:t>Total memory = fp32 parameters + replay buffer. Numbers above the axis: replay states stored per task.</a:t>
            </a:r>
          </a:p>
        </p:txBody>
      </p:sp>
      <p:sp>
        <p:nvSpPr>
          <p:cNvPr id="6" name="TextBox 5"/>
          <p:cNvSpPr txBox="1"/>
          <p:nvPr/>
        </p:nvSpPr>
        <p:spPr>
          <a:xfrm>
            <a:off x="8412480" y="1737360"/>
            <a:ext cx="3291840" cy="685800"/>
          </a:xfrm>
          <a:prstGeom prst="rect">
            <a:avLst/>
          </a:prstGeom>
          <a:noFill/>
        </p:spPr>
        <p:txBody>
          <a:bodyPr wrap="square" anchor="t" lIns="0" rIns="0" tIns="0" bIns="0">
            <a:spAutoFit/>
          </a:bodyPr>
          <a:lstStyle/>
          <a:p>
            <a:pPr algn="l"/>
            <a:r>
              <a:rPr sz="4800" b="1" i="0">
                <a:solidFill>
                  <a:srgbClr val="2A78D6"/>
                </a:solidFill>
                <a:latin typeface="Cambria"/>
              </a:rPr>
              <a:t>46%</a:t>
            </a:r>
          </a:p>
        </p:txBody>
      </p:sp>
      <p:sp>
        <p:nvSpPr>
          <p:cNvPr id="7" name="TextBox 6"/>
          <p:cNvSpPr txBox="1"/>
          <p:nvPr/>
        </p:nvSpPr>
        <p:spPr>
          <a:xfrm>
            <a:off x="8412480" y="2395728"/>
            <a:ext cx="3291840" cy="731520"/>
          </a:xfrm>
          <a:prstGeom prst="rect">
            <a:avLst/>
          </a:prstGeom>
          <a:noFill/>
        </p:spPr>
        <p:txBody>
          <a:bodyPr wrap="square" anchor="t" lIns="0" rIns="0" tIns="0" bIns="0">
            <a:spAutoFit/>
          </a:bodyPr>
          <a:lstStyle/>
          <a:p>
            <a:pPr algn="l">
              <a:lnSpc>
                <a:spcPct val="105000"/>
              </a:lnSpc>
            </a:pPr>
            <a:r>
              <a:rPr sz="1300" b="0" i="0">
                <a:solidFill>
                  <a:srgbClr val="52514E"/>
                </a:solidFill>
                <a:latin typeface="Calibri"/>
              </a:rPr>
              <a:t>of the memory: SNN sleep, 200 states/task, similar mean ACC to isolation (0.838 vs 0.833; 3 seeds, wide CI)</a:t>
            </a:r>
          </a:p>
        </p:txBody>
      </p:sp>
      <p:sp>
        <p:nvSpPr>
          <p:cNvPr id="8" name="TextBox 7"/>
          <p:cNvSpPr txBox="1"/>
          <p:nvPr/>
        </p:nvSpPr>
        <p:spPr>
          <a:xfrm>
            <a:off x="8412480" y="3246120"/>
            <a:ext cx="3291840" cy="685800"/>
          </a:xfrm>
          <a:prstGeom prst="rect">
            <a:avLst/>
          </a:prstGeom>
          <a:noFill/>
        </p:spPr>
        <p:txBody>
          <a:bodyPr wrap="square" anchor="t" lIns="0" rIns="0" tIns="0" bIns="0">
            <a:spAutoFit/>
          </a:bodyPr>
          <a:lstStyle/>
          <a:p>
            <a:pPr algn="l"/>
            <a:r>
              <a:rPr sz="3400" b="1" i="0">
                <a:solidFill>
                  <a:srgbClr val="151514"/>
                </a:solidFill>
                <a:latin typeface="Cambria"/>
              </a:rPr>
              <a:t>2.5–3.3×</a:t>
            </a:r>
          </a:p>
        </p:txBody>
      </p:sp>
      <p:sp>
        <p:nvSpPr>
          <p:cNvPr id="9" name="TextBox 8"/>
          <p:cNvSpPr txBox="1"/>
          <p:nvPr/>
        </p:nvSpPr>
        <p:spPr>
          <a:xfrm>
            <a:off x="8412480" y="3904487"/>
            <a:ext cx="3291840" cy="731520"/>
          </a:xfrm>
          <a:prstGeom prst="rect">
            <a:avLst/>
          </a:prstGeom>
          <a:noFill/>
        </p:spPr>
        <p:txBody>
          <a:bodyPr wrap="square" anchor="t" lIns="0" rIns="0" tIns="0" bIns="0">
            <a:spAutoFit/>
          </a:bodyPr>
          <a:lstStyle/>
          <a:p>
            <a:pPr algn="l">
              <a:lnSpc>
                <a:spcPct val="105000"/>
              </a:lnSpc>
            </a:pPr>
            <a:r>
              <a:rPr sz="1300" b="0" i="0">
                <a:solidFill>
                  <a:srgbClr val="52514E"/>
                </a:solidFill>
                <a:latin typeface="Calibri"/>
              </a:rPr>
              <a:t>more accuracy per parameter for the shared network</a:t>
            </a:r>
          </a:p>
        </p:txBody>
      </p:sp>
      <p:sp>
        <p:nvSpPr>
          <p:cNvPr id="10" name="TextBox 9"/>
          <p:cNvSpPr txBox="1"/>
          <p:nvPr/>
        </p:nvSpPr>
        <p:spPr>
          <a:xfrm>
            <a:off x="8412480" y="4526280"/>
            <a:ext cx="3291840" cy="685800"/>
          </a:xfrm>
          <a:prstGeom prst="rect">
            <a:avLst/>
          </a:prstGeom>
          <a:noFill/>
        </p:spPr>
        <p:txBody>
          <a:bodyPr wrap="square" anchor="t" lIns="0" rIns="0" tIns="0" bIns="0">
            <a:spAutoFit/>
          </a:bodyPr>
          <a:lstStyle/>
          <a:p>
            <a:pPr algn="l"/>
            <a:r>
              <a:rPr sz="3400" b="1" i="0">
                <a:solidFill>
                  <a:srgbClr val="1BAF7A"/>
                </a:solidFill>
                <a:latin typeface="Cambria"/>
              </a:rPr>
              <a:t>1.8–2.9×</a:t>
            </a:r>
          </a:p>
        </p:txBody>
      </p:sp>
      <p:sp>
        <p:nvSpPr>
          <p:cNvPr id="11" name="TextBox 10"/>
          <p:cNvSpPr txBox="1"/>
          <p:nvPr/>
        </p:nvSpPr>
        <p:spPr>
          <a:xfrm>
            <a:off x="8412480" y="5184648"/>
            <a:ext cx="3291840" cy="731520"/>
          </a:xfrm>
          <a:prstGeom prst="rect">
            <a:avLst/>
          </a:prstGeom>
          <a:noFill/>
        </p:spPr>
        <p:txBody>
          <a:bodyPr wrap="square" anchor="t" lIns="0" rIns="0" tIns="0" bIns="0">
            <a:spAutoFit/>
          </a:bodyPr>
          <a:lstStyle/>
          <a:p>
            <a:pPr algn="l">
              <a:lnSpc>
                <a:spcPct val="105000"/>
              </a:lnSpc>
            </a:pPr>
            <a:r>
              <a:rPr sz="1300" b="0" i="0">
                <a:solidFill>
                  <a:srgbClr val="52514E"/>
                </a:solidFill>
                <a:latin typeface="Calibri"/>
              </a:rPr>
              <a:t>more accuracy per MB for isolation at the default 5,000 states/task</a:t>
            </a:r>
          </a:p>
        </p:txBody>
      </p:sp>
      <p:sp>
        <p:nvSpPr>
          <p:cNvPr id="12" name="TextBox 11"/>
          <p:cNvSpPr txBox="1"/>
          <p:nvPr/>
        </p:nvSpPr>
        <p:spPr>
          <a:xfrm>
            <a:off x="548640" y="6446520"/>
            <a:ext cx="5486400" cy="274320"/>
          </a:xfrm>
          <a:prstGeom prst="rect">
            <a:avLst/>
          </a:prstGeom>
          <a:noFill/>
        </p:spPr>
        <p:txBody>
          <a:bodyPr wrap="square" anchor="t" lIns="0" rIns="0" tIns="0" bIns="0">
            <a:spAutoFit/>
          </a:bodyPr>
          <a:lstStyle/>
          <a:p>
            <a:pPr algn="l"/>
            <a:r>
              <a:rPr sz="1000" b="0" i="0">
                <a:solidFill>
                  <a:srgbClr val="85837D"/>
                </a:solidFill>
                <a:latin typeface="Calibri"/>
              </a:rPr>
              <a:t>NeuroPlast · final review</a:t>
            </a:r>
          </a:p>
        </p:txBody>
      </p:sp>
      <p:sp>
        <p:nvSpPr>
          <p:cNvPr id="13" name="TextBox 12"/>
          <p:cNvSpPr txBox="1"/>
          <p:nvPr/>
        </p:nvSpPr>
        <p:spPr>
          <a:xfrm>
            <a:off x="9814255" y="6446520"/>
            <a:ext cx="1828800" cy="274320"/>
          </a:xfrm>
          <a:prstGeom prst="rect">
            <a:avLst/>
          </a:prstGeom>
          <a:noFill/>
        </p:spPr>
        <p:txBody>
          <a:bodyPr wrap="square" anchor="t" lIns="0" rIns="0" tIns="0" bIns="0">
            <a:spAutoFit/>
          </a:bodyPr>
          <a:lstStyle/>
          <a:p>
            <a:pPr algn="r"/>
            <a:r>
              <a:rPr sz="1000" b="0" i="0">
                <a:solidFill>
                  <a:srgbClr val="85837D"/>
                </a:solidFill>
                <a:latin typeface="Calibri"/>
              </a:rPr>
              <a:t>9 / 15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320040"/>
          </a:xfrm>
          <a:prstGeom prst="rect">
            <a:avLst/>
          </a:prstGeom>
          <a:noFill/>
        </p:spPr>
        <p:txBody>
          <a:bodyPr wrap="square" anchor="t" lIns="0" rIns="0" tIns="0" bIns="0">
            <a:spAutoFit/>
          </a:bodyPr>
          <a:lstStyle/>
          <a:p>
            <a:pPr algn="l"/>
            <a:r>
              <a:rPr sz="1200" b="1" i="0">
                <a:solidFill>
                  <a:srgbClr val="2A78D6"/>
                </a:solidFill>
                <a:latin typeface="Calibri"/>
              </a:rPr>
              <a:t>LOCAL PLASTICITY</a:t>
            </a:r>
          </a:p>
        </p:txBody>
      </p:sp>
      <p:sp>
        <p:nvSpPr>
          <p:cNvPr id="3" name="TextBox 2"/>
          <p:cNvSpPr txBox="1"/>
          <p:nvPr/>
        </p:nvSpPr>
        <p:spPr>
          <a:xfrm>
            <a:off x="548640" y="740664"/>
            <a:ext cx="11094415" cy="822960"/>
          </a:xfrm>
          <a:prstGeom prst="rect">
            <a:avLst/>
          </a:prstGeom>
          <a:noFill/>
        </p:spPr>
        <p:txBody>
          <a:bodyPr wrap="square" anchor="t" lIns="0" rIns="0" tIns="0" bIns="0">
            <a:spAutoFit/>
          </a:bodyPr>
          <a:lstStyle/>
          <a:p>
            <a:pPr algn="l"/>
            <a:r>
              <a:rPr sz="3000" b="1" i="0">
                <a:solidFill>
                  <a:srgbClr val="151514"/>
                </a:solidFill>
                <a:latin typeface="Cambria"/>
              </a:rPr>
              <a:t>STDP adds nothing; homeostasis speeds up DFA</a:t>
            </a:r>
          </a:p>
        </p:txBody>
      </p:sp>
      <p:pic>
        <p:nvPicPr>
          <p:cNvPr id="4" name="Picture 3" descr="fig_rq1.png"/>
          <p:cNvPicPr>
            <a:picLocks noChangeAspect="1"/>
          </p:cNvPicPr>
          <p:nvPr/>
        </p:nvPicPr>
        <p:blipFill>
          <a:blip r:embed="rId2"/>
          <a:stretch>
            <a:fillRect/>
          </a:stretch>
        </p:blipFill>
        <p:spPr>
          <a:xfrm>
            <a:off x="457200" y="1832561"/>
            <a:ext cx="7223759" cy="3284316"/>
          </a:xfrm>
          <a:prstGeom prst="rect">
            <a:avLst/>
          </a:prstGeom>
        </p:spPr>
      </p:pic>
      <p:sp>
        <p:nvSpPr>
          <p:cNvPr id="5" name="TextBox 4"/>
          <p:cNvSpPr txBox="1"/>
          <p:nvPr/>
        </p:nvSpPr>
        <p:spPr>
          <a:xfrm>
            <a:off x="548640" y="5349240"/>
            <a:ext cx="6949440" cy="731520"/>
          </a:xfrm>
          <a:prstGeom prst="rect">
            <a:avLst/>
          </a:prstGeom>
          <a:noFill/>
        </p:spPr>
        <p:txBody>
          <a:bodyPr wrap="square" anchor="t" lIns="0" rIns="0" tIns="0" bIns="0">
            <a:spAutoFit/>
          </a:bodyPr>
          <a:lstStyle/>
          <a:p>
            <a:pPr algn="l"/>
            <a:r>
              <a:rPr sz="1200" b="0" i="0">
                <a:solidFill>
                  <a:srgbClr val="85837D"/>
                </a:solidFill>
                <a:latin typeface="Calibri"/>
              </a:rPr>
              <a:t>DoorKey-6x6, 10 seeds per arm, pre-registered. Dots: seeds (filled = solved); bars: mean and 95% CI; numbers: seeds solved.</a:t>
            </a:r>
          </a:p>
        </p:txBody>
      </p:sp>
      <p:sp>
        <p:nvSpPr>
          <p:cNvPr id="6" name="TextBox 5"/>
          <p:cNvSpPr txBox="1"/>
          <p:nvPr/>
        </p:nvSpPr>
        <p:spPr>
          <a:xfrm>
            <a:off x="7818120" y="1783080"/>
            <a:ext cx="3824935" cy="4206240"/>
          </a:xfrm>
          <a:prstGeom prst="rect">
            <a:avLst/>
          </a:prstGeom>
          <a:noFill/>
        </p:spPr>
        <p:txBody>
          <a:bodyPr wrap="square" anchor="t" lIns="0" rIns="0" tIns="0" bIns="0">
            <a:spAutoFit/>
          </a:bodyPr>
          <a:lstStyle/>
          <a:p>
            <a:pPr algn="l" marL="256032" indent="-201168">
              <a:spcAft>
                <a:spcPts val="1200"/>
              </a:spcAft>
              <a:buClr>
                <a:srgbClr val="85837D"/>
              </a:buClr>
              <a:buFont typeface="Arial"/>
              <a:buChar char="•"/>
            </a:pPr>
            <a:r>
              <a:rPr sz="1500" b="1" i="0">
                <a:solidFill>
                  <a:srgbClr val="151514"/>
                </a:solidFill>
                <a:latin typeface="Calibri"/>
              </a:rPr>
              <a:t>STDP ≈ random update: </a:t>
            </a:r>
            <a:r>
              <a:rPr sz="1500" b="0" i="0">
                <a:solidFill>
                  <a:srgbClr val="151514"/>
                </a:solidFill>
                <a:latin typeface="Calibri"/>
              </a:rPr>
              <a:t>ΔAUC +0.033 [−0.260, +0.326], p = 0.818</a:t>
            </a:r>
          </a:p>
          <a:p>
            <a:pPr algn="l" marL="256032" indent="-201168">
              <a:spcAft>
                <a:spcPts val="1200"/>
              </a:spcAft>
              <a:buClr>
                <a:srgbClr val="85837D"/>
              </a:buClr>
              <a:buFont typeface="Arial"/>
              <a:buChar char="•"/>
            </a:pPr>
            <a:r>
              <a:rPr sz="1500" b="1" i="0">
                <a:solidFill>
                  <a:srgbClr val="151514"/>
                </a:solidFill>
                <a:latin typeface="Calibri"/>
              </a:rPr>
              <a:t>Unstabilised STDP hurts: </a:t>
            </a:r>
            <a:r>
              <a:rPr sz="1500" b="0" i="0">
                <a:solidFill>
                  <a:srgbClr val="151514"/>
                </a:solidFill>
                <a:latin typeface="Calibri"/>
              </a:rPr>
              <a:t>solved 0/3 vs 3/3 with backprop (runaway firing)</a:t>
            </a:r>
          </a:p>
          <a:p>
            <a:pPr algn="l" marL="256032" indent="-201168">
              <a:spcAft>
                <a:spcPts val="1200"/>
              </a:spcAft>
              <a:buClr>
                <a:srgbClr val="85837D"/>
              </a:buClr>
              <a:buFont typeface="Arial"/>
              <a:buChar char="•"/>
            </a:pPr>
            <a:r>
              <a:rPr sz="1500" b="1" i="0">
                <a:solidFill>
                  <a:srgbClr val="151514"/>
                </a:solidFill>
                <a:latin typeface="Calibri"/>
              </a:rPr>
              <a:t>Homeostasis + backprop: </a:t>
            </a:r>
            <a:r>
              <a:rPr sz="1500" b="0" i="0">
                <a:solidFill>
                  <a:srgbClr val="151514"/>
                </a:solidFill>
                <a:latin typeface="Calibri"/>
              </a:rPr>
              <a:t>raw p = 0.029, Holm p = 0.117: not significant</a:t>
            </a:r>
          </a:p>
          <a:p>
            <a:pPr algn="l" marL="256032" indent="-201168">
              <a:spcAft>
                <a:spcPts val="1200"/>
              </a:spcAft>
              <a:buClr>
                <a:srgbClr val="85837D"/>
              </a:buClr>
              <a:buFont typeface="Arial"/>
              <a:buChar char="•"/>
            </a:pPr>
            <a:r>
              <a:rPr sz="1500" b="1" i="0">
                <a:solidFill>
                  <a:srgbClr val="151514"/>
                </a:solidFill>
                <a:latin typeface="Calibri"/>
              </a:rPr>
              <a:t>Homeostasis + DFA: </a:t>
            </a:r>
            <a:r>
              <a:rPr sz="1500" b="0" i="0">
                <a:solidFill>
                  <a:srgbClr val="151514"/>
                </a:solidFill>
                <a:latin typeface="Calibri"/>
              </a:rPr>
              <a:t>ΔAUC +0.326 [+0.101, +0.551], Holm p = 0.017; solved 7/10 vs 2/10 (Holm p = 0.070)</a:t>
            </a:r>
          </a:p>
        </p:txBody>
      </p:sp>
      <p:sp>
        <p:nvSpPr>
          <p:cNvPr id="7" name="TextBox 6"/>
          <p:cNvSpPr txBox="1"/>
          <p:nvPr/>
        </p:nvSpPr>
        <p:spPr>
          <a:xfrm>
            <a:off x="548640" y="6446520"/>
            <a:ext cx="5486400" cy="274320"/>
          </a:xfrm>
          <a:prstGeom prst="rect">
            <a:avLst/>
          </a:prstGeom>
          <a:noFill/>
        </p:spPr>
        <p:txBody>
          <a:bodyPr wrap="square" anchor="t" lIns="0" rIns="0" tIns="0" bIns="0">
            <a:spAutoFit/>
          </a:bodyPr>
          <a:lstStyle/>
          <a:p>
            <a:pPr algn="l"/>
            <a:r>
              <a:rPr sz="1000" b="0" i="0">
                <a:solidFill>
                  <a:srgbClr val="85837D"/>
                </a:solidFill>
                <a:latin typeface="Calibri"/>
              </a:rPr>
              <a:t>NeuroPlast · final review</a:t>
            </a:r>
          </a:p>
        </p:txBody>
      </p:sp>
      <p:sp>
        <p:nvSpPr>
          <p:cNvPr id="8" name="TextBox 7"/>
          <p:cNvSpPr txBox="1"/>
          <p:nvPr/>
        </p:nvSpPr>
        <p:spPr>
          <a:xfrm>
            <a:off x="9814255" y="6446520"/>
            <a:ext cx="1828800" cy="274320"/>
          </a:xfrm>
          <a:prstGeom prst="rect">
            <a:avLst/>
          </a:prstGeom>
          <a:noFill/>
        </p:spPr>
        <p:txBody>
          <a:bodyPr wrap="square" anchor="t" lIns="0" rIns="0" tIns="0" bIns="0">
            <a:spAutoFit/>
          </a:bodyPr>
          <a:lstStyle/>
          <a:p>
            <a:pPr algn="r"/>
            <a:r>
              <a:rPr sz="1000" b="0" i="0">
                <a:solidFill>
                  <a:srgbClr val="85837D"/>
                </a:solidFill>
                <a:latin typeface="Calibri"/>
              </a:rPr>
              <a:t>10 / 15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320040"/>
          </a:xfrm>
          <a:prstGeom prst="rect">
            <a:avLst/>
          </a:prstGeom>
          <a:noFill/>
        </p:spPr>
        <p:txBody>
          <a:bodyPr wrap="square" anchor="t" lIns="0" rIns="0" tIns="0" bIns="0">
            <a:spAutoFit/>
          </a:bodyPr>
          <a:lstStyle/>
          <a:p>
            <a:pPr algn="l"/>
            <a:r>
              <a:rPr sz="1200" b="1" i="0">
                <a:solidFill>
                  <a:srgbClr val="2A78D6"/>
                </a:solidFill>
                <a:latin typeface="Calibri"/>
              </a:rPr>
              <a:t>EFFICIENCY</a:t>
            </a:r>
          </a:p>
        </p:txBody>
      </p:sp>
      <p:sp>
        <p:nvSpPr>
          <p:cNvPr id="3" name="TextBox 2"/>
          <p:cNvSpPr txBox="1"/>
          <p:nvPr/>
        </p:nvSpPr>
        <p:spPr>
          <a:xfrm>
            <a:off x="548640" y="740664"/>
            <a:ext cx="11094415" cy="822960"/>
          </a:xfrm>
          <a:prstGeom prst="rect">
            <a:avLst/>
          </a:prstGeom>
          <a:noFill/>
        </p:spPr>
        <p:txBody>
          <a:bodyPr wrap="square" anchor="t" lIns="0" rIns="0" tIns="0" bIns="0">
            <a:spAutoFit/>
          </a:bodyPr>
          <a:lstStyle/>
          <a:p>
            <a:pPr algn="l"/>
            <a:r>
              <a:rPr sz="3000" b="1" i="0">
                <a:solidFill>
                  <a:srgbClr val="151514"/>
                </a:solidFill>
                <a:latin typeface="Cambria"/>
              </a:rPr>
              <a:t>Spiking encoder: fewer operations, not more accuracy</a:t>
            </a:r>
          </a:p>
        </p:txBody>
      </p:sp>
      <p:pic>
        <p:nvPicPr>
          <p:cNvPr id="4" name="Picture 3" descr="fig_frontier.png"/>
          <p:cNvPicPr>
            <a:picLocks noChangeAspect="1"/>
          </p:cNvPicPr>
          <p:nvPr/>
        </p:nvPicPr>
        <p:blipFill>
          <a:blip r:embed="rId2"/>
          <a:stretch>
            <a:fillRect/>
          </a:stretch>
        </p:blipFill>
        <p:spPr>
          <a:xfrm>
            <a:off x="457200" y="1839680"/>
            <a:ext cx="7589520" cy="2995759"/>
          </a:xfrm>
          <a:prstGeom prst="rect">
            <a:avLst/>
          </a:prstGeom>
        </p:spPr>
      </p:pic>
      <p:sp>
        <p:nvSpPr>
          <p:cNvPr id="5" name="TextBox 4"/>
          <p:cNvSpPr txBox="1"/>
          <p:nvPr/>
        </p:nvSpPr>
        <p:spPr>
          <a:xfrm>
            <a:off x="548640" y="5029200"/>
            <a:ext cx="7406640" cy="914400"/>
          </a:xfrm>
          <a:prstGeom prst="rect">
            <a:avLst/>
          </a:prstGeom>
          <a:noFill/>
        </p:spPr>
        <p:txBody>
          <a:bodyPr wrap="square" anchor="t" lIns="0" rIns="0" tIns="0" bIns="0">
            <a:spAutoFit/>
          </a:bodyPr>
          <a:lstStyle/>
          <a:p>
            <a:pPr algn="l"/>
            <a:r>
              <a:rPr sz="1200" b="0" i="0">
                <a:solidFill>
                  <a:srgbClr val="85837D"/>
                </a:solidFill>
                <a:latin typeface="Calibri"/>
              </a:rPr>
              <a:t>Behaviour cloning of a DoorKey-6x6 teacher, activity penalty swept; 2 seeds per point. Operations = synaptic events (SNN) or non-zero multiply-accumulates (sparsified CNN).</a:t>
            </a:r>
          </a:p>
        </p:txBody>
      </p:sp>
      <p:sp>
        <p:nvSpPr>
          <p:cNvPr id="6" name="TextBox 5"/>
          <p:cNvSpPr txBox="1"/>
          <p:nvPr/>
        </p:nvSpPr>
        <p:spPr>
          <a:xfrm>
            <a:off x="8412480" y="1737360"/>
            <a:ext cx="3291840" cy="685800"/>
          </a:xfrm>
          <a:prstGeom prst="rect">
            <a:avLst/>
          </a:prstGeom>
          <a:noFill/>
        </p:spPr>
        <p:txBody>
          <a:bodyPr wrap="square" anchor="t" lIns="0" rIns="0" tIns="0" bIns="0">
            <a:spAutoFit/>
          </a:bodyPr>
          <a:lstStyle/>
          <a:p>
            <a:pPr algn="l"/>
            <a:r>
              <a:rPr sz="4000" b="1" i="0">
                <a:solidFill>
                  <a:srgbClr val="4A3AA7"/>
                </a:solidFill>
                <a:latin typeface="Cambria"/>
              </a:rPr>
              <a:t>16.6k</a:t>
            </a:r>
          </a:p>
        </p:txBody>
      </p:sp>
      <p:sp>
        <p:nvSpPr>
          <p:cNvPr id="7" name="TextBox 6"/>
          <p:cNvSpPr txBox="1"/>
          <p:nvPr/>
        </p:nvSpPr>
        <p:spPr>
          <a:xfrm>
            <a:off x="8412480" y="2395728"/>
            <a:ext cx="3291840" cy="731520"/>
          </a:xfrm>
          <a:prstGeom prst="rect">
            <a:avLst/>
          </a:prstGeom>
          <a:noFill/>
        </p:spPr>
        <p:txBody>
          <a:bodyPr wrap="square" anchor="t" lIns="0" rIns="0" tIns="0" bIns="0">
            <a:spAutoFit/>
          </a:bodyPr>
          <a:lstStyle/>
          <a:p>
            <a:pPr algn="l">
              <a:lnSpc>
                <a:spcPct val="105000"/>
              </a:lnSpc>
            </a:pPr>
            <a:r>
              <a:rPr sz="1300" b="0" i="0">
                <a:solidFill>
                  <a:srgbClr val="52514E"/>
                </a:solidFill>
                <a:latin typeface="Calibri"/>
              </a:rPr>
              <a:t>ops/frame: the SNN still works (accuracy 0.986)</a:t>
            </a:r>
          </a:p>
        </p:txBody>
      </p:sp>
      <p:sp>
        <p:nvSpPr>
          <p:cNvPr id="8" name="TextBox 7"/>
          <p:cNvSpPr txBox="1"/>
          <p:nvPr/>
        </p:nvSpPr>
        <p:spPr>
          <a:xfrm>
            <a:off x="8412480" y="3063240"/>
            <a:ext cx="3291840" cy="685800"/>
          </a:xfrm>
          <a:prstGeom prst="rect">
            <a:avLst/>
          </a:prstGeom>
          <a:noFill/>
        </p:spPr>
        <p:txBody>
          <a:bodyPr wrap="square" anchor="t" lIns="0" rIns="0" tIns="0" bIns="0">
            <a:spAutoFit/>
          </a:bodyPr>
          <a:lstStyle/>
          <a:p>
            <a:pPr algn="l"/>
            <a:r>
              <a:rPr sz="4000" b="1" i="0">
                <a:solidFill>
                  <a:srgbClr val="151514"/>
                </a:solidFill>
                <a:latin typeface="Cambria"/>
              </a:rPr>
              <a:t>33k</a:t>
            </a:r>
          </a:p>
        </p:txBody>
      </p:sp>
      <p:sp>
        <p:nvSpPr>
          <p:cNvPr id="9" name="TextBox 8"/>
          <p:cNvSpPr txBox="1"/>
          <p:nvPr/>
        </p:nvSpPr>
        <p:spPr>
          <a:xfrm>
            <a:off x="8412480" y="3721608"/>
            <a:ext cx="3291840" cy="731520"/>
          </a:xfrm>
          <a:prstGeom prst="rect">
            <a:avLst/>
          </a:prstGeom>
          <a:noFill/>
        </p:spPr>
        <p:txBody>
          <a:bodyPr wrap="square" anchor="t" lIns="0" rIns="0" tIns="0" bIns="0">
            <a:spAutoFit/>
          </a:bodyPr>
          <a:lstStyle/>
          <a:p>
            <a:pPr algn="l">
              <a:lnSpc>
                <a:spcPct val="105000"/>
              </a:lnSpc>
            </a:pPr>
            <a:r>
              <a:rPr sz="1300" b="0" i="0">
                <a:solidFill>
                  <a:srgbClr val="52514E"/>
                </a:solidFill>
                <a:latin typeface="Calibri"/>
              </a:rPr>
              <a:t>ops/frame: below this the sparsified CNN stops working</a:t>
            </a:r>
          </a:p>
        </p:txBody>
      </p:sp>
      <p:sp>
        <p:nvSpPr>
          <p:cNvPr id="10" name="TextBox 9"/>
          <p:cNvSpPr txBox="1"/>
          <p:nvPr/>
        </p:nvSpPr>
        <p:spPr>
          <a:xfrm>
            <a:off x="8412480" y="4389120"/>
            <a:ext cx="3291840" cy="685800"/>
          </a:xfrm>
          <a:prstGeom prst="rect">
            <a:avLst/>
          </a:prstGeom>
          <a:noFill/>
        </p:spPr>
        <p:txBody>
          <a:bodyPr wrap="square" anchor="t" lIns="0" rIns="0" tIns="0" bIns="0">
            <a:spAutoFit/>
          </a:bodyPr>
          <a:lstStyle/>
          <a:p>
            <a:pPr algn="l"/>
            <a:r>
              <a:rPr sz="4000" b="1" i="0">
                <a:solidFill>
                  <a:srgbClr val="EB6834"/>
                </a:solidFill>
                <a:latin typeface="Cambria"/>
              </a:rPr>
              <a:t>5.2×</a:t>
            </a:r>
          </a:p>
        </p:txBody>
      </p:sp>
      <p:sp>
        <p:nvSpPr>
          <p:cNvPr id="11" name="TextBox 10"/>
          <p:cNvSpPr txBox="1"/>
          <p:nvPr/>
        </p:nvSpPr>
        <p:spPr>
          <a:xfrm>
            <a:off x="8412480" y="5047488"/>
            <a:ext cx="3291840" cy="731520"/>
          </a:xfrm>
          <a:prstGeom prst="rect">
            <a:avLst/>
          </a:prstGeom>
          <a:noFill/>
        </p:spPr>
        <p:txBody>
          <a:bodyPr wrap="square" anchor="t" lIns="0" rIns="0" tIns="0" bIns="0">
            <a:spAutoFit/>
          </a:bodyPr>
          <a:lstStyle/>
          <a:p>
            <a:pPr algn="l">
              <a:lnSpc>
                <a:spcPct val="105000"/>
              </a:lnSpc>
            </a:pPr>
            <a:r>
              <a:rPr sz="1300" b="0" i="0">
                <a:solidFill>
                  <a:srgbClr val="52514E"/>
                </a:solidFill>
                <a:latin typeface="Calibri"/>
              </a:rPr>
              <a:t>CPU time per training step (80 vs 16 ms); energy savings are only an estimate</a:t>
            </a:r>
          </a:p>
        </p:txBody>
      </p:sp>
      <p:sp>
        <p:nvSpPr>
          <p:cNvPr id="12" name="TextBox 11"/>
          <p:cNvSpPr txBox="1"/>
          <p:nvPr/>
        </p:nvSpPr>
        <p:spPr>
          <a:xfrm>
            <a:off x="548640" y="6446520"/>
            <a:ext cx="5486400" cy="274320"/>
          </a:xfrm>
          <a:prstGeom prst="rect">
            <a:avLst/>
          </a:prstGeom>
          <a:noFill/>
        </p:spPr>
        <p:txBody>
          <a:bodyPr wrap="square" anchor="t" lIns="0" rIns="0" tIns="0" bIns="0">
            <a:spAutoFit/>
          </a:bodyPr>
          <a:lstStyle/>
          <a:p>
            <a:pPr algn="l"/>
            <a:r>
              <a:rPr sz="1000" b="0" i="0">
                <a:solidFill>
                  <a:srgbClr val="85837D"/>
                </a:solidFill>
                <a:latin typeface="Calibri"/>
              </a:rPr>
              <a:t>NeuroPlast · final review</a:t>
            </a:r>
          </a:p>
        </p:txBody>
      </p:sp>
      <p:sp>
        <p:nvSpPr>
          <p:cNvPr id="13" name="TextBox 12"/>
          <p:cNvSpPr txBox="1"/>
          <p:nvPr/>
        </p:nvSpPr>
        <p:spPr>
          <a:xfrm>
            <a:off x="9814255" y="6446520"/>
            <a:ext cx="1828800" cy="274320"/>
          </a:xfrm>
          <a:prstGeom prst="rect">
            <a:avLst/>
          </a:prstGeom>
          <a:noFill/>
        </p:spPr>
        <p:txBody>
          <a:bodyPr wrap="square" anchor="t" lIns="0" rIns="0" tIns="0" bIns="0">
            <a:spAutoFit/>
          </a:bodyPr>
          <a:lstStyle/>
          <a:p>
            <a:pPr algn="r"/>
            <a:r>
              <a:rPr sz="1000" b="0" i="0">
                <a:solidFill>
                  <a:srgbClr val="85837D"/>
                </a:solidFill>
                <a:latin typeface="Calibri"/>
              </a:rPr>
              <a:t>11 / 15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320040"/>
          </a:xfrm>
          <a:prstGeom prst="rect">
            <a:avLst/>
          </a:prstGeom>
          <a:noFill/>
        </p:spPr>
        <p:txBody>
          <a:bodyPr wrap="square" anchor="t" lIns="0" rIns="0" tIns="0" bIns="0">
            <a:spAutoFit/>
          </a:bodyPr>
          <a:lstStyle/>
          <a:p>
            <a:pPr algn="l"/>
            <a:r>
              <a:rPr sz="1200" b="1" i="0">
                <a:solidFill>
                  <a:srgbClr val="2A78D6"/>
                </a:solidFill>
                <a:latin typeface="Calibri"/>
              </a:rPr>
              <a:t>HONEST ACCOUNTING</a:t>
            </a:r>
          </a:p>
        </p:txBody>
      </p:sp>
      <p:sp>
        <p:nvSpPr>
          <p:cNvPr id="3" name="TextBox 2"/>
          <p:cNvSpPr txBox="1"/>
          <p:nvPr/>
        </p:nvSpPr>
        <p:spPr>
          <a:xfrm>
            <a:off x="548640" y="740664"/>
            <a:ext cx="11094415" cy="822960"/>
          </a:xfrm>
          <a:prstGeom prst="rect">
            <a:avLst/>
          </a:prstGeom>
          <a:noFill/>
        </p:spPr>
        <p:txBody>
          <a:bodyPr wrap="square" anchor="t" lIns="0" rIns="0" tIns="0" bIns="0">
            <a:spAutoFit/>
          </a:bodyPr>
          <a:lstStyle/>
          <a:p>
            <a:pPr algn="l"/>
            <a:r>
              <a:rPr sz="3000" b="1" i="0">
                <a:solidFill>
                  <a:srgbClr val="151514"/>
                </a:solidFill>
                <a:latin typeface="Cambria"/>
              </a:rPr>
              <a:t>What didn't survive controls, and why</a:t>
            </a:r>
          </a:p>
        </p:txBody>
      </p:sp>
      <p:sp>
        <p:nvSpPr>
          <p:cNvPr id="4" name="TextBox 3"/>
          <p:cNvSpPr txBox="1"/>
          <p:nvPr/>
        </p:nvSpPr>
        <p:spPr>
          <a:xfrm>
            <a:off x="685800" y="1719072"/>
            <a:ext cx="3291840" cy="274320"/>
          </a:xfrm>
          <a:prstGeom prst="rect">
            <a:avLst/>
          </a:prstGeom>
          <a:noFill/>
        </p:spPr>
        <p:txBody>
          <a:bodyPr wrap="square" anchor="t" lIns="0" rIns="0" tIns="0" bIns="0">
            <a:spAutoFit/>
          </a:bodyPr>
          <a:lstStyle/>
          <a:p>
            <a:pPr algn="l"/>
            <a:r>
              <a:rPr sz="1050" b="1" i="0">
                <a:solidFill>
                  <a:srgbClr val="85837D"/>
                </a:solidFill>
                <a:latin typeface="Calibri"/>
              </a:rPr>
              <a:t>EARLIER FINDING</a:t>
            </a:r>
          </a:p>
        </p:txBody>
      </p:sp>
      <p:sp>
        <p:nvSpPr>
          <p:cNvPr id="5" name="TextBox 4"/>
          <p:cNvSpPr txBox="1"/>
          <p:nvPr/>
        </p:nvSpPr>
        <p:spPr>
          <a:xfrm>
            <a:off x="4069080" y="1719072"/>
            <a:ext cx="2377440" cy="274320"/>
          </a:xfrm>
          <a:prstGeom prst="rect">
            <a:avLst/>
          </a:prstGeom>
          <a:noFill/>
        </p:spPr>
        <p:txBody>
          <a:bodyPr wrap="square" anchor="t" lIns="0" rIns="0" tIns="0" bIns="0">
            <a:spAutoFit/>
          </a:bodyPr>
          <a:lstStyle/>
          <a:p>
            <a:pPr algn="l"/>
            <a:r>
              <a:rPr sz="1050" b="1" i="0">
                <a:solidFill>
                  <a:srgbClr val="85837D"/>
                </a:solidFill>
                <a:latin typeface="Calibri"/>
              </a:rPr>
              <a:t>EVIDENCE THEN</a:t>
            </a:r>
          </a:p>
        </p:txBody>
      </p:sp>
      <p:sp>
        <p:nvSpPr>
          <p:cNvPr id="6" name="TextBox 5"/>
          <p:cNvSpPr txBox="1"/>
          <p:nvPr/>
        </p:nvSpPr>
        <p:spPr>
          <a:xfrm>
            <a:off x="6537960" y="1719072"/>
            <a:ext cx="3337560" cy="274320"/>
          </a:xfrm>
          <a:prstGeom prst="rect">
            <a:avLst/>
          </a:prstGeom>
          <a:noFill/>
        </p:spPr>
        <p:txBody>
          <a:bodyPr wrap="square" anchor="t" lIns="0" rIns="0" tIns="0" bIns="0">
            <a:spAutoFit/>
          </a:bodyPr>
          <a:lstStyle/>
          <a:p>
            <a:pPr algn="l"/>
            <a:r>
              <a:rPr sz="1050" b="1" i="0">
                <a:solidFill>
                  <a:srgbClr val="85837D"/>
                </a:solidFill>
                <a:latin typeface="Calibri"/>
              </a:rPr>
              <a:t>AFTER THE CONTROL</a:t>
            </a:r>
          </a:p>
        </p:txBody>
      </p:sp>
      <p:sp>
        <p:nvSpPr>
          <p:cNvPr id="7" name="TextBox 6"/>
          <p:cNvSpPr txBox="1"/>
          <p:nvPr/>
        </p:nvSpPr>
        <p:spPr>
          <a:xfrm>
            <a:off x="9966960" y="1719072"/>
            <a:ext cx="1813255" cy="274320"/>
          </a:xfrm>
          <a:prstGeom prst="rect">
            <a:avLst/>
          </a:prstGeom>
          <a:noFill/>
        </p:spPr>
        <p:txBody>
          <a:bodyPr wrap="square" anchor="t" lIns="0" rIns="0" tIns="0" bIns="0">
            <a:spAutoFit/>
          </a:bodyPr>
          <a:lstStyle/>
          <a:p>
            <a:pPr algn="l"/>
            <a:r>
              <a:rPr sz="1050" b="1" i="0">
                <a:solidFill>
                  <a:srgbClr val="85837D"/>
                </a:solidFill>
                <a:latin typeface="Calibri"/>
              </a:rPr>
              <a:t>CAUSE</a:t>
            </a:r>
          </a:p>
        </p:txBody>
      </p:sp>
      <p:sp>
        <p:nvSpPr>
          <p:cNvPr id="8" name="Rounded Rectangle 7"/>
          <p:cNvSpPr/>
          <p:nvPr/>
        </p:nvSpPr>
        <p:spPr>
          <a:xfrm>
            <a:off x="548640" y="2029968"/>
            <a:ext cx="11094415" cy="512064"/>
          </a:xfrm>
          <a:prstGeom prst="roundRect">
            <a:avLst>
              <a:gd name="adj" fmla="val 20000"/>
            </a:avLst>
          </a:prstGeom>
          <a:solidFill>
            <a:srgbClr val="F4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85800" y="2029968"/>
            <a:ext cx="3108960" cy="512064"/>
          </a:xfrm>
          <a:prstGeom prst="rect">
            <a:avLst/>
          </a:prstGeom>
          <a:noFill/>
        </p:spPr>
        <p:txBody>
          <a:bodyPr wrap="square" anchor="ctr" lIns="0" rIns="0" tIns="0" bIns="0">
            <a:spAutoFit/>
          </a:bodyPr>
          <a:lstStyle/>
          <a:p>
            <a:pPr algn="l"/>
            <a:r>
              <a:rPr sz="1350" b="1" i="0">
                <a:solidFill>
                  <a:srgbClr val="151514"/>
                </a:solidFill>
                <a:latin typeface="Calibri"/>
              </a:rPr>
              <a:t>Sleep beats replay (SNN+Transformer)</a:t>
            </a:r>
          </a:p>
        </p:txBody>
      </p:sp>
      <p:sp>
        <p:nvSpPr>
          <p:cNvPr id="10" name="TextBox 9"/>
          <p:cNvSpPr txBox="1"/>
          <p:nvPr/>
        </p:nvSpPr>
        <p:spPr>
          <a:xfrm>
            <a:off x="4069080" y="2029968"/>
            <a:ext cx="2194560" cy="512064"/>
          </a:xfrm>
          <a:prstGeom prst="rect">
            <a:avLst/>
          </a:prstGeom>
          <a:noFill/>
        </p:spPr>
        <p:txBody>
          <a:bodyPr wrap="square" anchor="ctr" lIns="0" rIns="0" tIns="0" bIns="0">
            <a:spAutoFit/>
          </a:bodyPr>
          <a:lstStyle/>
          <a:p>
            <a:pPr algn="l"/>
            <a:r>
              <a:rPr sz="1300" b="0" i="0">
                <a:solidFill>
                  <a:srgbClr val="52514E"/>
                </a:solidFill>
                <a:latin typeface="Calibri"/>
              </a:rPr>
              <a:t>p = 0.072 with 3 seeds</a:t>
            </a:r>
          </a:p>
        </p:txBody>
      </p:sp>
      <p:sp>
        <p:nvSpPr>
          <p:cNvPr id="11" name="TextBox 10"/>
          <p:cNvSpPr txBox="1"/>
          <p:nvPr/>
        </p:nvSpPr>
        <p:spPr>
          <a:xfrm>
            <a:off x="6537960" y="2029968"/>
            <a:ext cx="3154679" cy="512064"/>
          </a:xfrm>
          <a:prstGeom prst="rect">
            <a:avLst/>
          </a:prstGeom>
          <a:noFill/>
        </p:spPr>
        <p:txBody>
          <a:bodyPr wrap="square" anchor="ctr" lIns="0" rIns="0" tIns="0" bIns="0">
            <a:spAutoFit/>
          </a:bodyPr>
          <a:lstStyle/>
          <a:p>
            <a:pPr algn="l"/>
            <a:r>
              <a:rPr sz="1300" b="0" i="0">
                <a:solidFill>
                  <a:srgbClr val="52514E"/>
                </a:solidFill>
                <a:latin typeface="Calibri"/>
              </a:rPr>
              <a:t>tie at a matched replay budget: p = 0.415, 8 seeds</a:t>
            </a:r>
          </a:p>
        </p:txBody>
      </p:sp>
      <p:sp>
        <p:nvSpPr>
          <p:cNvPr id="12" name="TextBox 11"/>
          <p:cNvSpPr txBox="1"/>
          <p:nvPr/>
        </p:nvSpPr>
        <p:spPr>
          <a:xfrm>
            <a:off x="9966960" y="2029968"/>
            <a:ext cx="1630375" cy="512064"/>
          </a:xfrm>
          <a:prstGeom prst="rect">
            <a:avLst/>
          </a:prstGeom>
          <a:noFill/>
        </p:spPr>
        <p:txBody>
          <a:bodyPr wrap="square" anchor="ctr" lIns="0" rIns="0" tIns="0" bIns="0">
            <a:spAutoFit/>
          </a:bodyPr>
          <a:lstStyle/>
          <a:p>
            <a:pPr algn="l"/>
            <a:r>
              <a:rPr sz="1300" b="0" i="0">
                <a:solidFill>
                  <a:srgbClr val="151514"/>
                </a:solidFill>
                <a:latin typeface="Calibri"/>
              </a:rPr>
              <a:t>seeds; replay budget</a:t>
            </a:r>
          </a:p>
        </p:txBody>
      </p:sp>
      <p:sp>
        <p:nvSpPr>
          <p:cNvPr id="13" name="Rounded Rectangle 12"/>
          <p:cNvSpPr/>
          <p:nvPr/>
        </p:nvSpPr>
        <p:spPr>
          <a:xfrm>
            <a:off x="548640" y="2633472"/>
            <a:ext cx="11094415" cy="512064"/>
          </a:xfrm>
          <a:prstGeom prst="roundRect">
            <a:avLst>
              <a:gd name="adj" fmla="val 20000"/>
            </a:avLst>
          </a:prstGeom>
          <a:solidFill>
            <a:srgbClr val="FA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85800" y="2633472"/>
            <a:ext cx="3108960" cy="512064"/>
          </a:xfrm>
          <a:prstGeom prst="rect">
            <a:avLst/>
          </a:prstGeom>
          <a:noFill/>
        </p:spPr>
        <p:txBody>
          <a:bodyPr wrap="square" anchor="ctr" lIns="0" rIns="0" tIns="0" bIns="0">
            <a:spAutoFit/>
          </a:bodyPr>
          <a:lstStyle/>
          <a:p>
            <a:pPr algn="l"/>
            <a:r>
              <a:rPr sz="1350" b="1" i="0">
                <a:solidFill>
                  <a:srgbClr val="151514"/>
                </a:solidFill>
                <a:latin typeface="Calibri"/>
              </a:rPr>
              <a:t>Shared weights far more efficient</a:t>
            </a:r>
          </a:p>
        </p:txBody>
      </p:sp>
      <p:sp>
        <p:nvSpPr>
          <p:cNvPr id="15" name="TextBox 14"/>
          <p:cNvSpPr txBox="1"/>
          <p:nvPr/>
        </p:nvSpPr>
        <p:spPr>
          <a:xfrm>
            <a:off x="4069080" y="2633472"/>
            <a:ext cx="2194560" cy="512064"/>
          </a:xfrm>
          <a:prstGeom prst="rect">
            <a:avLst/>
          </a:prstGeom>
          <a:noFill/>
        </p:spPr>
        <p:txBody>
          <a:bodyPr wrap="square" anchor="ctr" lIns="0" rIns="0" tIns="0" bIns="0">
            <a:spAutoFit/>
          </a:bodyPr>
          <a:lstStyle/>
          <a:p>
            <a:pPr algn="l"/>
            <a:r>
              <a:rPr sz="1300" b="0" i="0">
                <a:solidFill>
                  <a:srgbClr val="52514E"/>
                </a:solidFill>
                <a:latin typeface="Calibri"/>
              </a:rPr>
              <a:t>2.5–3.3× per parameter</a:t>
            </a:r>
          </a:p>
        </p:txBody>
      </p:sp>
      <p:sp>
        <p:nvSpPr>
          <p:cNvPr id="16" name="TextBox 15"/>
          <p:cNvSpPr txBox="1"/>
          <p:nvPr/>
        </p:nvSpPr>
        <p:spPr>
          <a:xfrm>
            <a:off x="6537960" y="2633472"/>
            <a:ext cx="3154679" cy="512064"/>
          </a:xfrm>
          <a:prstGeom prst="rect">
            <a:avLst/>
          </a:prstGeom>
          <a:noFill/>
        </p:spPr>
        <p:txBody>
          <a:bodyPr wrap="square" anchor="ctr" lIns="0" rIns="0" tIns="0" bIns="0">
            <a:spAutoFit/>
          </a:bodyPr>
          <a:lstStyle/>
          <a:p>
            <a:pPr algn="l"/>
            <a:r>
              <a:rPr sz="1300" b="0" i="0">
                <a:solidFill>
                  <a:srgbClr val="52514E"/>
                </a:solidFill>
                <a:latin typeface="Calibri"/>
              </a:rPr>
              <a:t>isolation 1.8–2.9× better per MB</a:t>
            </a:r>
          </a:p>
        </p:txBody>
      </p:sp>
      <p:sp>
        <p:nvSpPr>
          <p:cNvPr id="17" name="TextBox 16"/>
          <p:cNvSpPr txBox="1"/>
          <p:nvPr/>
        </p:nvSpPr>
        <p:spPr>
          <a:xfrm>
            <a:off x="9966960" y="2633472"/>
            <a:ext cx="1630375" cy="512064"/>
          </a:xfrm>
          <a:prstGeom prst="rect">
            <a:avLst/>
          </a:prstGeom>
          <a:noFill/>
        </p:spPr>
        <p:txBody>
          <a:bodyPr wrap="square" anchor="ctr" lIns="0" rIns="0" tIns="0" bIns="0">
            <a:spAutoFit/>
          </a:bodyPr>
          <a:lstStyle/>
          <a:p>
            <a:pPr algn="l"/>
            <a:r>
              <a:rPr sz="1300" b="0" i="0">
                <a:solidFill>
                  <a:srgbClr val="151514"/>
                </a:solidFill>
                <a:latin typeface="Calibri"/>
              </a:rPr>
              <a:t>memory accounting</a:t>
            </a:r>
          </a:p>
        </p:txBody>
      </p:sp>
      <p:sp>
        <p:nvSpPr>
          <p:cNvPr id="18" name="Rounded Rectangle 17"/>
          <p:cNvSpPr/>
          <p:nvPr/>
        </p:nvSpPr>
        <p:spPr>
          <a:xfrm>
            <a:off x="548640" y="3236976"/>
            <a:ext cx="11094415" cy="512064"/>
          </a:xfrm>
          <a:prstGeom prst="roundRect">
            <a:avLst>
              <a:gd name="adj" fmla="val 20000"/>
            </a:avLst>
          </a:prstGeom>
          <a:solidFill>
            <a:srgbClr val="F4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85800" y="3236976"/>
            <a:ext cx="3108960" cy="512064"/>
          </a:xfrm>
          <a:prstGeom prst="rect">
            <a:avLst/>
          </a:prstGeom>
          <a:noFill/>
        </p:spPr>
        <p:txBody>
          <a:bodyPr wrap="square" anchor="ctr" lIns="0" rIns="0" tIns="0" bIns="0">
            <a:spAutoFit/>
          </a:bodyPr>
          <a:lstStyle/>
          <a:p>
            <a:pPr algn="l"/>
            <a:r>
              <a:rPr sz="1350" b="1" i="0">
                <a:solidFill>
                  <a:srgbClr val="151514"/>
                </a:solidFill>
                <a:latin typeface="Calibri"/>
              </a:rPr>
              <a:t>Sleep far beats isolation, 5 tasks (SNN)</a:t>
            </a:r>
          </a:p>
        </p:txBody>
      </p:sp>
      <p:sp>
        <p:nvSpPr>
          <p:cNvPr id="20" name="TextBox 19"/>
          <p:cNvSpPr txBox="1"/>
          <p:nvPr/>
        </p:nvSpPr>
        <p:spPr>
          <a:xfrm>
            <a:off x="4069080" y="3236976"/>
            <a:ext cx="2194560" cy="512064"/>
          </a:xfrm>
          <a:prstGeom prst="rect">
            <a:avLst/>
          </a:prstGeom>
          <a:noFill/>
        </p:spPr>
        <p:txBody>
          <a:bodyPr wrap="square" anchor="ctr" lIns="0" rIns="0" tIns="0" bIns="0">
            <a:spAutoFit/>
          </a:bodyPr>
          <a:lstStyle/>
          <a:p>
            <a:pPr algn="l"/>
            <a:r>
              <a:rPr sz="1300" b="0" i="0">
                <a:solidFill>
                  <a:srgbClr val="52514E"/>
                </a:solidFill>
                <a:latin typeface="Calibri"/>
              </a:rPr>
              <a:t>gap +0.303 [+0.148, +0.457]</a:t>
            </a:r>
          </a:p>
        </p:txBody>
      </p:sp>
      <p:sp>
        <p:nvSpPr>
          <p:cNvPr id="21" name="TextBox 20"/>
          <p:cNvSpPr txBox="1"/>
          <p:nvPr/>
        </p:nvSpPr>
        <p:spPr>
          <a:xfrm>
            <a:off x="6537960" y="3236976"/>
            <a:ext cx="3154679" cy="512064"/>
          </a:xfrm>
          <a:prstGeom prst="rect">
            <a:avLst/>
          </a:prstGeom>
          <a:noFill/>
        </p:spPr>
        <p:txBody>
          <a:bodyPr wrap="square" anchor="ctr" lIns="0" rIns="0" tIns="0" bIns="0">
            <a:spAutoFit/>
          </a:bodyPr>
          <a:lstStyle/>
          <a:p>
            <a:pPr algn="l"/>
            <a:r>
              <a:rPr sz="1300" b="0" i="0">
                <a:solidFill>
                  <a:srgbClr val="52514E"/>
                </a:solidFill>
                <a:latin typeface="Calibri"/>
              </a:rPr>
              <a:t>gap +0.044 [−0.009, +0.098] at a fair budget</a:t>
            </a:r>
          </a:p>
        </p:txBody>
      </p:sp>
      <p:sp>
        <p:nvSpPr>
          <p:cNvPr id="22" name="TextBox 21"/>
          <p:cNvSpPr txBox="1"/>
          <p:nvPr/>
        </p:nvSpPr>
        <p:spPr>
          <a:xfrm>
            <a:off x="9966960" y="3236976"/>
            <a:ext cx="1630375" cy="512064"/>
          </a:xfrm>
          <a:prstGeom prst="rect">
            <a:avLst/>
          </a:prstGeom>
          <a:noFill/>
        </p:spPr>
        <p:txBody>
          <a:bodyPr wrap="square" anchor="ctr" lIns="0" rIns="0" tIns="0" bIns="0">
            <a:spAutoFit/>
          </a:bodyPr>
          <a:lstStyle/>
          <a:p>
            <a:pPr algn="l"/>
            <a:r>
              <a:rPr sz="1300" b="0" i="0">
                <a:solidFill>
                  <a:srgbClr val="151514"/>
                </a:solidFill>
                <a:latin typeface="Calibri"/>
              </a:rPr>
              <a:t>training budget</a:t>
            </a:r>
          </a:p>
        </p:txBody>
      </p:sp>
      <p:sp>
        <p:nvSpPr>
          <p:cNvPr id="23" name="Rounded Rectangle 22"/>
          <p:cNvSpPr/>
          <p:nvPr/>
        </p:nvSpPr>
        <p:spPr>
          <a:xfrm>
            <a:off x="548640" y="3840480"/>
            <a:ext cx="11094415" cy="512064"/>
          </a:xfrm>
          <a:prstGeom prst="roundRect">
            <a:avLst>
              <a:gd name="adj" fmla="val 20000"/>
            </a:avLst>
          </a:prstGeom>
          <a:solidFill>
            <a:srgbClr val="FA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85800" y="3840480"/>
            <a:ext cx="3108960" cy="512064"/>
          </a:xfrm>
          <a:prstGeom prst="rect">
            <a:avLst/>
          </a:prstGeom>
          <a:noFill/>
        </p:spPr>
        <p:txBody>
          <a:bodyPr wrap="square" anchor="ctr" lIns="0" rIns="0" tIns="0" bIns="0">
            <a:spAutoFit/>
          </a:bodyPr>
          <a:lstStyle/>
          <a:p>
            <a:pPr algn="l"/>
            <a:r>
              <a:rPr sz="1350" b="1" i="0">
                <a:solidFill>
                  <a:srgbClr val="151514"/>
                </a:solidFill>
                <a:latin typeface="Calibri"/>
              </a:rPr>
              <a:t>Homeostasis helps backprop</a:t>
            </a:r>
          </a:p>
        </p:txBody>
      </p:sp>
      <p:sp>
        <p:nvSpPr>
          <p:cNvPr id="25" name="TextBox 24"/>
          <p:cNvSpPr txBox="1"/>
          <p:nvPr/>
        </p:nvSpPr>
        <p:spPr>
          <a:xfrm>
            <a:off x="4069080" y="3840480"/>
            <a:ext cx="2194560" cy="512064"/>
          </a:xfrm>
          <a:prstGeom prst="rect">
            <a:avLst/>
          </a:prstGeom>
          <a:noFill/>
        </p:spPr>
        <p:txBody>
          <a:bodyPr wrap="square" anchor="ctr" lIns="0" rIns="0" tIns="0" bIns="0">
            <a:spAutoFit/>
          </a:bodyPr>
          <a:lstStyle/>
          <a:p>
            <a:pPr algn="l"/>
            <a:r>
              <a:rPr sz="1300" b="0" i="0">
                <a:solidFill>
                  <a:srgbClr val="52514E"/>
                </a:solidFill>
                <a:latin typeface="Calibri"/>
              </a:rPr>
              <a:t>p = 0.088 (3 vs 5 seeds)</a:t>
            </a:r>
          </a:p>
        </p:txBody>
      </p:sp>
      <p:sp>
        <p:nvSpPr>
          <p:cNvPr id="26" name="TextBox 25"/>
          <p:cNvSpPr txBox="1"/>
          <p:nvPr/>
        </p:nvSpPr>
        <p:spPr>
          <a:xfrm>
            <a:off x="6537960" y="3840480"/>
            <a:ext cx="3154679" cy="512064"/>
          </a:xfrm>
          <a:prstGeom prst="rect">
            <a:avLst/>
          </a:prstGeom>
          <a:noFill/>
        </p:spPr>
        <p:txBody>
          <a:bodyPr wrap="square" anchor="ctr" lIns="0" rIns="0" tIns="0" bIns="0">
            <a:spAutoFit/>
          </a:bodyPr>
          <a:lstStyle/>
          <a:p>
            <a:pPr algn="l"/>
            <a:r>
              <a:rPr sz="1300" b="0" i="0">
                <a:solidFill>
                  <a:srgbClr val="52514E"/>
                </a:solidFill>
                <a:latin typeface="Calibri"/>
              </a:rPr>
              <a:t>Holm p = 0.117 with 10 seeds</a:t>
            </a:r>
          </a:p>
        </p:txBody>
      </p:sp>
      <p:sp>
        <p:nvSpPr>
          <p:cNvPr id="27" name="TextBox 26"/>
          <p:cNvSpPr txBox="1"/>
          <p:nvPr/>
        </p:nvSpPr>
        <p:spPr>
          <a:xfrm>
            <a:off x="9966960" y="3840480"/>
            <a:ext cx="1630375" cy="512064"/>
          </a:xfrm>
          <a:prstGeom prst="rect">
            <a:avLst/>
          </a:prstGeom>
          <a:noFill/>
        </p:spPr>
        <p:txBody>
          <a:bodyPr wrap="square" anchor="ctr" lIns="0" rIns="0" tIns="0" bIns="0">
            <a:spAutoFit/>
          </a:bodyPr>
          <a:lstStyle/>
          <a:p>
            <a:pPr algn="l"/>
            <a:r>
              <a:rPr sz="1300" b="0" i="0">
                <a:solidFill>
                  <a:srgbClr val="151514"/>
                </a:solidFill>
                <a:latin typeface="Calibri"/>
              </a:rPr>
              <a:t>seeds; multiple tests</a:t>
            </a:r>
          </a:p>
        </p:txBody>
      </p:sp>
      <p:sp>
        <p:nvSpPr>
          <p:cNvPr id="28" name="Rounded Rectangle 27"/>
          <p:cNvSpPr/>
          <p:nvPr/>
        </p:nvSpPr>
        <p:spPr>
          <a:xfrm>
            <a:off x="548640" y="4443984"/>
            <a:ext cx="11094415" cy="512064"/>
          </a:xfrm>
          <a:prstGeom prst="roundRect">
            <a:avLst>
              <a:gd name="adj" fmla="val 20000"/>
            </a:avLst>
          </a:prstGeom>
          <a:solidFill>
            <a:srgbClr val="F4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85800" y="4443984"/>
            <a:ext cx="3108960" cy="512064"/>
          </a:xfrm>
          <a:prstGeom prst="rect">
            <a:avLst/>
          </a:prstGeom>
          <a:noFill/>
        </p:spPr>
        <p:txBody>
          <a:bodyPr wrap="square" anchor="ctr" lIns="0" rIns="0" tIns="0" bIns="0">
            <a:spAutoFit/>
          </a:bodyPr>
          <a:lstStyle/>
          <a:p>
            <a:pPr algn="l"/>
            <a:r>
              <a:rPr sz="1350" b="1" i="0">
                <a:solidFill>
                  <a:srgbClr val="151514"/>
                </a:solidFill>
                <a:latin typeface="Calibri"/>
              </a:rPr>
              <a:t>Homeostasis makes DFA work</a:t>
            </a:r>
          </a:p>
        </p:txBody>
      </p:sp>
      <p:sp>
        <p:nvSpPr>
          <p:cNvPr id="30" name="TextBox 29"/>
          <p:cNvSpPr txBox="1"/>
          <p:nvPr/>
        </p:nvSpPr>
        <p:spPr>
          <a:xfrm>
            <a:off x="4069080" y="4443984"/>
            <a:ext cx="2194560" cy="512064"/>
          </a:xfrm>
          <a:prstGeom prst="rect">
            <a:avLst/>
          </a:prstGeom>
          <a:noFill/>
        </p:spPr>
        <p:txBody>
          <a:bodyPr wrap="square" anchor="ctr" lIns="0" rIns="0" tIns="0" bIns="0">
            <a:spAutoFit/>
          </a:bodyPr>
          <a:lstStyle/>
          <a:p>
            <a:pPr algn="l"/>
            <a:r>
              <a:rPr sz="1300" b="0" i="0">
                <a:solidFill>
                  <a:srgbClr val="52514E"/>
                </a:solidFill>
                <a:latin typeface="Calibri"/>
              </a:rPr>
              <a:t>solved 3/3 vs 1/5</a:t>
            </a:r>
          </a:p>
        </p:txBody>
      </p:sp>
      <p:sp>
        <p:nvSpPr>
          <p:cNvPr id="31" name="TextBox 30"/>
          <p:cNvSpPr txBox="1"/>
          <p:nvPr/>
        </p:nvSpPr>
        <p:spPr>
          <a:xfrm>
            <a:off x="6537960" y="4443984"/>
            <a:ext cx="3154679" cy="512064"/>
          </a:xfrm>
          <a:prstGeom prst="rect">
            <a:avLst/>
          </a:prstGeom>
          <a:noFill/>
        </p:spPr>
        <p:txBody>
          <a:bodyPr wrap="square" anchor="ctr" lIns="0" rIns="0" tIns="0" bIns="0">
            <a:spAutoFit/>
          </a:bodyPr>
          <a:lstStyle/>
          <a:p>
            <a:pPr algn="l"/>
            <a:r>
              <a:rPr sz="1300" b="0" i="0">
                <a:solidFill>
                  <a:srgbClr val="52514E"/>
                </a:solidFill>
                <a:latin typeface="Calibri"/>
              </a:rPr>
              <a:t>7/10 vs 2/10, p = 0.070 (AUC effect survives)</a:t>
            </a:r>
          </a:p>
        </p:txBody>
      </p:sp>
      <p:sp>
        <p:nvSpPr>
          <p:cNvPr id="32" name="TextBox 31"/>
          <p:cNvSpPr txBox="1"/>
          <p:nvPr/>
        </p:nvSpPr>
        <p:spPr>
          <a:xfrm>
            <a:off x="9966960" y="4443984"/>
            <a:ext cx="1630375" cy="512064"/>
          </a:xfrm>
          <a:prstGeom prst="rect">
            <a:avLst/>
          </a:prstGeom>
          <a:noFill/>
        </p:spPr>
        <p:txBody>
          <a:bodyPr wrap="square" anchor="ctr" lIns="0" rIns="0" tIns="0" bIns="0">
            <a:spAutoFit/>
          </a:bodyPr>
          <a:lstStyle/>
          <a:p>
            <a:pPr algn="l"/>
            <a:r>
              <a:rPr sz="1300" b="0" i="0">
                <a:solidFill>
                  <a:srgbClr val="151514"/>
                </a:solidFill>
                <a:latin typeface="Calibri"/>
              </a:rPr>
              <a:t>seeds</a:t>
            </a:r>
          </a:p>
        </p:txBody>
      </p:sp>
      <p:sp>
        <p:nvSpPr>
          <p:cNvPr id="33" name="Rounded Rectangle 32"/>
          <p:cNvSpPr/>
          <p:nvPr/>
        </p:nvSpPr>
        <p:spPr>
          <a:xfrm>
            <a:off x="548640" y="5047488"/>
            <a:ext cx="11094415" cy="512064"/>
          </a:xfrm>
          <a:prstGeom prst="roundRect">
            <a:avLst>
              <a:gd name="adj" fmla="val 20000"/>
            </a:avLst>
          </a:prstGeom>
          <a:solidFill>
            <a:srgbClr val="FA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85800" y="5047488"/>
            <a:ext cx="3108960" cy="512064"/>
          </a:xfrm>
          <a:prstGeom prst="rect">
            <a:avLst/>
          </a:prstGeom>
          <a:noFill/>
        </p:spPr>
        <p:txBody>
          <a:bodyPr wrap="square" anchor="ctr" lIns="0" rIns="0" tIns="0" bIns="0">
            <a:spAutoFit/>
          </a:bodyPr>
          <a:lstStyle/>
          <a:p>
            <a:pPr algn="l"/>
            <a:r>
              <a:rPr sz="1350" b="1" i="0">
                <a:solidFill>
                  <a:srgbClr val="151514"/>
                </a:solidFill>
                <a:latin typeface="Calibri"/>
              </a:rPr>
              <a:t>Transformer helps on a memory task</a:t>
            </a:r>
          </a:p>
        </p:txBody>
      </p:sp>
      <p:sp>
        <p:nvSpPr>
          <p:cNvPr id="35" name="TextBox 34"/>
          <p:cNvSpPr txBox="1"/>
          <p:nvPr/>
        </p:nvSpPr>
        <p:spPr>
          <a:xfrm>
            <a:off x="4069080" y="5047488"/>
            <a:ext cx="2194560" cy="512064"/>
          </a:xfrm>
          <a:prstGeom prst="rect">
            <a:avLst/>
          </a:prstGeom>
          <a:noFill/>
        </p:spPr>
        <p:txBody>
          <a:bodyPr wrap="square" anchor="ctr" lIns="0" rIns="0" tIns="0" bIns="0">
            <a:spAutoFit/>
          </a:bodyPr>
          <a:lstStyle/>
          <a:p>
            <a:pPr algn="l"/>
            <a:r>
              <a:rPr sz="1300" b="0" i="0">
                <a:solidFill>
                  <a:srgbClr val="52514E"/>
                </a:solidFill>
                <a:latin typeface="Calibri"/>
              </a:rPr>
              <a:t>S7 pilot 0.970 vs 0.465</a:t>
            </a:r>
          </a:p>
        </p:txBody>
      </p:sp>
      <p:sp>
        <p:nvSpPr>
          <p:cNvPr id="36" name="TextBox 35"/>
          <p:cNvSpPr txBox="1"/>
          <p:nvPr/>
        </p:nvSpPr>
        <p:spPr>
          <a:xfrm>
            <a:off x="6537960" y="5047488"/>
            <a:ext cx="3154679" cy="512064"/>
          </a:xfrm>
          <a:prstGeom prst="rect">
            <a:avLst/>
          </a:prstGeom>
          <a:noFill/>
        </p:spPr>
        <p:txBody>
          <a:bodyPr wrap="square" anchor="ctr" lIns="0" rIns="0" tIns="0" bIns="0">
            <a:spAutoFit/>
          </a:bodyPr>
          <a:lstStyle/>
          <a:p>
            <a:pPr algn="l"/>
            <a:r>
              <a:rPr sz="1300" b="0" i="0">
                <a:solidFill>
                  <a:srgbClr val="52514E"/>
                </a:solidFill>
                <a:latin typeface="Calibri"/>
              </a:rPr>
              <a:t>no memory needed on S7 (memoryless CNN 0.915)</a:t>
            </a:r>
          </a:p>
        </p:txBody>
      </p:sp>
      <p:sp>
        <p:nvSpPr>
          <p:cNvPr id="37" name="TextBox 36"/>
          <p:cNvSpPr txBox="1"/>
          <p:nvPr/>
        </p:nvSpPr>
        <p:spPr>
          <a:xfrm>
            <a:off x="9966960" y="5047488"/>
            <a:ext cx="1630375" cy="512064"/>
          </a:xfrm>
          <a:prstGeom prst="rect">
            <a:avLst/>
          </a:prstGeom>
          <a:noFill/>
        </p:spPr>
        <p:txBody>
          <a:bodyPr wrap="square" anchor="ctr" lIns="0" rIns="0" tIns="0" bIns="0">
            <a:spAutoFit/>
          </a:bodyPr>
          <a:lstStyle/>
          <a:p>
            <a:pPr algn="l"/>
            <a:r>
              <a:rPr sz="1300" b="0" i="0">
                <a:solidFill>
                  <a:srgbClr val="151514"/>
                </a:solidFill>
                <a:latin typeface="Calibri"/>
              </a:rPr>
              <a:t>benchmark validity</a:t>
            </a:r>
          </a:p>
        </p:txBody>
      </p:sp>
      <p:sp>
        <p:nvSpPr>
          <p:cNvPr id="38" name="TextBox 37"/>
          <p:cNvSpPr txBox="1"/>
          <p:nvPr/>
        </p:nvSpPr>
        <p:spPr>
          <a:xfrm>
            <a:off x="548640" y="5715000"/>
            <a:ext cx="11094415" cy="548640"/>
          </a:xfrm>
          <a:prstGeom prst="rect">
            <a:avLst/>
          </a:prstGeom>
          <a:noFill/>
        </p:spPr>
        <p:txBody>
          <a:bodyPr wrap="square" anchor="t" lIns="0" rIns="0" tIns="0" bIns="0">
            <a:spAutoFit/>
          </a:bodyPr>
          <a:lstStyle/>
          <a:p>
            <a:pPr algn="l"/>
            <a:r>
              <a:rPr sz="1400" b="0" i="1">
                <a:solidFill>
                  <a:srgbClr val="52514E"/>
                </a:solidFill>
                <a:latin typeface="Calibri"/>
              </a:rPr>
              <a:t>Effects shrank or disappeared once seeds, training budgets, replay budgets and memory accounting were made fair; the homeostasis-DFA speed-up survived.</a:t>
            </a:r>
          </a:p>
        </p:txBody>
      </p:sp>
      <p:sp>
        <p:nvSpPr>
          <p:cNvPr id="39" name="TextBox 38"/>
          <p:cNvSpPr txBox="1"/>
          <p:nvPr/>
        </p:nvSpPr>
        <p:spPr>
          <a:xfrm>
            <a:off x="548640" y="6446520"/>
            <a:ext cx="5486400" cy="274320"/>
          </a:xfrm>
          <a:prstGeom prst="rect">
            <a:avLst/>
          </a:prstGeom>
          <a:noFill/>
        </p:spPr>
        <p:txBody>
          <a:bodyPr wrap="square" anchor="t" lIns="0" rIns="0" tIns="0" bIns="0">
            <a:spAutoFit/>
          </a:bodyPr>
          <a:lstStyle/>
          <a:p>
            <a:pPr algn="l"/>
            <a:r>
              <a:rPr sz="1000" b="0" i="0">
                <a:solidFill>
                  <a:srgbClr val="85837D"/>
                </a:solidFill>
                <a:latin typeface="Calibri"/>
              </a:rPr>
              <a:t>NeuroPlast · final review</a:t>
            </a:r>
          </a:p>
        </p:txBody>
      </p:sp>
      <p:sp>
        <p:nvSpPr>
          <p:cNvPr id="40" name="TextBox 39"/>
          <p:cNvSpPr txBox="1"/>
          <p:nvPr/>
        </p:nvSpPr>
        <p:spPr>
          <a:xfrm>
            <a:off x="9814255" y="6446520"/>
            <a:ext cx="1828800" cy="274320"/>
          </a:xfrm>
          <a:prstGeom prst="rect">
            <a:avLst/>
          </a:prstGeom>
          <a:noFill/>
        </p:spPr>
        <p:txBody>
          <a:bodyPr wrap="square" anchor="t" lIns="0" rIns="0" tIns="0" bIns="0">
            <a:spAutoFit/>
          </a:bodyPr>
          <a:lstStyle/>
          <a:p>
            <a:pPr algn="r"/>
            <a:r>
              <a:rPr sz="1000" b="0" i="0">
                <a:solidFill>
                  <a:srgbClr val="85837D"/>
                </a:solidFill>
                <a:latin typeface="Calibri"/>
              </a:rPr>
              <a:t>12 / 15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320040"/>
          </a:xfrm>
          <a:prstGeom prst="rect">
            <a:avLst/>
          </a:prstGeom>
          <a:noFill/>
        </p:spPr>
        <p:txBody>
          <a:bodyPr wrap="square" anchor="t" lIns="0" rIns="0" tIns="0" bIns="0">
            <a:spAutoFit/>
          </a:bodyPr>
          <a:lstStyle/>
          <a:p>
            <a:pPr algn="l"/>
            <a:r>
              <a:rPr sz="1200" b="1" i="0">
                <a:solidFill>
                  <a:srgbClr val="2A78D6"/>
                </a:solidFill>
                <a:latin typeface="Calibri"/>
              </a:rPr>
              <a:t>SEE IT YOURSELF</a:t>
            </a:r>
          </a:p>
        </p:txBody>
      </p:sp>
      <p:sp>
        <p:nvSpPr>
          <p:cNvPr id="3" name="TextBox 2"/>
          <p:cNvSpPr txBox="1"/>
          <p:nvPr/>
        </p:nvSpPr>
        <p:spPr>
          <a:xfrm>
            <a:off x="548640" y="740664"/>
            <a:ext cx="11094415" cy="822960"/>
          </a:xfrm>
          <a:prstGeom prst="rect">
            <a:avLst/>
          </a:prstGeom>
          <a:noFill/>
        </p:spPr>
        <p:txBody>
          <a:bodyPr wrap="square" anchor="t" lIns="0" rIns="0" tIns="0" bIns="0">
            <a:spAutoFit/>
          </a:bodyPr>
          <a:lstStyle/>
          <a:p>
            <a:pPr algn="l"/>
            <a:r>
              <a:rPr sz="3000" b="1" i="0">
                <a:solidFill>
                  <a:srgbClr val="151514"/>
                </a:solidFill>
                <a:latin typeface="Cambria"/>
              </a:rPr>
              <a:t>Live demo</a:t>
            </a:r>
          </a:p>
        </p:txBody>
      </p:sp>
      <p:sp>
        <p:nvSpPr>
          <p:cNvPr id="4" name="Rounded Rectangle 3"/>
          <p:cNvSpPr/>
          <p:nvPr/>
        </p:nvSpPr>
        <p:spPr>
          <a:xfrm>
            <a:off x="548640" y="1691640"/>
            <a:ext cx="6949440" cy="4343400"/>
          </a:xfrm>
          <a:prstGeom prst="roundRect">
            <a:avLst>
              <a:gd name="adj" fmla="val 4000"/>
            </a:avLst>
          </a:prstGeom>
          <a:solidFill>
            <a:srgbClr val="F4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dash_agents.png"/>
          <p:cNvPicPr>
            <a:picLocks noChangeAspect="1"/>
          </p:cNvPicPr>
          <p:nvPr/>
        </p:nvPicPr>
        <p:blipFill>
          <a:blip r:embed="rId2"/>
          <a:stretch>
            <a:fillRect/>
          </a:stretch>
        </p:blipFill>
        <p:spPr>
          <a:xfrm>
            <a:off x="685800" y="1870074"/>
            <a:ext cx="6675120" cy="3986530"/>
          </a:xfrm>
          <a:prstGeom prst="rect">
            <a:avLst/>
          </a:prstGeom>
        </p:spPr>
      </p:pic>
      <p:sp>
        <p:nvSpPr>
          <p:cNvPr id="6" name="Rounded Rectangle 5"/>
          <p:cNvSpPr/>
          <p:nvPr/>
        </p:nvSpPr>
        <p:spPr>
          <a:xfrm>
            <a:off x="7818120" y="1691640"/>
            <a:ext cx="3824935" cy="1920240"/>
          </a:xfrm>
          <a:prstGeom prst="roundRect">
            <a:avLst>
              <a:gd name="adj" fmla="val 12000"/>
            </a:avLst>
          </a:prstGeom>
          <a:solidFill>
            <a:srgbClr val="F4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8019288" y="1911095"/>
            <a:ext cx="128016" cy="128016"/>
          </a:xfrm>
          <a:prstGeom prst="ellipse">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0456" y="1819656"/>
            <a:ext cx="3285439" cy="365760"/>
          </a:xfrm>
          <a:prstGeom prst="rect">
            <a:avLst/>
          </a:prstGeom>
          <a:noFill/>
        </p:spPr>
        <p:txBody>
          <a:bodyPr wrap="square" anchor="t" lIns="0" rIns="0" tIns="0" bIns="0">
            <a:spAutoFit/>
          </a:bodyPr>
          <a:lstStyle/>
          <a:p>
            <a:pPr algn="l"/>
            <a:r>
              <a:rPr sz="1600" b="1" i="0">
                <a:solidFill>
                  <a:srgbClr val="151514"/>
                </a:solidFill>
                <a:latin typeface="Calibri"/>
              </a:rPr>
              <a:t>1. Results dashboard</a:t>
            </a:r>
          </a:p>
        </p:txBody>
      </p:sp>
      <p:sp>
        <p:nvSpPr>
          <p:cNvPr id="9" name="TextBox 8"/>
          <p:cNvSpPr txBox="1"/>
          <p:nvPr/>
        </p:nvSpPr>
        <p:spPr>
          <a:xfrm>
            <a:off x="8019288" y="2194560"/>
            <a:ext cx="3459175" cy="1371600"/>
          </a:xfrm>
          <a:prstGeom prst="rect">
            <a:avLst/>
          </a:prstGeom>
          <a:noFill/>
        </p:spPr>
        <p:txBody>
          <a:bodyPr wrap="square" anchor="t" lIns="0" rIns="0" tIns="0" bIns="0">
            <a:spAutoFit/>
          </a:bodyPr>
          <a:lstStyle/>
          <a:p>
            <a:pPr algn="l">
              <a:spcAft>
                <a:spcPts val="200"/>
              </a:spcAft>
            </a:pPr>
            <a:r>
              <a:rPr sz="1300" b="0" i="0">
                <a:solidFill>
                  <a:srgbClr val="52514E"/>
                </a:solidFill>
                <a:latin typeface="Calibri"/>
              </a:rPr>
              <a:t>open demo/index.html (one file, works offline)</a:t>
            </a:r>
          </a:p>
          <a:p>
            <a:pPr algn="l">
              <a:spcAft>
                <a:spcPts val="200"/>
              </a:spcAft>
            </a:pPr>
            <a:r>
              <a:rPr sz="1300" b="0" i="0">
                <a:solidFill>
                  <a:srgbClr val="52514E"/>
                </a:solidFill>
                <a:latin typeface="Calibri"/>
              </a:rPr>
              <a:t>scorecard, agents, forgetting and memory charts</a:t>
            </a:r>
          </a:p>
        </p:txBody>
      </p:sp>
      <p:sp>
        <p:nvSpPr>
          <p:cNvPr id="10" name="Rounded Rectangle 9"/>
          <p:cNvSpPr/>
          <p:nvPr/>
        </p:nvSpPr>
        <p:spPr>
          <a:xfrm>
            <a:off x="7818120" y="3794760"/>
            <a:ext cx="3824935" cy="2240280"/>
          </a:xfrm>
          <a:prstGeom prst="roundRect">
            <a:avLst>
              <a:gd name="adj" fmla="val 12000"/>
            </a:avLst>
          </a:prstGeom>
          <a:solidFill>
            <a:srgbClr val="F4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019288" y="4014216"/>
            <a:ext cx="128016" cy="128016"/>
          </a:xfrm>
          <a:prstGeom prst="ellipse">
            <a:avLst/>
          </a:prstGeom>
          <a:solidFill>
            <a:srgbClr val="1BAF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0456" y="3922776"/>
            <a:ext cx="3285439" cy="365760"/>
          </a:xfrm>
          <a:prstGeom prst="rect">
            <a:avLst/>
          </a:prstGeom>
          <a:noFill/>
        </p:spPr>
        <p:txBody>
          <a:bodyPr wrap="square" anchor="t" lIns="0" rIns="0" tIns="0" bIns="0">
            <a:spAutoFit/>
          </a:bodyPr>
          <a:lstStyle/>
          <a:p>
            <a:pPr algn="l"/>
            <a:r>
              <a:rPr sz="1600" b="1" i="0">
                <a:solidFill>
                  <a:srgbClr val="151514"/>
                </a:solidFill>
                <a:latin typeface="Calibri"/>
              </a:rPr>
              <a:t>2. Run an agent on CPU</a:t>
            </a:r>
          </a:p>
        </p:txBody>
      </p:sp>
      <p:sp>
        <p:nvSpPr>
          <p:cNvPr id="13" name="TextBox 12"/>
          <p:cNvSpPr txBox="1"/>
          <p:nvPr/>
        </p:nvSpPr>
        <p:spPr>
          <a:xfrm>
            <a:off x="8019288" y="4297680"/>
            <a:ext cx="3459175" cy="1691640"/>
          </a:xfrm>
          <a:prstGeom prst="rect">
            <a:avLst/>
          </a:prstGeom>
          <a:noFill/>
        </p:spPr>
        <p:txBody>
          <a:bodyPr wrap="square" anchor="t" lIns="0" rIns="0" tIns="0" bIns="0">
            <a:spAutoFit/>
          </a:bodyPr>
          <a:lstStyle/>
          <a:p>
            <a:pPr algn="l">
              <a:spcAft>
                <a:spcPts val="200"/>
              </a:spcAft>
            </a:pPr>
            <a:r>
              <a:rPr sz="1300" b="0" i="0">
                <a:solidFill>
                  <a:srgbClr val="52514E"/>
                </a:solidFill>
                <a:latin typeface="Calibri"/>
              </a:rPr>
              <a:t>python demo/live_episode.py</a:t>
            </a:r>
          </a:p>
          <a:p>
            <a:pPr algn="l">
              <a:spcAft>
                <a:spcPts val="200"/>
              </a:spcAft>
            </a:pPr>
            <a:r>
              <a:rPr sz="1300" b="0" i="0">
                <a:solidFill>
                  <a:srgbClr val="52514E"/>
                </a:solidFill>
                <a:latin typeface="Calibri"/>
              </a:rPr>
              <a:t>   --agent naive --task 0 --window</a:t>
            </a:r>
          </a:p>
          <a:p>
            <a:pPr algn="l">
              <a:spcAft>
                <a:spcPts val="200"/>
              </a:spcAft>
            </a:pPr>
            <a:r>
              <a:rPr sz="1300" b="0" i="0">
                <a:solidFill>
                  <a:srgbClr val="52514E"/>
                </a:solidFill>
                <a:latin typeface="Calibri"/>
              </a:rPr>
              <a:t>then the same with --agent sleep</a:t>
            </a:r>
          </a:p>
          <a:p>
            <a:pPr algn="l">
              <a:spcAft>
                <a:spcPts val="200"/>
              </a:spcAft>
            </a:pPr>
            <a:r>
              <a:rPr sz="1300" b="0" i="0">
                <a:solidFill>
                  <a:srgbClr val="52514E"/>
                </a:solidFill>
                <a:latin typeface="Calibri"/>
              </a:rPr>
              <a:t>prints each step and the real accuracy matrix</a:t>
            </a:r>
          </a:p>
        </p:txBody>
      </p:sp>
      <p:sp>
        <p:nvSpPr>
          <p:cNvPr id="14" name="TextBox 13"/>
          <p:cNvSpPr txBox="1"/>
          <p:nvPr/>
        </p:nvSpPr>
        <p:spPr>
          <a:xfrm>
            <a:off x="548640" y="6446520"/>
            <a:ext cx="5486400" cy="274320"/>
          </a:xfrm>
          <a:prstGeom prst="rect">
            <a:avLst/>
          </a:prstGeom>
          <a:noFill/>
        </p:spPr>
        <p:txBody>
          <a:bodyPr wrap="square" anchor="t" lIns="0" rIns="0" tIns="0" bIns="0">
            <a:spAutoFit/>
          </a:bodyPr>
          <a:lstStyle/>
          <a:p>
            <a:pPr algn="l"/>
            <a:r>
              <a:rPr sz="1000" b="0" i="0">
                <a:solidFill>
                  <a:srgbClr val="85837D"/>
                </a:solidFill>
                <a:latin typeface="Calibri"/>
              </a:rPr>
              <a:t>NeuroPlast · final review</a:t>
            </a:r>
          </a:p>
        </p:txBody>
      </p:sp>
      <p:sp>
        <p:nvSpPr>
          <p:cNvPr id="15" name="TextBox 14"/>
          <p:cNvSpPr txBox="1"/>
          <p:nvPr/>
        </p:nvSpPr>
        <p:spPr>
          <a:xfrm>
            <a:off x="9814255" y="6446520"/>
            <a:ext cx="1828800" cy="274320"/>
          </a:xfrm>
          <a:prstGeom prst="rect">
            <a:avLst/>
          </a:prstGeom>
          <a:noFill/>
        </p:spPr>
        <p:txBody>
          <a:bodyPr wrap="square" anchor="t" lIns="0" rIns="0" tIns="0" bIns="0">
            <a:spAutoFit/>
          </a:bodyPr>
          <a:lstStyle/>
          <a:p>
            <a:pPr algn="r"/>
            <a:r>
              <a:rPr sz="1000" b="0" i="0">
                <a:solidFill>
                  <a:srgbClr val="85837D"/>
                </a:solidFill>
                <a:latin typeface="Calibri"/>
              </a:rPr>
              <a:t>13 / 15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320040"/>
          </a:xfrm>
          <a:prstGeom prst="rect">
            <a:avLst/>
          </a:prstGeom>
          <a:noFill/>
        </p:spPr>
        <p:txBody>
          <a:bodyPr wrap="square" anchor="t" lIns="0" rIns="0" tIns="0" bIns="0">
            <a:spAutoFit/>
          </a:bodyPr>
          <a:lstStyle/>
          <a:p>
            <a:pPr algn="l"/>
            <a:r>
              <a:rPr sz="1200" b="1" i="0">
                <a:solidFill>
                  <a:srgbClr val="2A78D6"/>
                </a:solidFill>
                <a:latin typeface="Calibri"/>
              </a:rPr>
              <a:t>WHAT THIS DOES NOT SHOW</a:t>
            </a:r>
          </a:p>
        </p:txBody>
      </p:sp>
      <p:sp>
        <p:nvSpPr>
          <p:cNvPr id="3" name="TextBox 2"/>
          <p:cNvSpPr txBox="1"/>
          <p:nvPr/>
        </p:nvSpPr>
        <p:spPr>
          <a:xfrm>
            <a:off x="548640" y="740664"/>
            <a:ext cx="11094415" cy="822960"/>
          </a:xfrm>
          <a:prstGeom prst="rect">
            <a:avLst/>
          </a:prstGeom>
          <a:noFill/>
        </p:spPr>
        <p:txBody>
          <a:bodyPr wrap="square" anchor="t" lIns="0" rIns="0" tIns="0" bIns="0">
            <a:spAutoFit/>
          </a:bodyPr>
          <a:lstStyle/>
          <a:p>
            <a:pPr algn="l"/>
            <a:r>
              <a:rPr sz="3000" b="1" i="0">
                <a:solidFill>
                  <a:srgbClr val="151514"/>
                </a:solidFill>
                <a:latin typeface="Cambria"/>
              </a:rPr>
              <a:t>Limitations and future work</a:t>
            </a:r>
          </a:p>
        </p:txBody>
      </p:sp>
      <p:sp>
        <p:nvSpPr>
          <p:cNvPr id="4" name="Rounded Rectangle 3"/>
          <p:cNvSpPr/>
          <p:nvPr/>
        </p:nvSpPr>
        <p:spPr>
          <a:xfrm>
            <a:off x="548640" y="1691640"/>
            <a:ext cx="5394960" cy="3931920"/>
          </a:xfrm>
          <a:prstGeom prst="roundRect">
            <a:avLst>
              <a:gd name="adj" fmla="val 12000"/>
            </a:avLst>
          </a:prstGeom>
          <a:solidFill>
            <a:srgbClr val="F4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49808" y="1911095"/>
            <a:ext cx="128016" cy="128016"/>
          </a:xfrm>
          <a:prstGeom prst="ellipse">
            <a:avLst/>
          </a:prstGeom>
          <a:solidFill>
            <a:srgbClr val="EB68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50976" y="1819656"/>
            <a:ext cx="4855464" cy="365760"/>
          </a:xfrm>
          <a:prstGeom prst="rect">
            <a:avLst/>
          </a:prstGeom>
          <a:noFill/>
        </p:spPr>
        <p:txBody>
          <a:bodyPr wrap="square" anchor="t" lIns="0" rIns="0" tIns="0" bIns="0">
            <a:spAutoFit/>
          </a:bodyPr>
          <a:lstStyle/>
          <a:p>
            <a:pPr algn="l"/>
            <a:r>
              <a:rPr sz="1600" b="1" i="0">
                <a:solidFill>
                  <a:srgbClr val="151514"/>
                </a:solidFill>
                <a:latin typeface="Calibri"/>
              </a:rPr>
              <a:t>Limitations</a:t>
            </a:r>
          </a:p>
        </p:txBody>
      </p:sp>
      <p:sp>
        <p:nvSpPr>
          <p:cNvPr id="7" name="TextBox 6"/>
          <p:cNvSpPr txBox="1"/>
          <p:nvPr/>
        </p:nvSpPr>
        <p:spPr>
          <a:xfrm>
            <a:off x="749808" y="2194560"/>
            <a:ext cx="5029200" cy="3383279"/>
          </a:xfrm>
          <a:prstGeom prst="rect">
            <a:avLst/>
          </a:prstGeom>
          <a:noFill/>
        </p:spPr>
        <p:txBody>
          <a:bodyPr wrap="square" anchor="t" lIns="0" rIns="0" tIns="0" bIns="0">
            <a:spAutoFit/>
          </a:bodyPr>
          <a:lstStyle/>
          <a:p/>
        </p:txBody>
      </p:sp>
      <p:sp>
        <p:nvSpPr>
          <p:cNvPr id="8" name="TextBox 7"/>
          <p:cNvSpPr txBox="1"/>
          <p:nvPr/>
        </p:nvSpPr>
        <p:spPr>
          <a:xfrm>
            <a:off x="749808" y="2240280"/>
            <a:ext cx="5029200" cy="3749039"/>
          </a:xfrm>
          <a:prstGeom prst="rect">
            <a:avLst/>
          </a:prstGeom>
          <a:noFill/>
        </p:spPr>
        <p:txBody>
          <a:bodyPr wrap="square" anchor="t" lIns="0" rIns="0" tIns="0" bIns="0">
            <a:spAutoFit/>
          </a:bodyPr>
          <a:lstStyle/>
          <a:p>
            <a:pPr algn="l" marL="256032" indent="-201168">
              <a:spcAft>
                <a:spcPts val="1200"/>
              </a:spcAft>
              <a:buClr>
                <a:srgbClr val="85837D"/>
              </a:buClr>
              <a:buFont typeface="Arial"/>
              <a:buChar char="•"/>
            </a:pPr>
            <a:r>
              <a:rPr sz="1600" b="0" i="0">
                <a:solidFill>
                  <a:srgbClr val="151514"/>
                </a:solidFill>
                <a:latin typeface="Calibri"/>
              </a:rPr>
              <a:t>Task ID is given (task-incremental), so this says nothing about task-agnostic learning</a:t>
            </a:r>
          </a:p>
          <a:p>
            <a:pPr algn="l" marL="256032" indent="-201168">
              <a:spcAft>
                <a:spcPts val="1200"/>
              </a:spcAft>
              <a:buClr>
                <a:srgbClr val="85837D"/>
              </a:buClr>
              <a:buFont typeface="Arial"/>
              <a:buChar char="•"/>
            </a:pPr>
            <a:r>
              <a:rPr sz="1600" b="0" i="0">
                <a:solidFill>
                  <a:srgbClr val="151514"/>
                </a:solidFill>
                <a:latin typeface="Calibri"/>
              </a:rPr>
              <a:t>Small scale: MiniGrid, ≤327,800 parameters, 3–5 tasks</a:t>
            </a:r>
          </a:p>
          <a:p>
            <a:pPr algn="l" marL="256032" indent="-201168">
              <a:spcAft>
                <a:spcPts val="1200"/>
              </a:spcAft>
              <a:buClr>
                <a:srgbClr val="85837D"/>
              </a:buClr>
              <a:buFont typeface="Arial"/>
              <a:buChar char="•"/>
            </a:pPr>
            <a:r>
              <a:rPr sz="1600" b="0" i="0">
                <a:solidFill>
                  <a:srgbClr val="151514"/>
                </a:solidFill>
                <a:latin typeface="Calibri"/>
              </a:rPr>
              <a:t>Few seeds: many continual arms have 3, so CIs are wide</a:t>
            </a:r>
          </a:p>
          <a:p>
            <a:pPr algn="l" marL="256032" indent="-201168">
              <a:spcAft>
                <a:spcPts val="1200"/>
              </a:spcAft>
              <a:buClr>
                <a:srgbClr val="85837D"/>
              </a:buClr>
              <a:buFont typeface="Arial"/>
              <a:buChar char="•"/>
            </a:pPr>
            <a:r>
              <a:rPr sz="1600" b="0" i="0">
                <a:solidFill>
                  <a:srgbClr val="151514"/>
                </a:solidFill>
                <a:latin typeface="Calibri"/>
              </a:rPr>
              <a:t>Energy is an estimate from operation counts; no hardware was measured</a:t>
            </a:r>
          </a:p>
          <a:p>
            <a:pPr algn="l" marL="256032" indent="-201168">
              <a:spcAft>
                <a:spcPts val="1200"/>
              </a:spcAft>
              <a:buClr>
                <a:srgbClr val="85837D"/>
              </a:buClr>
              <a:buFont typeface="Arial"/>
              <a:buChar char="•"/>
            </a:pPr>
            <a:r>
              <a:rPr sz="1600" b="0" i="0">
                <a:solidFill>
                  <a:srgbClr val="151514"/>
                </a:solidFill>
                <a:latin typeface="Calibri"/>
              </a:rPr>
              <a:t>Transformer memory untested: no benchmark both required memory and was learnable in budget</a:t>
            </a:r>
          </a:p>
        </p:txBody>
      </p:sp>
      <p:sp>
        <p:nvSpPr>
          <p:cNvPr id="9" name="Rounded Rectangle 8"/>
          <p:cNvSpPr/>
          <p:nvPr/>
        </p:nvSpPr>
        <p:spPr>
          <a:xfrm>
            <a:off x="6172200" y="1691640"/>
            <a:ext cx="5470855" cy="3931920"/>
          </a:xfrm>
          <a:prstGeom prst="roundRect">
            <a:avLst>
              <a:gd name="adj" fmla="val 12000"/>
            </a:avLst>
          </a:prstGeom>
          <a:solidFill>
            <a:srgbClr val="F4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373368" y="1911095"/>
            <a:ext cx="128016" cy="128016"/>
          </a:xfrm>
          <a:prstGeom prst="ellipse">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74536" y="1819656"/>
            <a:ext cx="4931359" cy="365760"/>
          </a:xfrm>
          <a:prstGeom prst="rect">
            <a:avLst/>
          </a:prstGeom>
          <a:noFill/>
        </p:spPr>
        <p:txBody>
          <a:bodyPr wrap="square" anchor="t" lIns="0" rIns="0" tIns="0" bIns="0">
            <a:spAutoFit/>
          </a:bodyPr>
          <a:lstStyle/>
          <a:p>
            <a:pPr algn="l"/>
            <a:r>
              <a:rPr sz="1600" b="1" i="0">
                <a:solidFill>
                  <a:srgbClr val="151514"/>
                </a:solidFill>
                <a:latin typeface="Calibri"/>
              </a:rPr>
              <a:t>Future work</a:t>
            </a:r>
          </a:p>
        </p:txBody>
      </p:sp>
      <p:sp>
        <p:nvSpPr>
          <p:cNvPr id="12" name="TextBox 11"/>
          <p:cNvSpPr txBox="1"/>
          <p:nvPr/>
        </p:nvSpPr>
        <p:spPr>
          <a:xfrm>
            <a:off x="6373368" y="2194560"/>
            <a:ext cx="5105095" cy="3383279"/>
          </a:xfrm>
          <a:prstGeom prst="rect">
            <a:avLst/>
          </a:prstGeom>
          <a:noFill/>
        </p:spPr>
        <p:txBody>
          <a:bodyPr wrap="square" anchor="t" lIns="0" rIns="0" tIns="0" bIns="0">
            <a:spAutoFit/>
          </a:bodyPr>
          <a:lstStyle/>
          <a:p/>
        </p:txBody>
      </p:sp>
      <p:sp>
        <p:nvSpPr>
          <p:cNvPr id="13" name="TextBox 12"/>
          <p:cNvSpPr txBox="1"/>
          <p:nvPr/>
        </p:nvSpPr>
        <p:spPr>
          <a:xfrm>
            <a:off x="6373368" y="2240280"/>
            <a:ext cx="5150815" cy="3749039"/>
          </a:xfrm>
          <a:prstGeom prst="rect">
            <a:avLst/>
          </a:prstGeom>
          <a:noFill/>
        </p:spPr>
        <p:txBody>
          <a:bodyPr wrap="square" anchor="t" lIns="0" rIns="0" tIns="0" bIns="0">
            <a:spAutoFit/>
          </a:bodyPr>
          <a:lstStyle/>
          <a:p>
            <a:pPr algn="l" marL="256032" indent="-201168">
              <a:spcAft>
                <a:spcPts val="1200"/>
              </a:spcAft>
              <a:buClr>
                <a:srgbClr val="85837D"/>
              </a:buClr>
              <a:buFont typeface="Arial"/>
              <a:buChar char="•"/>
            </a:pPr>
            <a:r>
              <a:rPr sz="1600" b="0" i="0">
                <a:solidFill>
                  <a:srgbClr val="151514"/>
                </a:solidFill>
                <a:latin typeface="Calibri"/>
              </a:rPr>
              <a:t>A memory benchmark agents can learn (the cue seen on the way to the choice)</a:t>
            </a:r>
          </a:p>
          <a:p>
            <a:pPr algn="l" marL="256032" indent="-201168">
              <a:spcAft>
                <a:spcPts val="1200"/>
              </a:spcAft>
              <a:buClr>
                <a:srgbClr val="85837D"/>
              </a:buClr>
              <a:buFont typeface="Arial"/>
              <a:buChar char="•"/>
            </a:pPr>
            <a:r>
              <a:rPr sz="1600" b="1" i="0">
                <a:solidFill>
                  <a:srgbClr val="151514"/>
                </a:solidFill>
                <a:latin typeface="Calibri"/>
              </a:rPr>
              <a:t>Compressed replay (idea, untested): </a:t>
            </a:r>
            <a:r>
              <a:rPr sz="1600" b="0" i="0">
                <a:solidFill>
                  <a:srgbClr val="151514"/>
                </a:solidFill>
                <a:latin typeface="Calibri"/>
              </a:rPr>
              <a:t>the buffer size decides the shared-vs-isolation trade-off, so shrink it: quantised targets, fewer but better-chosen states, or generative replay</a:t>
            </a:r>
          </a:p>
          <a:p>
            <a:pPr algn="l" marL="256032" indent="-201168">
              <a:spcAft>
                <a:spcPts val="1200"/>
              </a:spcAft>
              <a:buClr>
                <a:srgbClr val="85837D"/>
              </a:buClr>
              <a:buFont typeface="Arial"/>
              <a:buChar char="•"/>
            </a:pPr>
            <a:r>
              <a:rPr sz="1600" b="0" i="0">
                <a:solidFill>
                  <a:srgbClr val="151514"/>
                </a:solidFill>
                <a:latin typeface="Calibri"/>
              </a:rPr>
              <a:t>Homeostasis target sweep: is the DFA effect robust?</a:t>
            </a:r>
          </a:p>
          <a:p>
            <a:pPr algn="l" marL="256032" indent="-201168">
              <a:spcAft>
                <a:spcPts val="1200"/>
              </a:spcAft>
              <a:buClr>
                <a:srgbClr val="85837D"/>
              </a:buClr>
              <a:buFont typeface="Arial"/>
              <a:buChar char="•"/>
            </a:pPr>
            <a:r>
              <a:rPr sz="1600" b="0" i="0">
                <a:solidFill>
                  <a:srgbClr val="151514"/>
                </a:solidFill>
                <a:latin typeface="Calibri"/>
              </a:rPr>
              <a:t>More seeds for the operation-count frontier</a:t>
            </a:r>
          </a:p>
        </p:txBody>
      </p:sp>
      <p:sp>
        <p:nvSpPr>
          <p:cNvPr id="14" name="TextBox 13"/>
          <p:cNvSpPr txBox="1"/>
          <p:nvPr/>
        </p:nvSpPr>
        <p:spPr>
          <a:xfrm>
            <a:off x="548640" y="6446520"/>
            <a:ext cx="5486400" cy="274320"/>
          </a:xfrm>
          <a:prstGeom prst="rect">
            <a:avLst/>
          </a:prstGeom>
          <a:noFill/>
        </p:spPr>
        <p:txBody>
          <a:bodyPr wrap="square" anchor="t" lIns="0" rIns="0" tIns="0" bIns="0">
            <a:spAutoFit/>
          </a:bodyPr>
          <a:lstStyle/>
          <a:p>
            <a:pPr algn="l"/>
            <a:r>
              <a:rPr sz="1000" b="0" i="0">
                <a:solidFill>
                  <a:srgbClr val="85837D"/>
                </a:solidFill>
                <a:latin typeface="Calibri"/>
              </a:rPr>
              <a:t>NeuroPlast · final review</a:t>
            </a:r>
          </a:p>
        </p:txBody>
      </p:sp>
      <p:sp>
        <p:nvSpPr>
          <p:cNvPr id="15" name="TextBox 14"/>
          <p:cNvSpPr txBox="1"/>
          <p:nvPr/>
        </p:nvSpPr>
        <p:spPr>
          <a:xfrm>
            <a:off x="9814255" y="6446520"/>
            <a:ext cx="1828800" cy="274320"/>
          </a:xfrm>
          <a:prstGeom prst="rect">
            <a:avLst/>
          </a:prstGeom>
          <a:noFill/>
        </p:spPr>
        <p:txBody>
          <a:bodyPr wrap="square" anchor="t" lIns="0" rIns="0" tIns="0" bIns="0">
            <a:spAutoFit/>
          </a:bodyPr>
          <a:lstStyle/>
          <a:p>
            <a:pPr algn="r"/>
            <a:r>
              <a:rPr sz="1000" b="0" i="0">
                <a:solidFill>
                  <a:srgbClr val="85837D"/>
                </a:solidFill>
                <a:latin typeface="Calibri"/>
              </a:rPr>
              <a:t>14 / 15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51514"/>
        </a:solidFill>
        <a:effectLst/>
      </p:bgPr>
    </p:bg>
    <p:spTree>
      <p:nvGrpSpPr>
        <p:cNvPr id="1" name=""/>
        <p:cNvGrpSpPr/>
        <p:nvPr/>
      </p:nvGrpSpPr>
      <p:grpSpPr/>
      <p:sp>
        <p:nvSpPr>
          <p:cNvPr id="2" name="TextBox 1"/>
          <p:cNvSpPr txBox="1"/>
          <p:nvPr/>
        </p:nvSpPr>
        <p:spPr>
          <a:xfrm>
            <a:off x="640080" y="822960"/>
            <a:ext cx="10058400" cy="365760"/>
          </a:xfrm>
          <a:prstGeom prst="rect">
            <a:avLst/>
          </a:prstGeom>
          <a:noFill/>
        </p:spPr>
        <p:txBody>
          <a:bodyPr wrap="square" anchor="t" lIns="0" rIns="0" tIns="0" bIns="0">
            <a:spAutoFit/>
          </a:bodyPr>
          <a:lstStyle/>
          <a:p>
            <a:pPr algn="l"/>
            <a:r>
              <a:rPr sz="1300" b="1" i="0">
                <a:solidFill>
                  <a:srgbClr val="9CC3F2"/>
                </a:solidFill>
                <a:latin typeface="Calibri"/>
              </a:rPr>
              <a:t>CONCLUSION</a:t>
            </a:r>
          </a:p>
        </p:txBody>
      </p:sp>
      <p:sp>
        <p:nvSpPr>
          <p:cNvPr id="3" name="TextBox 2"/>
          <p:cNvSpPr txBox="1"/>
          <p:nvPr/>
        </p:nvSpPr>
        <p:spPr>
          <a:xfrm>
            <a:off x="640080" y="1280160"/>
            <a:ext cx="10789920" cy="914400"/>
          </a:xfrm>
          <a:prstGeom prst="rect">
            <a:avLst/>
          </a:prstGeom>
          <a:noFill/>
        </p:spPr>
        <p:txBody>
          <a:bodyPr wrap="square" anchor="t" lIns="0" rIns="0" tIns="0" bIns="0">
            <a:spAutoFit/>
          </a:bodyPr>
          <a:lstStyle/>
          <a:p>
            <a:pPr algn="l"/>
            <a:r>
              <a:rPr sz="4000" b="1" i="0">
                <a:solidFill>
                  <a:srgbClr val="FFFFFF"/>
                </a:solidFill>
                <a:latin typeface="Cambria"/>
              </a:rPr>
              <a:t>Mostly no, with two specific exceptions.</a:t>
            </a:r>
          </a:p>
        </p:txBody>
      </p:sp>
      <p:sp>
        <p:nvSpPr>
          <p:cNvPr id="4" name="Oval 3"/>
          <p:cNvSpPr/>
          <p:nvPr/>
        </p:nvSpPr>
        <p:spPr>
          <a:xfrm>
            <a:off x="640080" y="2532888"/>
            <a:ext cx="457200" cy="457200"/>
          </a:xfrm>
          <a:prstGeom prst="ellipse">
            <a:avLst/>
          </a:prstGeom>
          <a:solidFill>
            <a:srgbClr val="2A2A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2532888"/>
            <a:ext cx="457200" cy="457200"/>
          </a:xfrm>
          <a:prstGeom prst="rect">
            <a:avLst/>
          </a:prstGeom>
          <a:noFill/>
        </p:spPr>
        <p:txBody>
          <a:bodyPr wrap="square" anchor="ctr" lIns="0" rIns="0" tIns="0" bIns="0">
            <a:spAutoFit/>
          </a:bodyPr>
          <a:lstStyle/>
          <a:p>
            <a:pPr algn="ctr"/>
            <a:r>
              <a:rPr sz="1600" b="1" i="0">
                <a:solidFill>
                  <a:srgbClr val="9CC3F2"/>
                </a:solidFill>
                <a:latin typeface="Calibri"/>
              </a:rPr>
              <a:t>1</a:t>
            </a:r>
          </a:p>
        </p:txBody>
      </p:sp>
      <p:sp>
        <p:nvSpPr>
          <p:cNvPr id="6" name="TextBox 5"/>
          <p:cNvSpPr txBox="1"/>
          <p:nvPr/>
        </p:nvSpPr>
        <p:spPr>
          <a:xfrm>
            <a:off x="1325880" y="2487168"/>
            <a:ext cx="10058400" cy="365760"/>
          </a:xfrm>
          <a:prstGeom prst="rect">
            <a:avLst/>
          </a:prstGeom>
          <a:noFill/>
        </p:spPr>
        <p:txBody>
          <a:bodyPr wrap="square" anchor="t" lIns="0" rIns="0" tIns="0" bIns="0">
            <a:spAutoFit/>
          </a:bodyPr>
          <a:lstStyle/>
          <a:p>
            <a:pPr algn="l"/>
            <a:r>
              <a:rPr sz="1900" b="1" i="0">
                <a:solidFill>
                  <a:srgbClr val="FFFFFF"/>
                </a:solidFill>
                <a:latin typeface="Calibri"/>
              </a:rPr>
              <a:t>No mechanism beat its matched control</a:t>
            </a:r>
          </a:p>
        </p:txBody>
      </p:sp>
      <p:sp>
        <p:nvSpPr>
          <p:cNvPr id="7" name="TextBox 6"/>
          <p:cNvSpPr txBox="1"/>
          <p:nvPr/>
        </p:nvSpPr>
        <p:spPr>
          <a:xfrm>
            <a:off x="1325880" y="2862072"/>
            <a:ext cx="10058400" cy="548640"/>
          </a:xfrm>
          <a:prstGeom prst="rect">
            <a:avLst/>
          </a:prstGeom>
          <a:noFill/>
        </p:spPr>
        <p:txBody>
          <a:bodyPr wrap="square" anchor="t" lIns="0" rIns="0" tIns="0" bIns="0">
            <a:spAutoFit/>
          </a:bodyPr>
          <a:lstStyle/>
          <a:p>
            <a:pPr algn="l"/>
            <a:r>
              <a:rPr sz="1500" b="0" i="0">
                <a:solidFill>
                  <a:srgbClr val="C3C2B7"/>
                </a:solidFill>
                <a:latin typeface="Calibri"/>
              </a:rPr>
              <a:t>on final accuracy or forgetting: STDP ≈ random update, sleep ≈ replay</a:t>
            </a:r>
          </a:p>
        </p:txBody>
      </p:sp>
      <p:sp>
        <p:nvSpPr>
          <p:cNvPr id="8" name="Oval 7"/>
          <p:cNvSpPr/>
          <p:nvPr/>
        </p:nvSpPr>
        <p:spPr>
          <a:xfrm>
            <a:off x="640080" y="3630168"/>
            <a:ext cx="457200" cy="457200"/>
          </a:xfrm>
          <a:prstGeom prst="ellipse">
            <a:avLst/>
          </a:prstGeom>
          <a:solidFill>
            <a:srgbClr val="2A2A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3630168"/>
            <a:ext cx="457200" cy="457200"/>
          </a:xfrm>
          <a:prstGeom prst="rect">
            <a:avLst/>
          </a:prstGeom>
          <a:noFill/>
        </p:spPr>
        <p:txBody>
          <a:bodyPr wrap="square" anchor="ctr" lIns="0" rIns="0" tIns="0" bIns="0">
            <a:spAutoFit/>
          </a:bodyPr>
          <a:lstStyle/>
          <a:p>
            <a:pPr algn="ctr"/>
            <a:r>
              <a:rPr sz="1600" b="1" i="0">
                <a:solidFill>
                  <a:srgbClr val="9CC3F2"/>
                </a:solidFill>
                <a:latin typeface="Calibri"/>
              </a:rPr>
              <a:t>2</a:t>
            </a:r>
          </a:p>
        </p:txBody>
      </p:sp>
      <p:sp>
        <p:nvSpPr>
          <p:cNvPr id="10" name="TextBox 9"/>
          <p:cNvSpPr txBox="1"/>
          <p:nvPr/>
        </p:nvSpPr>
        <p:spPr>
          <a:xfrm>
            <a:off x="1325880" y="3584448"/>
            <a:ext cx="10058400" cy="365760"/>
          </a:xfrm>
          <a:prstGeom prst="rect">
            <a:avLst/>
          </a:prstGeom>
          <a:noFill/>
        </p:spPr>
        <p:txBody>
          <a:bodyPr wrap="square" anchor="t" lIns="0" rIns="0" tIns="0" bIns="0">
            <a:spAutoFit/>
          </a:bodyPr>
          <a:lstStyle/>
          <a:p>
            <a:pPr algn="l"/>
            <a:r>
              <a:rPr sz="1900" b="1" i="0">
                <a:solidFill>
                  <a:srgbClr val="FFFFFF"/>
                </a:solidFill>
                <a:latin typeface="Calibri"/>
              </a:rPr>
              <a:t>Two exceptions</a:t>
            </a:r>
          </a:p>
        </p:txBody>
      </p:sp>
      <p:sp>
        <p:nvSpPr>
          <p:cNvPr id="11" name="TextBox 10"/>
          <p:cNvSpPr txBox="1"/>
          <p:nvPr/>
        </p:nvSpPr>
        <p:spPr>
          <a:xfrm>
            <a:off x="1325880" y="3959352"/>
            <a:ext cx="10058400" cy="548640"/>
          </a:xfrm>
          <a:prstGeom prst="rect">
            <a:avLst/>
          </a:prstGeom>
          <a:noFill/>
        </p:spPr>
        <p:txBody>
          <a:bodyPr wrap="square" anchor="t" lIns="0" rIns="0" tIns="0" bIns="0">
            <a:spAutoFit/>
          </a:bodyPr>
          <a:lstStyle/>
          <a:p>
            <a:pPr algn="l"/>
            <a:r>
              <a:rPr sz="1500" b="0" i="0">
                <a:solidFill>
                  <a:srgbClr val="C3C2B7"/>
                </a:solidFill>
                <a:latin typeface="Calibri"/>
              </a:rPr>
              <a:t>homeostasis speeds up learning without backprop; with a small replay buffer a shared network reaches similar mean accuracy in less than half the memory (3 seeds, wide CI)</a:t>
            </a:r>
          </a:p>
        </p:txBody>
      </p:sp>
      <p:sp>
        <p:nvSpPr>
          <p:cNvPr id="12" name="Oval 11"/>
          <p:cNvSpPr/>
          <p:nvPr/>
        </p:nvSpPr>
        <p:spPr>
          <a:xfrm>
            <a:off x="640080" y="4727448"/>
            <a:ext cx="457200" cy="457200"/>
          </a:xfrm>
          <a:prstGeom prst="ellipse">
            <a:avLst/>
          </a:prstGeom>
          <a:solidFill>
            <a:srgbClr val="2A2A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4727448"/>
            <a:ext cx="457200" cy="457200"/>
          </a:xfrm>
          <a:prstGeom prst="rect">
            <a:avLst/>
          </a:prstGeom>
          <a:noFill/>
        </p:spPr>
        <p:txBody>
          <a:bodyPr wrap="square" anchor="ctr" lIns="0" rIns="0" tIns="0" bIns="0">
            <a:spAutoFit/>
          </a:bodyPr>
          <a:lstStyle/>
          <a:p>
            <a:pPr algn="ctr"/>
            <a:r>
              <a:rPr sz="1600" b="1" i="0">
                <a:solidFill>
                  <a:srgbClr val="9CC3F2"/>
                </a:solidFill>
                <a:latin typeface="Calibri"/>
              </a:rPr>
              <a:t>3</a:t>
            </a:r>
          </a:p>
        </p:txBody>
      </p:sp>
      <p:sp>
        <p:nvSpPr>
          <p:cNvPr id="14" name="TextBox 13"/>
          <p:cNvSpPr txBox="1"/>
          <p:nvPr/>
        </p:nvSpPr>
        <p:spPr>
          <a:xfrm>
            <a:off x="1325880" y="4681728"/>
            <a:ext cx="10058400" cy="365760"/>
          </a:xfrm>
          <a:prstGeom prst="rect">
            <a:avLst/>
          </a:prstGeom>
          <a:noFill/>
        </p:spPr>
        <p:txBody>
          <a:bodyPr wrap="square" anchor="t" lIns="0" rIns="0" tIns="0" bIns="0">
            <a:spAutoFit/>
          </a:bodyPr>
          <a:lstStyle/>
          <a:p>
            <a:pPr algn="l"/>
            <a:r>
              <a:rPr sz="1900" b="1" i="0">
                <a:solidFill>
                  <a:srgbClr val="FFFFFF"/>
                </a:solidFill>
                <a:latin typeface="Calibri"/>
              </a:rPr>
              <a:t>The lesson is methodological</a:t>
            </a:r>
          </a:p>
        </p:txBody>
      </p:sp>
      <p:sp>
        <p:nvSpPr>
          <p:cNvPr id="15" name="TextBox 14"/>
          <p:cNvSpPr txBox="1"/>
          <p:nvPr/>
        </p:nvSpPr>
        <p:spPr>
          <a:xfrm>
            <a:off x="1325880" y="5056632"/>
            <a:ext cx="10058400" cy="548640"/>
          </a:xfrm>
          <a:prstGeom prst="rect">
            <a:avLst/>
          </a:prstGeom>
          <a:noFill/>
        </p:spPr>
        <p:txBody>
          <a:bodyPr wrap="square" anchor="t" lIns="0" rIns="0" tIns="0" bIns="0">
            <a:spAutoFit/>
          </a:bodyPr>
          <a:lstStyle/>
          <a:p>
            <a:pPr algn="l"/>
            <a:r>
              <a:rPr sz="1500" b="0" i="0">
                <a:solidFill>
                  <a:srgbClr val="C3C2B7"/>
                </a:solidFill>
                <a:latin typeface="Calibri"/>
              </a:rPr>
              <a:t>effects shrank or disappeared once seeds, training budgets, replay budgets and memory accounting were made fair; the homeostasis-DFA speed-up survived</a:t>
            </a:r>
          </a:p>
        </p:txBody>
      </p:sp>
      <p:sp>
        <p:nvSpPr>
          <p:cNvPr id="16" name="TextBox 15"/>
          <p:cNvSpPr txBox="1"/>
          <p:nvPr/>
        </p:nvSpPr>
        <p:spPr>
          <a:xfrm>
            <a:off x="640080" y="5806440"/>
            <a:ext cx="10058400" cy="457200"/>
          </a:xfrm>
          <a:prstGeom prst="rect">
            <a:avLst/>
          </a:prstGeom>
          <a:noFill/>
        </p:spPr>
        <p:txBody>
          <a:bodyPr wrap="square" anchor="t" lIns="0" rIns="0" tIns="0" bIns="0">
            <a:spAutoFit/>
          </a:bodyPr>
          <a:lstStyle/>
          <a:p>
            <a:pPr algn="l"/>
            <a:r>
              <a:rPr sz="2000" b="1" i="0">
                <a:solidFill>
                  <a:srgbClr val="FFFFFF"/>
                </a:solidFill>
                <a:latin typeface="Calibri"/>
              </a:rPr>
              <a:t>Thank you. Questions?</a:t>
            </a:r>
          </a:p>
        </p:txBody>
      </p:sp>
      <p:sp>
        <p:nvSpPr>
          <p:cNvPr id="17" name="TextBox 16"/>
          <p:cNvSpPr txBox="1"/>
          <p:nvPr/>
        </p:nvSpPr>
        <p:spPr>
          <a:xfrm>
            <a:off x="548640" y="6446520"/>
            <a:ext cx="5486400" cy="274320"/>
          </a:xfrm>
          <a:prstGeom prst="rect">
            <a:avLst/>
          </a:prstGeom>
          <a:noFill/>
        </p:spPr>
        <p:txBody>
          <a:bodyPr wrap="square" anchor="t" lIns="0" rIns="0" tIns="0" bIns="0">
            <a:spAutoFit/>
          </a:bodyPr>
          <a:lstStyle/>
          <a:p>
            <a:pPr algn="l"/>
            <a:r>
              <a:rPr sz="1000" b="0" i="0">
                <a:solidFill>
                  <a:srgbClr val="8F8D86"/>
                </a:solidFill>
                <a:latin typeface="Calibri"/>
              </a:rPr>
              <a:t>NeuroPlast · final review</a:t>
            </a:r>
          </a:p>
        </p:txBody>
      </p:sp>
      <p:sp>
        <p:nvSpPr>
          <p:cNvPr id="18" name="TextBox 17"/>
          <p:cNvSpPr txBox="1"/>
          <p:nvPr/>
        </p:nvSpPr>
        <p:spPr>
          <a:xfrm>
            <a:off x="9814255" y="6446520"/>
            <a:ext cx="1828800" cy="274320"/>
          </a:xfrm>
          <a:prstGeom prst="rect">
            <a:avLst/>
          </a:prstGeom>
          <a:noFill/>
        </p:spPr>
        <p:txBody>
          <a:bodyPr wrap="square" anchor="t" lIns="0" rIns="0" tIns="0" bIns="0">
            <a:spAutoFit/>
          </a:bodyPr>
          <a:lstStyle/>
          <a:p>
            <a:pPr algn="r"/>
            <a:r>
              <a:rPr sz="1000" b="0" i="0">
                <a:solidFill>
                  <a:srgbClr val="8F8D86"/>
                </a:solidFill>
                <a:latin typeface="Calibri"/>
              </a:rPr>
              <a:t>15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320040"/>
          </a:xfrm>
          <a:prstGeom prst="rect">
            <a:avLst/>
          </a:prstGeom>
          <a:noFill/>
        </p:spPr>
        <p:txBody>
          <a:bodyPr wrap="square" anchor="t" lIns="0" rIns="0" tIns="0" bIns="0">
            <a:spAutoFit/>
          </a:bodyPr>
          <a:lstStyle/>
          <a:p>
            <a:pPr algn="l"/>
            <a:r>
              <a:rPr sz="1200" b="1" i="0">
                <a:solidFill>
                  <a:srgbClr val="2A78D6"/>
                </a:solidFill>
                <a:latin typeface="Calibri"/>
              </a:rPr>
              <a:t>BACKUP</a:t>
            </a:r>
          </a:p>
        </p:txBody>
      </p:sp>
      <p:sp>
        <p:nvSpPr>
          <p:cNvPr id="3" name="TextBox 2"/>
          <p:cNvSpPr txBox="1"/>
          <p:nvPr/>
        </p:nvSpPr>
        <p:spPr>
          <a:xfrm>
            <a:off x="548640" y="740664"/>
            <a:ext cx="11094415" cy="822960"/>
          </a:xfrm>
          <a:prstGeom prst="rect">
            <a:avLst/>
          </a:prstGeom>
          <a:noFill/>
        </p:spPr>
        <p:txBody>
          <a:bodyPr wrap="square" anchor="t" lIns="0" rIns="0" tIns="0" bIns="0">
            <a:spAutoFit/>
          </a:bodyPr>
          <a:lstStyle/>
          <a:p>
            <a:pPr algn="l"/>
            <a:r>
              <a:rPr sz="3000" b="1" i="0">
                <a:solidFill>
                  <a:srgbClr val="151514"/>
                </a:solidFill>
                <a:latin typeface="Cambria"/>
              </a:rPr>
              <a:t>Backup: final accuracy and forgetting by method</a:t>
            </a:r>
          </a:p>
        </p:txBody>
      </p:sp>
      <p:graphicFrame>
        <p:nvGraphicFramePr>
          <p:cNvPr id="4" name="Table 3"/>
          <p:cNvGraphicFramePr>
            <a:graphicFrameLocks noGrp="1"/>
          </p:cNvGraphicFramePr>
          <p:nvPr/>
        </p:nvGraphicFramePr>
        <p:xfrm>
          <a:off x="548640" y="1737360"/>
          <a:ext cx="11094412" cy="4114800"/>
        </p:xfrm>
        <a:graphic>
          <a:graphicData uri="http://schemas.openxmlformats.org/drawingml/2006/table">
            <a:tbl>
              <a:tblPr firstRow="1" bandRow="1">
                <a:tableStyleId>{5C22544A-7EE6-4342-B048-85BDC9FD1C3A}</a:tableStyleId>
              </a:tblPr>
              <a:tblGrid>
                <a:gridCol w="2743200"/>
                <a:gridCol w="2087803"/>
                <a:gridCol w="2087803"/>
                <a:gridCol w="2087803"/>
                <a:gridCol w="2087803"/>
              </a:tblGrid>
              <a:tr h="316523">
                <a:tc>
                  <a:txBody>
                    <a:bodyPr/>
                    <a:lstStyle/>
                    <a:p>
                      <a:pPr algn="l"/>
                      <a:r>
                        <a:rPr sz="1300" b="1">
                          <a:solidFill>
                            <a:srgbClr val="151514"/>
                          </a:solidFill>
                          <a:latin typeface="Calibri"/>
                        </a:rPr>
                        <a:t/>
                      </a:r>
                    </a:p>
                  </a:txBody>
                  <a:tcPr marL="91440" marR="91440" marT="27432" marB="27432">
                    <a:solidFill>
                      <a:srgbClr val="EBEAE4"/>
                    </a:solidFill>
                  </a:tcPr>
                </a:tc>
                <a:tc>
                  <a:txBody>
                    <a:bodyPr/>
                    <a:lstStyle/>
                    <a:p>
                      <a:pPr algn="ctr"/>
                      <a:r>
                        <a:rPr sz="1300" b="1">
                          <a:solidFill>
                            <a:srgbClr val="151514"/>
                          </a:solidFill>
                          <a:latin typeface="Calibri"/>
                        </a:rPr>
                        <a:t>CNN, 3 tasks</a:t>
                      </a:r>
                    </a:p>
                  </a:txBody>
                  <a:tcPr marL="91440" marR="91440" marT="27432" marB="27432">
                    <a:solidFill>
                      <a:srgbClr val="EBEAE4"/>
                    </a:solidFill>
                  </a:tcPr>
                </a:tc>
                <a:tc>
                  <a:txBody>
                    <a:bodyPr/>
                    <a:lstStyle/>
                    <a:p>
                      <a:pPr algn="ctr"/>
                      <a:r>
                        <a:rPr sz="1300" b="1">
                          <a:solidFill>
                            <a:srgbClr val="151514"/>
                          </a:solidFill>
                          <a:latin typeface="Calibri"/>
                        </a:rPr>
                        <a:t>SNN, 3 tasks</a:t>
                      </a:r>
                    </a:p>
                  </a:txBody>
                  <a:tcPr marL="91440" marR="91440" marT="27432" marB="27432">
                    <a:solidFill>
                      <a:srgbClr val="EBEAE4"/>
                    </a:solidFill>
                  </a:tcPr>
                </a:tc>
                <a:tc>
                  <a:txBody>
                    <a:bodyPr/>
                    <a:lstStyle/>
                    <a:p>
                      <a:pPr algn="ctr"/>
                      <a:r>
                        <a:rPr sz="1300" b="1">
                          <a:solidFill>
                            <a:srgbClr val="151514"/>
                          </a:solidFill>
                          <a:latin typeface="Calibri"/>
                        </a:rPr>
                        <a:t>SNN+Transformer, 3 tasks</a:t>
                      </a:r>
                    </a:p>
                  </a:txBody>
                  <a:tcPr marL="91440" marR="91440" marT="27432" marB="27432">
                    <a:solidFill>
                      <a:srgbClr val="EBEAE4"/>
                    </a:solidFill>
                  </a:tcPr>
                </a:tc>
                <a:tc>
                  <a:txBody>
                    <a:bodyPr/>
                    <a:lstStyle/>
                    <a:p>
                      <a:pPr algn="ctr"/>
                      <a:r>
                        <a:rPr sz="1300" b="1">
                          <a:solidFill>
                            <a:srgbClr val="151514"/>
                          </a:solidFill>
                          <a:latin typeface="Calibri"/>
                        </a:rPr>
                        <a:t>CNN, 5 tasks</a:t>
                      </a:r>
                    </a:p>
                  </a:txBody>
                  <a:tcPr marL="91440" marR="91440" marT="27432" marB="27432">
                    <a:solidFill>
                      <a:srgbClr val="EBEAE4"/>
                    </a:solidFill>
                  </a:tcPr>
                </a:tc>
              </a:tr>
              <a:tr h="316523">
                <a:tc>
                  <a:txBody>
                    <a:bodyPr/>
                    <a:lstStyle/>
                    <a:p>
                      <a:pPr algn="l"/>
                      <a:r>
                        <a:rPr sz="1300" b="1">
                          <a:solidFill>
                            <a:srgbClr val="151514"/>
                          </a:solidFill>
                          <a:latin typeface="Calibri"/>
                        </a:rPr>
                        <a:t>Final ACC (mean ± SD)</a:t>
                      </a:r>
                    </a:p>
                  </a:txBody>
                  <a:tcPr marL="91440" marR="91440" marT="27432" marB="27432">
                    <a:solidFill>
                      <a:srgbClr val="F4F4F1"/>
                    </a:solidFill>
                  </a:tcPr>
                </a:tc>
                <a:tc>
                  <a:txBody>
                    <a:bodyPr/>
                    <a:lstStyle/>
                    <a:p>
                      <a:pPr algn="ctr"/>
                      <a:r>
                        <a:rPr sz="1300" b="1">
                          <a:solidFill>
                            <a:srgbClr val="151514"/>
                          </a:solidFill>
                          <a:latin typeface="Calibri"/>
                        </a:rPr>
                        <a:t/>
                      </a:r>
                    </a:p>
                  </a:txBody>
                  <a:tcPr marL="91440" marR="91440" marT="27432" marB="27432">
                    <a:solidFill>
                      <a:srgbClr val="F4F4F1"/>
                    </a:solidFill>
                  </a:tcPr>
                </a:tc>
                <a:tc>
                  <a:txBody>
                    <a:bodyPr/>
                    <a:lstStyle/>
                    <a:p>
                      <a:pPr algn="ctr"/>
                      <a:r>
                        <a:rPr sz="1300" b="1">
                          <a:solidFill>
                            <a:srgbClr val="151514"/>
                          </a:solidFill>
                          <a:latin typeface="Calibri"/>
                        </a:rPr>
                        <a:t/>
                      </a:r>
                    </a:p>
                  </a:txBody>
                  <a:tcPr marL="91440" marR="91440" marT="27432" marB="27432">
                    <a:solidFill>
                      <a:srgbClr val="F4F4F1"/>
                    </a:solidFill>
                  </a:tcPr>
                </a:tc>
                <a:tc>
                  <a:txBody>
                    <a:bodyPr/>
                    <a:lstStyle/>
                    <a:p>
                      <a:pPr algn="ctr"/>
                      <a:r>
                        <a:rPr sz="1300" b="1">
                          <a:solidFill>
                            <a:srgbClr val="151514"/>
                          </a:solidFill>
                          <a:latin typeface="Calibri"/>
                        </a:rPr>
                        <a:t/>
                      </a:r>
                    </a:p>
                  </a:txBody>
                  <a:tcPr marL="91440" marR="91440" marT="27432" marB="27432">
                    <a:solidFill>
                      <a:srgbClr val="F4F4F1"/>
                    </a:solidFill>
                  </a:tcPr>
                </a:tc>
                <a:tc>
                  <a:txBody>
                    <a:bodyPr/>
                    <a:lstStyle/>
                    <a:p>
                      <a:pPr algn="ctr"/>
                      <a:r>
                        <a:rPr sz="1300" b="1">
                          <a:solidFill>
                            <a:srgbClr val="151514"/>
                          </a:solidFill>
                          <a:latin typeface="Calibri"/>
                        </a:rPr>
                        <a:t/>
                      </a:r>
                    </a:p>
                  </a:txBody>
                  <a:tcPr marL="91440" marR="91440" marT="27432" marB="27432">
                    <a:solidFill>
                      <a:srgbClr val="F4F4F1"/>
                    </a:solidFill>
                  </a:tcPr>
                </a:tc>
              </a:tr>
              <a:tr h="316523">
                <a:tc>
                  <a:txBody>
                    <a:bodyPr/>
                    <a:lstStyle/>
                    <a:p>
                      <a:pPr algn="l"/>
                      <a:r>
                        <a:rPr sz="1300" b="0">
                          <a:solidFill>
                            <a:srgbClr val="52514E"/>
                          </a:solidFill>
                          <a:latin typeface="Calibri"/>
                        </a:rPr>
                        <a:t>naive</a:t>
                      </a:r>
                    </a:p>
                  </a:txBody>
                  <a:tcPr marL="91440" marR="91440" marT="27432" marB="27432">
                    <a:solidFill>
                      <a:srgbClr val="FFFFFF"/>
                    </a:solidFill>
                  </a:tcPr>
                </a:tc>
                <a:tc>
                  <a:txBody>
                    <a:bodyPr/>
                    <a:lstStyle/>
                    <a:p>
                      <a:pPr algn="ctr"/>
                      <a:r>
                        <a:rPr sz="1300" b="0">
                          <a:solidFill>
                            <a:srgbClr val="52514E"/>
                          </a:solidFill>
                          <a:latin typeface="Calibri"/>
                        </a:rPr>
                        <a:t>0.555 ± 0.013</a:t>
                      </a:r>
                    </a:p>
                  </a:txBody>
                  <a:tcPr marL="91440" marR="91440" marT="27432" marB="27432">
                    <a:solidFill>
                      <a:srgbClr val="FFFFFF"/>
                    </a:solidFill>
                  </a:tcPr>
                </a:tc>
                <a:tc>
                  <a:txBody>
                    <a:bodyPr/>
                    <a:lstStyle/>
                    <a:p>
                      <a:pPr algn="ctr"/>
                      <a:r>
                        <a:rPr sz="1300" b="0">
                          <a:solidFill>
                            <a:srgbClr val="52514E"/>
                          </a:solidFill>
                          <a:latin typeface="Calibri"/>
                        </a:rPr>
                        <a:t>0.550 ± 0.130</a:t>
                      </a:r>
                    </a:p>
                  </a:txBody>
                  <a:tcPr marL="91440" marR="91440" marT="27432" marB="27432">
                    <a:solidFill>
                      <a:srgbClr val="FFFFFF"/>
                    </a:solidFill>
                  </a:tcPr>
                </a:tc>
                <a:tc>
                  <a:txBody>
                    <a:bodyPr/>
                    <a:lstStyle/>
                    <a:p>
                      <a:pPr algn="ctr"/>
                      <a:r>
                        <a:rPr sz="1300" b="0">
                          <a:solidFill>
                            <a:srgbClr val="52514E"/>
                          </a:solidFill>
                          <a:latin typeface="Calibri"/>
                        </a:rPr>
                        <a:t>0.452 ± 0.016</a:t>
                      </a:r>
                    </a:p>
                  </a:txBody>
                  <a:tcPr marL="91440" marR="91440" marT="27432" marB="27432">
                    <a:solidFill>
                      <a:srgbClr val="FFFFFF"/>
                    </a:solidFill>
                  </a:tcPr>
                </a:tc>
                <a:tc>
                  <a:txBody>
                    <a:bodyPr/>
                    <a:lstStyle/>
                    <a:p>
                      <a:pPr algn="ctr"/>
                      <a:r>
                        <a:rPr sz="1300" b="0">
                          <a:solidFill>
                            <a:srgbClr val="52514E"/>
                          </a:solidFill>
                          <a:latin typeface="Calibri"/>
                        </a:rPr>
                        <a:t>0.416 ± 0.098</a:t>
                      </a:r>
                    </a:p>
                  </a:txBody>
                  <a:tcPr marL="91440" marR="91440" marT="27432" marB="27432">
                    <a:solidFill>
                      <a:srgbClr val="FFFFFF"/>
                    </a:solidFill>
                  </a:tcPr>
                </a:tc>
              </a:tr>
              <a:tr h="316523">
                <a:tc>
                  <a:txBody>
                    <a:bodyPr/>
                    <a:lstStyle/>
                    <a:p>
                      <a:pPr algn="l"/>
                      <a:r>
                        <a:rPr sz="1300" b="0">
                          <a:solidFill>
                            <a:srgbClr val="52514E"/>
                          </a:solidFill>
                          <a:latin typeface="Calibri"/>
                        </a:rPr>
                        <a:t>EWC (λ=100)</a:t>
                      </a:r>
                    </a:p>
                  </a:txBody>
                  <a:tcPr marL="91440" marR="91440" marT="27432" marB="27432">
                    <a:solidFill>
                      <a:srgbClr val="FFFFFF"/>
                    </a:solidFill>
                  </a:tcPr>
                </a:tc>
                <a:tc>
                  <a:txBody>
                    <a:bodyPr/>
                    <a:lstStyle/>
                    <a:p>
                      <a:pPr algn="ctr"/>
                      <a:r>
                        <a:rPr sz="1300" b="0">
                          <a:solidFill>
                            <a:srgbClr val="52514E"/>
                          </a:solidFill>
                          <a:latin typeface="Calibri"/>
                        </a:rPr>
                        <a:t>0.674 ± 0.030</a:t>
                      </a:r>
                    </a:p>
                  </a:txBody>
                  <a:tcPr marL="91440" marR="91440" marT="27432" marB="27432">
                    <a:solidFill>
                      <a:srgbClr val="FFFFFF"/>
                    </a:solidFill>
                  </a:tcPr>
                </a:tc>
                <a:tc>
                  <a:txBody>
                    <a:bodyPr/>
                    <a:lstStyle/>
                    <a:p>
                      <a:pPr algn="ctr"/>
                      <a:r>
                        <a:rPr sz="1300" b="0">
                          <a:solidFill>
                            <a:srgbClr val="52514E"/>
                          </a:solidFill>
                          <a:latin typeface="Calibri"/>
                        </a:rPr>
                        <a:t>0.716 ± 0.199</a:t>
                      </a:r>
                    </a:p>
                  </a:txBody>
                  <a:tcPr marL="91440" marR="91440" marT="27432" marB="27432">
                    <a:solidFill>
                      <a:srgbClr val="FFFFFF"/>
                    </a:solidFill>
                  </a:tcPr>
                </a:tc>
                <a:tc>
                  <a:txBody>
                    <a:bodyPr/>
                    <a:lstStyle/>
                    <a:p>
                      <a:pPr algn="ctr"/>
                      <a:r>
                        <a:rPr sz="1300" b="0">
                          <a:solidFill>
                            <a:srgbClr val="52514E"/>
                          </a:solidFill>
                          <a:latin typeface="Calibri"/>
                        </a:rPr>
                        <a:t>–</a:t>
                      </a:r>
                    </a:p>
                  </a:txBody>
                  <a:tcPr marL="91440" marR="91440" marT="27432" marB="27432">
                    <a:solidFill>
                      <a:srgbClr val="FFFFFF"/>
                    </a:solidFill>
                  </a:tcPr>
                </a:tc>
                <a:tc>
                  <a:txBody>
                    <a:bodyPr/>
                    <a:lstStyle/>
                    <a:p>
                      <a:pPr algn="ctr"/>
                      <a:r>
                        <a:rPr sz="1300" b="0">
                          <a:solidFill>
                            <a:srgbClr val="52514E"/>
                          </a:solidFill>
                          <a:latin typeface="Calibri"/>
                        </a:rPr>
                        <a:t>–</a:t>
                      </a:r>
                    </a:p>
                  </a:txBody>
                  <a:tcPr marL="91440" marR="91440" marT="27432" marB="27432">
                    <a:solidFill>
                      <a:srgbClr val="FFFFFF"/>
                    </a:solidFill>
                  </a:tcPr>
                </a:tc>
              </a:tr>
              <a:tr h="316523">
                <a:tc>
                  <a:txBody>
                    <a:bodyPr/>
                    <a:lstStyle/>
                    <a:p>
                      <a:pPr algn="l"/>
                      <a:r>
                        <a:rPr sz="1300" b="0">
                          <a:solidFill>
                            <a:srgbClr val="52514E"/>
                          </a:solidFill>
                          <a:latin typeface="Calibri"/>
                        </a:rPr>
                        <a:t>replay</a:t>
                      </a:r>
                    </a:p>
                  </a:txBody>
                  <a:tcPr marL="91440" marR="91440" marT="27432" marB="27432">
                    <a:solidFill>
                      <a:srgbClr val="FFFFFF"/>
                    </a:solidFill>
                  </a:tcPr>
                </a:tc>
                <a:tc>
                  <a:txBody>
                    <a:bodyPr/>
                    <a:lstStyle/>
                    <a:p>
                      <a:pPr algn="ctr"/>
                      <a:r>
                        <a:rPr sz="1300" b="0">
                          <a:solidFill>
                            <a:srgbClr val="52514E"/>
                          </a:solidFill>
                          <a:latin typeface="Calibri"/>
                        </a:rPr>
                        <a:t>0.970 ± 0.009</a:t>
                      </a:r>
                    </a:p>
                  </a:txBody>
                  <a:tcPr marL="91440" marR="91440" marT="27432" marB="27432">
                    <a:solidFill>
                      <a:srgbClr val="FFFFFF"/>
                    </a:solidFill>
                  </a:tcPr>
                </a:tc>
                <a:tc>
                  <a:txBody>
                    <a:bodyPr/>
                    <a:lstStyle/>
                    <a:p>
                      <a:pPr algn="ctr"/>
                      <a:r>
                        <a:rPr sz="1300" b="0">
                          <a:solidFill>
                            <a:srgbClr val="52514E"/>
                          </a:solidFill>
                          <a:latin typeface="Calibri"/>
                        </a:rPr>
                        <a:t>0.814 ± 0.162</a:t>
                      </a:r>
                    </a:p>
                  </a:txBody>
                  <a:tcPr marL="91440" marR="91440" marT="27432" marB="27432">
                    <a:solidFill>
                      <a:srgbClr val="FFFFFF"/>
                    </a:solidFill>
                  </a:tcPr>
                </a:tc>
                <a:tc>
                  <a:txBody>
                    <a:bodyPr/>
                    <a:lstStyle/>
                    <a:p>
                      <a:pPr algn="ctr"/>
                      <a:r>
                        <a:rPr sz="1300" b="0">
                          <a:solidFill>
                            <a:srgbClr val="52514E"/>
                          </a:solidFill>
                          <a:latin typeface="Calibri"/>
                        </a:rPr>
                        <a:t>0.862 ± 0.038</a:t>
                      </a:r>
                    </a:p>
                  </a:txBody>
                  <a:tcPr marL="91440" marR="91440" marT="27432" marB="27432">
                    <a:solidFill>
                      <a:srgbClr val="FFFFFF"/>
                    </a:solidFill>
                  </a:tcPr>
                </a:tc>
                <a:tc>
                  <a:txBody>
                    <a:bodyPr/>
                    <a:lstStyle/>
                    <a:p>
                      <a:pPr algn="ctr"/>
                      <a:r>
                        <a:rPr sz="1300" b="0">
                          <a:solidFill>
                            <a:srgbClr val="52514E"/>
                          </a:solidFill>
                          <a:latin typeface="Calibri"/>
                        </a:rPr>
                        <a:t>0.926 ± 0.049</a:t>
                      </a:r>
                    </a:p>
                  </a:txBody>
                  <a:tcPr marL="91440" marR="91440" marT="27432" marB="27432">
                    <a:solidFill>
                      <a:srgbClr val="FFFFFF"/>
                    </a:solidFill>
                  </a:tcPr>
                </a:tc>
              </a:tr>
              <a:tr h="316523">
                <a:tc>
                  <a:txBody>
                    <a:bodyPr/>
                    <a:lstStyle/>
                    <a:p>
                      <a:pPr algn="l"/>
                      <a:r>
                        <a:rPr sz="1300" b="0">
                          <a:solidFill>
                            <a:srgbClr val="52514E"/>
                          </a:solidFill>
                          <a:latin typeface="Calibri"/>
                        </a:rPr>
                        <a:t>sleep</a:t>
                      </a:r>
                    </a:p>
                  </a:txBody>
                  <a:tcPr marL="91440" marR="91440" marT="27432" marB="27432">
                    <a:solidFill>
                      <a:srgbClr val="FFFFFF"/>
                    </a:solidFill>
                  </a:tcPr>
                </a:tc>
                <a:tc>
                  <a:txBody>
                    <a:bodyPr/>
                    <a:lstStyle/>
                    <a:p>
                      <a:pPr algn="ctr"/>
                      <a:r>
                        <a:rPr sz="1300" b="0">
                          <a:solidFill>
                            <a:srgbClr val="52514E"/>
                          </a:solidFill>
                          <a:latin typeface="Calibri"/>
                        </a:rPr>
                        <a:t>0.978 ± 0.001</a:t>
                      </a:r>
                    </a:p>
                  </a:txBody>
                  <a:tcPr marL="91440" marR="91440" marT="27432" marB="27432">
                    <a:solidFill>
                      <a:srgbClr val="FFFFFF"/>
                    </a:solidFill>
                  </a:tcPr>
                </a:tc>
                <a:tc>
                  <a:txBody>
                    <a:bodyPr/>
                    <a:lstStyle/>
                    <a:p>
                      <a:pPr algn="ctr"/>
                      <a:r>
                        <a:rPr sz="1300" b="0">
                          <a:solidFill>
                            <a:srgbClr val="52514E"/>
                          </a:solidFill>
                          <a:latin typeface="Calibri"/>
                        </a:rPr>
                        <a:t>0.889 ± 0.003</a:t>
                      </a:r>
                    </a:p>
                  </a:txBody>
                  <a:tcPr marL="91440" marR="91440" marT="27432" marB="27432">
                    <a:solidFill>
                      <a:srgbClr val="FFFFFF"/>
                    </a:solidFill>
                  </a:tcPr>
                </a:tc>
                <a:tc>
                  <a:txBody>
                    <a:bodyPr/>
                    <a:lstStyle/>
                    <a:p>
                      <a:pPr algn="ctr"/>
                      <a:r>
                        <a:rPr sz="1300" b="0">
                          <a:solidFill>
                            <a:srgbClr val="52514E"/>
                          </a:solidFill>
                          <a:latin typeface="Calibri"/>
                        </a:rPr>
                        <a:t>0.887 ± 0.045</a:t>
                      </a:r>
                    </a:p>
                  </a:txBody>
                  <a:tcPr marL="91440" marR="91440" marT="27432" marB="27432">
                    <a:solidFill>
                      <a:srgbClr val="FFFFFF"/>
                    </a:solidFill>
                  </a:tcPr>
                </a:tc>
                <a:tc>
                  <a:txBody>
                    <a:bodyPr/>
                    <a:lstStyle/>
                    <a:p>
                      <a:pPr algn="ctr"/>
                      <a:r>
                        <a:rPr sz="1300" b="0">
                          <a:solidFill>
                            <a:srgbClr val="52514E"/>
                          </a:solidFill>
                          <a:latin typeface="Calibri"/>
                        </a:rPr>
                        <a:t>0.928 ± 0.065</a:t>
                      </a:r>
                    </a:p>
                  </a:txBody>
                  <a:tcPr marL="91440" marR="91440" marT="27432" marB="27432">
                    <a:solidFill>
                      <a:srgbClr val="FFFFFF"/>
                    </a:solidFill>
                  </a:tcPr>
                </a:tc>
              </a:tr>
              <a:tr h="316523">
                <a:tc>
                  <a:txBody>
                    <a:bodyPr/>
                    <a:lstStyle/>
                    <a:p>
                      <a:pPr algn="l"/>
                      <a:r>
                        <a:rPr sz="1300" b="0">
                          <a:solidFill>
                            <a:srgbClr val="52514E"/>
                          </a:solidFill>
                          <a:latin typeface="Calibri"/>
                        </a:rPr>
                        <a:t>sleep, matched</a:t>
                      </a:r>
                    </a:p>
                  </a:txBody>
                  <a:tcPr marL="91440" marR="91440" marT="27432" marB="27432">
                    <a:solidFill>
                      <a:srgbClr val="FFFFFF"/>
                    </a:solidFill>
                  </a:tcPr>
                </a:tc>
                <a:tc>
                  <a:txBody>
                    <a:bodyPr/>
                    <a:lstStyle/>
                    <a:p>
                      <a:pPr algn="ctr"/>
                      <a:r>
                        <a:rPr sz="1300" b="0">
                          <a:solidFill>
                            <a:srgbClr val="52514E"/>
                          </a:solidFill>
                          <a:latin typeface="Calibri"/>
                        </a:rPr>
                        <a:t>–</a:t>
                      </a:r>
                    </a:p>
                  </a:txBody>
                  <a:tcPr marL="91440" marR="91440" marT="27432" marB="27432">
                    <a:solidFill>
                      <a:srgbClr val="FFFFFF"/>
                    </a:solidFill>
                  </a:tcPr>
                </a:tc>
                <a:tc>
                  <a:txBody>
                    <a:bodyPr/>
                    <a:lstStyle/>
                    <a:p>
                      <a:pPr algn="ctr"/>
                      <a:r>
                        <a:rPr sz="1300" b="0">
                          <a:solidFill>
                            <a:srgbClr val="52514E"/>
                          </a:solidFill>
                          <a:latin typeface="Calibri"/>
                        </a:rPr>
                        <a:t>–</a:t>
                      </a:r>
                    </a:p>
                  </a:txBody>
                  <a:tcPr marL="91440" marR="91440" marT="27432" marB="27432">
                    <a:solidFill>
                      <a:srgbClr val="FFFFFF"/>
                    </a:solidFill>
                  </a:tcPr>
                </a:tc>
                <a:tc>
                  <a:txBody>
                    <a:bodyPr/>
                    <a:lstStyle/>
                    <a:p>
                      <a:pPr algn="ctr"/>
                      <a:r>
                        <a:rPr sz="1300" b="0">
                          <a:solidFill>
                            <a:srgbClr val="52514E"/>
                          </a:solidFill>
                          <a:latin typeface="Calibri"/>
                        </a:rPr>
                        <a:t>0.879 ± 0.043</a:t>
                      </a:r>
                    </a:p>
                  </a:txBody>
                  <a:tcPr marL="91440" marR="91440" marT="27432" marB="27432">
                    <a:solidFill>
                      <a:srgbClr val="FFFFFF"/>
                    </a:solidFill>
                  </a:tcPr>
                </a:tc>
                <a:tc>
                  <a:txBody>
                    <a:bodyPr/>
                    <a:lstStyle/>
                    <a:p>
                      <a:pPr algn="ctr"/>
                      <a:r>
                        <a:rPr sz="1300" b="0">
                          <a:solidFill>
                            <a:srgbClr val="52514E"/>
                          </a:solidFill>
                          <a:latin typeface="Calibri"/>
                        </a:rPr>
                        <a:t>–</a:t>
                      </a:r>
                    </a:p>
                  </a:txBody>
                  <a:tcPr marL="91440" marR="91440" marT="27432" marB="27432">
                    <a:solidFill>
                      <a:srgbClr val="FFFFFF"/>
                    </a:solidFill>
                  </a:tcPr>
                </a:tc>
              </a:tr>
              <a:tr h="316523">
                <a:tc>
                  <a:txBody>
                    <a:bodyPr/>
                    <a:lstStyle/>
                    <a:p>
                      <a:pPr algn="l"/>
                      <a:r>
                        <a:rPr sz="1300" b="0">
                          <a:solidFill>
                            <a:srgbClr val="52514E"/>
                          </a:solidFill>
                          <a:latin typeface="Calibri"/>
                        </a:rPr>
                        <a:t>isolation</a:t>
                      </a:r>
                    </a:p>
                  </a:txBody>
                  <a:tcPr marL="91440" marR="91440" marT="27432" marB="27432">
                    <a:solidFill>
                      <a:srgbClr val="FFFFFF"/>
                    </a:solidFill>
                  </a:tcPr>
                </a:tc>
                <a:tc>
                  <a:txBody>
                    <a:bodyPr/>
                    <a:lstStyle/>
                    <a:p>
                      <a:pPr algn="ctr"/>
                      <a:r>
                        <a:rPr sz="1300" b="0">
                          <a:solidFill>
                            <a:srgbClr val="52514E"/>
                          </a:solidFill>
                          <a:latin typeface="Calibri"/>
                        </a:rPr>
                        <a:t>0.979 ± 0.001</a:t>
                      </a:r>
                    </a:p>
                  </a:txBody>
                  <a:tcPr marL="91440" marR="91440" marT="27432" marB="27432">
                    <a:solidFill>
                      <a:srgbClr val="FFFFFF"/>
                    </a:solidFill>
                  </a:tcPr>
                </a:tc>
                <a:tc>
                  <a:txBody>
                    <a:bodyPr/>
                    <a:lstStyle/>
                    <a:p>
                      <a:pPr algn="ctr"/>
                      <a:r>
                        <a:rPr sz="1300" b="0">
                          <a:solidFill>
                            <a:srgbClr val="52514E"/>
                          </a:solidFill>
                          <a:latin typeface="Calibri"/>
                        </a:rPr>
                        <a:t>0.833 ± 0.073</a:t>
                      </a:r>
                    </a:p>
                  </a:txBody>
                  <a:tcPr marL="91440" marR="91440" marT="27432" marB="27432">
                    <a:solidFill>
                      <a:srgbClr val="FFFFFF"/>
                    </a:solidFill>
                  </a:tcPr>
                </a:tc>
                <a:tc>
                  <a:txBody>
                    <a:bodyPr/>
                    <a:lstStyle/>
                    <a:p>
                      <a:pPr algn="ctr"/>
                      <a:r>
                        <a:rPr sz="1300" b="0">
                          <a:solidFill>
                            <a:srgbClr val="52514E"/>
                          </a:solidFill>
                          <a:latin typeface="Calibri"/>
                        </a:rPr>
                        <a:t>0.832 ± 0.037</a:t>
                      </a:r>
                    </a:p>
                  </a:txBody>
                  <a:tcPr marL="91440" marR="91440" marT="27432" marB="27432">
                    <a:solidFill>
                      <a:srgbClr val="FFFFFF"/>
                    </a:solidFill>
                  </a:tcPr>
                </a:tc>
                <a:tc>
                  <a:txBody>
                    <a:bodyPr/>
                    <a:lstStyle/>
                    <a:p>
                      <a:pPr algn="ctr"/>
                      <a:r>
                        <a:rPr sz="1300" b="0">
                          <a:solidFill>
                            <a:srgbClr val="52514E"/>
                          </a:solidFill>
                          <a:latin typeface="Calibri"/>
                        </a:rPr>
                        <a:t>0.976 ± 0.000</a:t>
                      </a:r>
                    </a:p>
                  </a:txBody>
                  <a:tcPr marL="91440" marR="91440" marT="27432" marB="27432">
                    <a:solidFill>
                      <a:srgbClr val="FFFFFF"/>
                    </a:solidFill>
                  </a:tcPr>
                </a:tc>
              </a:tr>
              <a:tr h="316523">
                <a:tc>
                  <a:txBody>
                    <a:bodyPr/>
                    <a:lstStyle/>
                    <a:p>
                      <a:pPr algn="l"/>
                      <a:r>
                        <a:rPr sz="1300" b="1">
                          <a:solidFill>
                            <a:srgbClr val="151514"/>
                          </a:solidFill>
                          <a:latin typeface="Calibri"/>
                        </a:rPr>
                        <a:t>FORGET (mean)</a:t>
                      </a:r>
                    </a:p>
                  </a:txBody>
                  <a:tcPr marL="91440" marR="91440" marT="27432" marB="27432">
                    <a:solidFill>
                      <a:srgbClr val="F4F4F1"/>
                    </a:solidFill>
                  </a:tcPr>
                </a:tc>
                <a:tc>
                  <a:txBody>
                    <a:bodyPr/>
                    <a:lstStyle/>
                    <a:p>
                      <a:pPr algn="ctr"/>
                      <a:r>
                        <a:rPr sz="1300" b="1">
                          <a:solidFill>
                            <a:srgbClr val="151514"/>
                          </a:solidFill>
                          <a:latin typeface="Calibri"/>
                        </a:rPr>
                        <a:t/>
                      </a:r>
                    </a:p>
                  </a:txBody>
                  <a:tcPr marL="91440" marR="91440" marT="27432" marB="27432">
                    <a:solidFill>
                      <a:srgbClr val="F4F4F1"/>
                    </a:solidFill>
                  </a:tcPr>
                </a:tc>
                <a:tc>
                  <a:txBody>
                    <a:bodyPr/>
                    <a:lstStyle/>
                    <a:p>
                      <a:pPr algn="ctr"/>
                      <a:r>
                        <a:rPr sz="1300" b="1">
                          <a:solidFill>
                            <a:srgbClr val="151514"/>
                          </a:solidFill>
                          <a:latin typeface="Calibri"/>
                        </a:rPr>
                        <a:t/>
                      </a:r>
                    </a:p>
                  </a:txBody>
                  <a:tcPr marL="91440" marR="91440" marT="27432" marB="27432">
                    <a:solidFill>
                      <a:srgbClr val="F4F4F1"/>
                    </a:solidFill>
                  </a:tcPr>
                </a:tc>
                <a:tc>
                  <a:txBody>
                    <a:bodyPr/>
                    <a:lstStyle/>
                    <a:p>
                      <a:pPr algn="ctr"/>
                      <a:r>
                        <a:rPr sz="1300" b="1">
                          <a:solidFill>
                            <a:srgbClr val="151514"/>
                          </a:solidFill>
                          <a:latin typeface="Calibri"/>
                        </a:rPr>
                        <a:t/>
                      </a:r>
                    </a:p>
                  </a:txBody>
                  <a:tcPr marL="91440" marR="91440" marT="27432" marB="27432">
                    <a:solidFill>
                      <a:srgbClr val="F4F4F1"/>
                    </a:solidFill>
                  </a:tcPr>
                </a:tc>
                <a:tc>
                  <a:txBody>
                    <a:bodyPr/>
                    <a:lstStyle/>
                    <a:p>
                      <a:pPr algn="ctr"/>
                      <a:r>
                        <a:rPr sz="1300" b="1">
                          <a:solidFill>
                            <a:srgbClr val="151514"/>
                          </a:solidFill>
                          <a:latin typeface="Calibri"/>
                        </a:rPr>
                        <a:t/>
                      </a:r>
                    </a:p>
                  </a:txBody>
                  <a:tcPr marL="91440" marR="91440" marT="27432" marB="27432">
                    <a:solidFill>
                      <a:srgbClr val="F4F4F1"/>
                    </a:solidFill>
                  </a:tcPr>
                </a:tc>
              </a:tr>
              <a:tr h="316523">
                <a:tc>
                  <a:txBody>
                    <a:bodyPr/>
                    <a:lstStyle/>
                    <a:p>
                      <a:pPr algn="l"/>
                      <a:r>
                        <a:rPr sz="1300" b="0">
                          <a:solidFill>
                            <a:srgbClr val="52514E"/>
                          </a:solidFill>
                          <a:latin typeface="Calibri"/>
                        </a:rPr>
                        <a:t>naive</a:t>
                      </a:r>
                    </a:p>
                  </a:txBody>
                  <a:tcPr marL="91440" marR="91440" marT="27432" marB="27432">
                    <a:solidFill>
                      <a:srgbClr val="FFFFFF"/>
                    </a:solidFill>
                  </a:tcPr>
                </a:tc>
                <a:tc>
                  <a:txBody>
                    <a:bodyPr/>
                    <a:lstStyle/>
                    <a:p>
                      <a:pPr algn="ctr"/>
                      <a:r>
                        <a:rPr sz="1300" b="0">
                          <a:solidFill>
                            <a:srgbClr val="52514E"/>
                          </a:solidFill>
                          <a:latin typeface="Calibri"/>
                        </a:rPr>
                        <a:t>0.631</a:t>
                      </a:r>
                    </a:p>
                  </a:txBody>
                  <a:tcPr marL="91440" marR="91440" marT="27432" marB="27432">
                    <a:solidFill>
                      <a:srgbClr val="FFFFFF"/>
                    </a:solidFill>
                  </a:tcPr>
                </a:tc>
                <a:tc>
                  <a:txBody>
                    <a:bodyPr/>
                    <a:lstStyle/>
                    <a:p>
                      <a:pPr algn="ctr"/>
                      <a:r>
                        <a:rPr sz="1300" b="0">
                          <a:solidFill>
                            <a:srgbClr val="52514E"/>
                          </a:solidFill>
                          <a:latin typeface="Calibri"/>
                        </a:rPr>
                        <a:t>0.321</a:t>
                      </a:r>
                    </a:p>
                  </a:txBody>
                  <a:tcPr marL="91440" marR="91440" marT="27432" marB="27432">
                    <a:solidFill>
                      <a:srgbClr val="FFFFFF"/>
                    </a:solidFill>
                  </a:tcPr>
                </a:tc>
                <a:tc>
                  <a:txBody>
                    <a:bodyPr/>
                    <a:lstStyle/>
                    <a:p>
                      <a:pPr algn="ctr"/>
                      <a:r>
                        <a:rPr sz="1300" b="0">
                          <a:solidFill>
                            <a:srgbClr val="52514E"/>
                          </a:solidFill>
                          <a:latin typeface="Calibri"/>
                        </a:rPr>
                        <a:t>0.536</a:t>
                      </a:r>
                    </a:p>
                  </a:txBody>
                  <a:tcPr marL="91440" marR="91440" marT="27432" marB="27432">
                    <a:solidFill>
                      <a:srgbClr val="FFFFFF"/>
                    </a:solidFill>
                  </a:tcPr>
                </a:tc>
                <a:tc>
                  <a:txBody>
                    <a:bodyPr/>
                    <a:lstStyle/>
                    <a:p>
                      <a:pPr algn="ctr"/>
                      <a:r>
                        <a:rPr sz="1300" b="0">
                          <a:solidFill>
                            <a:srgbClr val="52514E"/>
                          </a:solidFill>
                          <a:latin typeface="Calibri"/>
                        </a:rPr>
                        <a:t>0.612</a:t>
                      </a:r>
                    </a:p>
                  </a:txBody>
                  <a:tcPr marL="91440" marR="91440" marT="27432" marB="27432">
                    <a:solidFill>
                      <a:srgbClr val="FFFFFF"/>
                    </a:solidFill>
                  </a:tcPr>
                </a:tc>
              </a:tr>
              <a:tr h="316523">
                <a:tc>
                  <a:txBody>
                    <a:bodyPr/>
                    <a:lstStyle/>
                    <a:p>
                      <a:pPr algn="l"/>
                      <a:r>
                        <a:rPr sz="1300" b="0">
                          <a:solidFill>
                            <a:srgbClr val="52514E"/>
                          </a:solidFill>
                          <a:latin typeface="Calibri"/>
                        </a:rPr>
                        <a:t>replay</a:t>
                      </a:r>
                    </a:p>
                  </a:txBody>
                  <a:tcPr marL="91440" marR="91440" marT="27432" marB="27432">
                    <a:solidFill>
                      <a:srgbClr val="FFFFFF"/>
                    </a:solidFill>
                  </a:tcPr>
                </a:tc>
                <a:tc>
                  <a:txBody>
                    <a:bodyPr/>
                    <a:lstStyle/>
                    <a:p>
                      <a:pPr algn="ctr"/>
                      <a:r>
                        <a:rPr sz="1300" b="0">
                          <a:solidFill>
                            <a:srgbClr val="52514E"/>
                          </a:solidFill>
                          <a:latin typeface="Calibri"/>
                        </a:rPr>
                        <a:t>0.002</a:t>
                      </a:r>
                    </a:p>
                  </a:txBody>
                  <a:tcPr marL="91440" marR="91440" marT="27432" marB="27432">
                    <a:solidFill>
                      <a:srgbClr val="FFFFFF"/>
                    </a:solidFill>
                  </a:tcPr>
                </a:tc>
                <a:tc>
                  <a:txBody>
                    <a:bodyPr/>
                    <a:lstStyle/>
                    <a:p>
                      <a:pPr algn="ctr"/>
                      <a:r>
                        <a:rPr sz="1300" b="0">
                          <a:solidFill>
                            <a:srgbClr val="52514E"/>
                          </a:solidFill>
                          <a:latin typeface="Calibri"/>
                        </a:rPr>
                        <a:t>0.023</a:t>
                      </a:r>
                    </a:p>
                  </a:txBody>
                  <a:tcPr marL="91440" marR="91440" marT="27432" marB="27432">
                    <a:solidFill>
                      <a:srgbClr val="FFFFFF"/>
                    </a:solidFill>
                  </a:tcPr>
                </a:tc>
                <a:tc>
                  <a:txBody>
                    <a:bodyPr/>
                    <a:lstStyle/>
                    <a:p>
                      <a:pPr algn="ctr"/>
                      <a:r>
                        <a:rPr sz="1300" b="0">
                          <a:solidFill>
                            <a:srgbClr val="52514E"/>
                          </a:solidFill>
                          <a:latin typeface="Calibri"/>
                        </a:rPr>
                        <a:t>0.019</a:t>
                      </a:r>
                    </a:p>
                  </a:txBody>
                  <a:tcPr marL="91440" marR="91440" marT="27432" marB="27432">
                    <a:solidFill>
                      <a:srgbClr val="FFFFFF"/>
                    </a:solidFill>
                  </a:tcPr>
                </a:tc>
                <a:tc>
                  <a:txBody>
                    <a:bodyPr/>
                    <a:lstStyle/>
                    <a:p>
                      <a:pPr algn="ctr"/>
                      <a:r>
                        <a:rPr sz="1300" b="0">
                          <a:solidFill>
                            <a:srgbClr val="52514E"/>
                          </a:solidFill>
                          <a:latin typeface="Calibri"/>
                        </a:rPr>
                        <a:t>0.006</a:t>
                      </a:r>
                    </a:p>
                  </a:txBody>
                  <a:tcPr marL="91440" marR="91440" marT="27432" marB="27432">
                    <a:solidFill>
                      <a:srgbClr val="FFFFFF"/>
                    </a:solidFill>
                  </a:tcPr>
                </a:tc>
              </a:tr>
              <a:tr h="316523">
                <a:tc>
                  <a:txBody>
                    <a:bodyPr/>
                    <a:lstStyle/>
                    <a:p>
                      <a:pPr algn="l"/>
                      <a:r>
                        <a:rPr sz="1300" b="0">
                          <a:solidFill>
                            <a:srgbClr val="52514E"/>
                          </a:solidFill>
                          <a:latin typeface="Calibri"/>
                        </a:rPr>
                        <a:t>sleep</a:t>
                      </a:r>
                    </a:p>
                  </a:txBody>
                  <a:tcPr marL="91440" marR="91440" marT="27432" marB="27432">
                    <a:solidFill>
                      <a:srgbClr val="FFFFFF"/>
                    </a:solidFill>
                  </a:tcPr>
                </a:tc>
                <a:tc>
                  <a:txBody>
                    <a:bodyPr/>
                    <a:lstStyle/>
                    <a:p>
                      <a:pPr algn="ctr"/>
                      <a:r>
                        <a:rPr sz="1300" b="0">
                          <a:solidFill>
                            <a:srgbClr val="52514E"/>
                          </a:solidFill>
                          <a:latin typeface="Calibri"/>
                        </a:rPr>
                        <a:t>0.001</a:t>
                      </a:r>
                    </a:p>
                  </a:txBody>
                  <a:tcPr marL="91440" marR="91440" marT="27432" marB="27432">
                    <a:solidFill>
                      <a:srgbClr val="FFFFFF"/>
                    </a:solidFill>
                  </a:tcPr>
                </a:tc>
                <a:tc>
                  <a:txBody>
                    <a:bodyPr/>
                    <a:lstStyle/>
                    <a:p>
                      <a:pPr algn="ctr"/>
                      <a:r>
                        <a:rPr sz="1300" b="0">
                          <a:solidFill>
                            <a:srgbClr val="52514E"/>
                          </a:solidFill>
                          <a:latin typeface="Calibri"/>
                        </a:rPr>
                        <a:t>0.006</a:t>
                      </a:r>
                    </a:p>
                  </a:txBody>
                  <a:tcPr marL="91440" marR="91440" marT="27432" marB="27432">
                    <a:solidFill>
                      <a:srgbClr val="FFFFFF"/>
                    </a:solidFill>
                  </a:tcPr>
                </a:tc>
                <a:tc>
                  <a:txBody>
                    <a:bodyPr/>
                    <a:lstStyle/>
                    <a:p>
                      <a:pPr algn="ctr"/>
                      <a:r>
                        <a:rPr sz="1300" b="0">
                          <a:solidFill>
                            <a:srgbClr val="52514E"/>
                          </a:solidFill>
                          <a:latin typeface="Calibri"/>
                        </a:rPr>
                        <a:t>0.006</a:t>
                      </a:r>
                    </a:p>
                  </a:txBody>
                  <a:tcPr marL="91440" marR="91440" marT="27432" marB="27432">
                    <a:solidFill>
                      <a:srgbClr val="FFFFFF"/>
                    </a:solidFill>
                  </a:tcPr>
                </a:tc>
                <a:tc>
                  <a:txBody>
                    <a:bodyPr/>
                    <a:lstStyle/>
                    <a:p>
                      <a:pPr algn="ctr"/>
                      <a:r>
                        <a:rPr sz="1300" b="0">
                          <a:solidFill>
                            <a:srgbClr val="52514E"/>
                          </a:solidFill>
                          <a:latin typeface="Calibri"/>
                        </a:rPr>
                        <a:t>0.003</a:t>
                      </a:r>
                    </a:p>
                  </a:txBody>
                  <a:tcPr marL="91440" marR="91440" marT="27432" marB="27432">
                    <a:solidFill>
                      <a:srgbClr val="FFFFFF"/>
                    </a:solidFill>
                  </a:tcPr>
                </a:tc>
              </a:tr>
              <a:tr h="316524">
                <a:tc>
                  <a:txBody>
                    <a:bodyPr/>
                    <a:lstStyle/>
                    <a:p>
                      <a:pPr algn="l"/>
                      <a:r>
                        <a:rPr sz="1300" b="0">
                          <a:solidFill>
                            <a:srgbClr val="52514E"/>
                          </a:solidFill>
                          <a:latin typeface="Calibri"/>
                        </a:rPr>
                        <a:t>sleep, matched</a:t>
                      </a:r>
                    </a:p>
                  </a:txBody>
                  <a:tcPr marL="91440" marR="91440" marT="27432" marB="27432">
                    <a:solidFill>
                      <a:srgbClr val="FFFFFF"/>
                    </a:solidFill>
                  </a:tcPr>
                </a:tc>
                <a:tc>
                  <a:txBody>
                    <a:bodyPr/>
                    <a:lstStyle/>
                    <a:p>
                      <a:pPr algn="ctr"/>
                      <a:r>
                        <a:rPr sz="1300" b="0">
                          <a:solidFill>
                            <a:srgbClr val="52514E"/>
                          </a:solidFill>
                          <a:latin typeface="Calibri"/>
                        </a:rPr>
                        <a:t>–</a:t>
                      </a:r>
                    </a:p>
                  </a:txBody>
                  <a:tcPr marL="91440" marR="91440" marT="27432" marB="27432">
                    <a:solidFill>
                      <a:srgbClr val="FFFFFF"/>
                    </a:solidFill>
                  </a:tcPr>
                </a:tc>
                <a:tc>
                  <a:txBody>
                    <a:bodyPr/>
                    <a:lstStyle/>
                    <a:p>
                      <a:pPr algn="ctr"/>
                      <a:r>
                        <a:rPr sz="1300" b="0">
                          <a:solidFill>
                            <a:srgbClr val="52514E"/>
                          </a:solidFill>
                          <a:latin typeface="Calibri"/>
                        </a:rPr>
                        <a:t>–</a:t>
                      </a:r>
                    </a:p>
                  </a:txBody>
                  <a:tcPr marL="91440" marR="91440" marT="27432" marB="27432">
                    <a:solidFill>
                      <a:srgbClr val="FFFFFF"/>
                    </a:solidFill>
                  </a:tcPr>
                </a:tc>
                <a:tc>
                  <a:txBody>
                    <a:bodyPr/>
                    <a:lstStyle/>
                    <a:p>
                      <a:pPr algn="ctr"/>
                      <a:r>
                        <a:rPr sz="1300" b="0">
                          <a:solidFill>
                            <a:srgbClr val="52514E"/>
                          </a:solidFill>
                          <a:latin typeface="Calibri"/>
                        </a:rPr>
                        <a:t>0.020</a:t>
                      </a:r>
                    </a:p>
                  </a:txBody>
                  <a:tcPr marL="91440" marR="91440" marT="27432" marB="27432">
                    <a:solidFill>
                      <a:srgbClr val="FFFFFF"/>
                    </a:solidFill>
                  </a:tcPr>
                </a:tc>
                <a:tc>
                  <a:txBody>
                    <a:bodyPr/>
                    <a:lstStyle/>
                    <a:p>
                      <a:pPr algn="ctr"/>
                      <a:r>
                        <a:rPr sz="1300" b="0">
                          <a:solidFill>
                            <a:srgbClr val="52514E"/>
                          </a:solidFill>
                          <a:latin typeface="Calibri"/>
                        </a:rPr>
                        <a:t>–</a:t>
                      </a:r>
                    </a:p>
                  </a:txBody>
                  <a:tcPr marL="91440" marR="91440" marT="27432" marB="27432">
                    <a:solidFill>
                      <a:srgbClr val="FFFFFF"/>
                    </a:solidFill>
                  </a:tcPr>
                </a:tc>
              </a:tr>
            </a:tbl>
          </a:graphicData>
        </a:graphic>
      </p:graphicFrame>
      <p:sp>
        <p:nvSpPr>
          <p:cNvPr id="5" name="TextBox 4"/>
          <p:cNvSpPr txBox="1"/>
          <p:nvPr/>
        </p:nvSpPr>
        <p:spPr>
          <a:xfrm>
            <a:off x="548640" y="6035040"/>
            <a:ext cx="11094415" cy="365760"/>
          </a:xfrm>
          <a:prstGeom prst="rect">
            <a:avLst/>
          </a:prstGeom>
          <a:noFill/>
        </p:spPr>
        <p:txBody>
          <a:bodyPr wrap="square" anchor="t" lIns="0" rIns="0" tIns="0" bIns="0">
            <a:spAutoFit/>
          </a:bodyPr>
          <a:lstStyle/>
          <a:p>
            <a:pPr algn="l"/>
            <a:r>
              <a:rPr sz="1200" b="0" i="0">
                <a:solidFill>
                  <a:srgbClr val="85837D"/>
                </a:solidFill>
                <a:latin typeface="Calibri"/>
              </a:rPr>
              <a:t>Seeds: 3 per arm, except SNN+Transformer (replay 8, sleep 6, sleep matched 8). Paper Table 3.</a:t>
            </a:r>
          </a:p>
        </p:txBody>
      </p:sp>
      <p:sp>
        <p:nvSpPr>
          <p:cNvPr id="6" name="TextBox 5"/>
          <p:cNvSpPr txBox="1"/>
          <p:nvPr/>
        </p:nvSpPr>
        <p:spPr>
          <a:xfrm>
            <a:off x="548640" y="6446520"/>
            <a:ext cx="5486400" cy="274320"/>
          </a:xfrm>
          <a:prstGeom prst="rect">
            <a:avLst/>
          </a:prstGeom>
          <a:noFill/>
        </p:spPr>
        <p:txBody>
          <a:bodyPr wrap="square" anchor="t" lIns="0" rIns="0" tIns="0" bIns="0">
            <a:spAutoFit/>
          </a:bodyPr>
          <a:lstStyle/>
          <a:p>
            <a:pPr algn="l"/>
            <a:r>
              <a:rPr sz="1000" b="0" i="0">
                <a:solidFill>
                  <a:srgbClr val="85837D"/>
                </a:solidFill>
                <a:latin typeface="Calibri"/>
              </a:rPr>
              <a:t>NeuroPlast · final review</a:t>
            </a:r>
          </a:p>
        </p:txBody>
      </p:sp>
      <p:sp>
        <p:nvSpPr>
          <p:cNvPr id="7" name="TextBox 6"/>
          <p:cNvSpPr txBox="1"/>
          <p:nvPr/>
        </p:nvSpPr>
        <p:spPr>
          <a:xfrm>
            <a:off x="9814255" y="6446520"/>
            <a:ext cx="1828800" cy="274320"/>
          </a:xfrm>
          <a:prstGeom prst="rect">
            <a:avLst/>
          </a:prstGeom>
          <a:noFill/>
        </p:spPr>
        <p:txBody>
          <a:bodyPr wrap="square" anchor="t" lIns="0" rIns="0" tIns="0" bIns="0">
            <a:spAutoFit/>
          </a:bodyPr>
          <a:lstStyle/>
          <a:p>
            <a:pPr algn="r"/>
            <a:r>
              <a:rPr sz="1000" b="0" i="0">
                <a:solidFill>
                  <a:srgbClr val="85837D"/>
                </a:solidFill>
                <a:latin typeface="Calibri"/>
              </a:rPr>
              <a:t>B1 / 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320040"/>
          </a:xfrm>
          <a:prstGeom prst="rect">
            <a:avLst/>
          </a:prstGeom>
          <a:noFill/>
        </p:spPr>
        <p:txBody>
          <a:bodyPr wrap="square" anchor="t" lIns="0" rIns="0" tIns="0" bIns="0">
            <a:spAutoFit/>
          </a:bodyPr>
          <a:lstStyle/>
          <a:p>
            <a:pPr algn="l"/>
            <a:r>
              <a:rPr sz="1200" b="1" i="0">
                <a:solidFill>
                  <a:srgbClr val="2A78D6"/>
                </a:solidFill>
                <a:latin typeface="Calibri"/>
              </a:rPr>
              <a:t>BACKUP</a:t>
            </a:r>
          </a:p>
        </p:txBody>
      </p:sp>
      <p:sp>
        <p:nvSpPr>
          <p:cNvPr id="3" name="TextBox 2"/>
          <p:cNvSpPr txBox="1"/>
          <p:nvPr/>
        </p:nvSpPr>
        <p:spPr>
          <a:xfrm>
            <a:off x="548640" y="740664"/>
            <a:ext cx="11094415" cy="822960"/>
          </a:xfrm>
          <a:prstGeom prst="rect">
            <a:avLst/>
          </a:prstGeom>
          <a:noFill/>
        </p:spPr>
        <p:txBody>
          <a:bodyPr wrap="square" anchor="t" lIns="0" rIns="0" tIns="0" bIns="0">
            <a:spAutoFit/>
          </a:bodyPr>
          <a:lstStyle/>
          <a:p>
            <a:pPr algn="l"/>
            <a:r>
              <a:rPr sz="3000" b="1" i="0">
                <a:solidFill>
                  <a:srgbClr val="151514"/>
                </a:solidFill>
                <a:latin typeface="Cambria"/>
              </a:rPr>
              <a:t>Backup: pre-registered local-plasticity contrasts</a:t>
            </a:r>
          </a:p>
        </p:txBody>
      </p:sp>
      <p:graphicFrame>
        <p:nvGraphicFramePr>
          <p:cNvPr id="4" name="Table 3"/>
          <p:cNvGraphicFramePr>
            <a:graphicFrameLocks noGrp="1"/>
          </p:cNvGraphicFramePr>
          <p:nvPr/>
        </p:nvGraphicFramePr>
        <p:xfrm>
          <a:off x="548640" y="1828800"/>
          <a:ext cx="11094415" cy="3017520"/>
        </p:xfrm>
        <a:graphic>
          <a:graphicData uri="http://schemas.openxmlformats.org/drawingml/2006/table">
            <a:tbl>
              <a:tblPr firstRow="1" bandRow="1">
                <a:tableStyleId>{5C22544A-7EE6-4342-B048-85BDC9FD1C3A}</a:tableStyleId>
              </a:tblPr>
              <a:tblGrid>
                <a:gridCol w="3108960"/>
                <a:gridCol w="2194560"/>
                <a:gridCol w="1737360"/>
                <a:gridCol w="2194560"/>
                <a:gridCol w="1858975"/>
              </a:tblGrid>
              <a:tr h="502920">
                <a:tc>
                  <a:txBody>
                    <a:bodyPr/>
                    <a:lstStyle/>
                    <a:p>
                      <a:pPr algn="l"/>
                      <a:r>
                        <a:rPr sz="1300" b="1">
                          <a:solidFill>
                            <a:srgbClr val="151514"/>
                          </a:solidFill>
                          <a:latin typeface="Calibri"/>
                        </a:rPr>
                        <a:t>Contrast</a:t>
                      </a:r>
                    </a:p>
                  </a:txBody>
                  <a:tcPr>
                    <a:solidFill>
                      <a:srgbClr val="EBEAE4"/>
                    </a:solidFill>
                  </a:tcPr>
                </a:tc>
                <a:tc>
                  <a:txBody>
                    <a:bodyPr/>
                    <a:lstStyle/>
                    <a:p>
                      <a:pPr algn="ctr"/>
                      <a:r>
                        <a:rPr sz="1300" b="1">
                          <a:solidFill>
                            <a:srgbClr val="151514"/>
                          </a:solidFill>
                          <a:latin typeface="Calibri"/>
                        </a:rPr>
                        <a:t>Δ solve rate [95% CI]</a:t>
                      </a:r>
                    </a:p>
                  </a:txBody>
                  <a:tcPr>
                    <a:solidFill>
                      <a:srgbClr val="EBEAE4"/>
                    </a:solidFill>
                  </a:tcPr>
                </a:tc>
                <a:tc>
                  <a:txBody>
                    <a:bodyPr/>
                    <a:lstStyle/>
                    <a:p>
                      <a:pPr algn="ctr"/>
                      <a:r>
                        <a:rPr sz="1300" b="1">
                          <a:solidFill>
                            <a:srgbClr val="151514"/>
                          </a:solidFill>
                          <a:latin typeface="Calibri"/>
                        </a:rPr>
                        <a:t>Fisher p (Holm)</a:t>
                      </a:r>
                    </a:p>
                  </a:txBody>
                  <a:tcPr>
                    <a:solidFill>
                      <a:srgbClr val="EBEAE4"/>
                    </a:solidFill>
                  </a:tcPr>
                </a:tc>
                <a:tc>
                  <a:txBody>
                    <a:bodyPr/>
                    <a:lstStyle/>
                    <a:p>
                      <a:pPr algn="ctr"/>
                      <a:r>
                        <a:rPr sz="1300" b="1">
                          <a:solidFill>
                            <a:srgbClr val="151514"/>
                          </a:solidFill>
                          <a:latin typeface="Calibri"/>
                        </a:rPr>
                        <a:t>Δ AUC [95% CI]</a:t>
                      </a:r>
                    </a:p>
                  </a:txBody>
                  <a:tcPr>
                    <a:solidFill>
                      <a:srgbClr val="EBEAE4"/>
                    </a:solidFill>
                  </a:tcPr>
                </a:tc>
                <a:tc>
                  <a:txBody>
                    <a:bodyPr/>
                    <a:lstStyle/>
                    <a:p>
                      <a:pPr algn="ctr"/>
                      <a:r>
                        <a:rPr sz="1300" b="1">
                          <a:solidFill>
                            <a:srgbClr val="151514"/>
                          </a:solidFill>
                          <a:latin typeface="Calibri"/>
                        </a:rPr>
                        <a:t>Welch p (Holm)</a:t>
                      </a:r>
                    </a:p>
                  </a:txBody>
                  <a:tcPr>
                    <a:solidFill>
                      <a:srgbClr val="EBEAE4"/>
                    </a:solidFill>
                  </a:tcPr>
                </a:tc>
              </a:tr>
              <a:tr h="502920">
                <a:tc>
                  <a:txBody>
                    <a:bodyPr/>
                    <a:lstStyle/>
                    <a:p>
                      <a:pPr algn="l"/>
                      <a:r>
                        <a:rPr sz="1300" b="0">
                          <a:solidFill>
                            <a:srgbClr val="52514E"/>
                          </a:solidFill>
                          <a:latin typeface="Calibri"/>
                        </a:rPr>
                        <a:t>STDP vs homeostasis alone</a:t>
                      </a:r>
                    </a:p>
                  </a:txBody>
                  <a:tcPr>
                    <a:solidFill>
                      <a:srgbClr val="FFFFFF"/>
                    </a:solidFill>
                  </a:tcPr>
                </a:tc>
                <a:tc>
                  <a:txBody>
                    <a:bodyPr/>
                    <a:lstStyle/>
                    <a:p>
                      <a:pPr algn="ctr"/>
                      <a:r>
                        <a:rPr sz="1300" b="0">
                          <a:solidFill>
                            <a:srgbClr val="52514E"/>
                          </a:solidFill>
                          <a:latin typeface="Calibri"/>
                        </a:rPr>
                        <a:t>−0.20 [−0.51, +0.11]</a:t>
                      </a:r>
                    </a:p>
                  </a:txBody>
                  <a:tcPr>
                    <a:solidFill>
                      <a:srgbClr val="FFFFFF"/>
                    </a:solidFill>
                  </a:tcPr>
                </a:tc>
                <a:tc>
                  <a:txBody>
                    <a:bodyPr/>
                    <a:lstStyle/>
                    <a:p>
                      <a:pPr algn="ctr"/>
                      <a:r>
                        <a:rPr sz="1300" b="0">
                          <a:solidFill>
                            <a:srgbClr val="52514E"/>
                          </a:solidFill>
                          <a:latin typeface="Calibri"/>
                        </a:rPr>
                        <a:t>0.474 (1.000)</a:t>
                      </a:r>
                    </a:p>
                  </a:txBody>
                  <a:tcPr>
                    <a:solidFill>
                      <a:srgbClr val="FFFFFF"/>
                    </a:solidFill>
                  </a:tcPr>
                </a:tc>
                <a:tc>
                  <a:txBody>
                    <a:bodyPr/>
                    <a:lstStyle/>
                    <a:p>
                      <a:pPr algn="ctr"/>
                      <a:r>
                        <a:rPr sz="1300" b="0">
                          <a:solidFill>
                            <a:srgbClr val="52514E"/>
                          </a:solidFill>
                          <a:latin typeface="Calibri"/>
                        </a:rPr>
                        <a:t>−0.101 [−0.323, +0.121]</a:t>
                      </a:r>
                    </a:p>
                  </a:txBody>
                  <a:tcPr>
                    <a:solidFill>
                      <a:srgbClr val="FFFFFF"/>
                    </a:solidFill>
                  </a:tcPr>
                </a:tc>
                <a:tc>
                  <a:txBody>
                    <a:bodyPr/>
                    <a:lstStyle/>
                    <a:p>
                      <a:pPr algn="ctr"/>
                      <a:r>
                        <a:rPr sz="1300" b="0">
                          <a:solidFill>
                            <a:srgbClr val="52514E"/>
                          </a:solidFill>
                          <a:latin typeface="Calibri"/>
                        </a:rPr>
                        <a:t>0.338 (0.724)</a:t>
                      </a:r>
                    </a:p>
                  </a:txBody>
                  <a:tcPr>
                    <a:solidFill>
                      <a:srgbClr val="FFFFFF"/>
                    </a:solidFill>
                  </a:tcPr>
                </a:tc>
              </a:tr>
              <a:tr h="502920">
                <a:tc>
                  <a:txBody>
                    <a:bodyPr/>
                    <a:lstStyle/>
                    <a:p>
                      <a:pPr algn="l"/>
                      <a:r>
                        <a:rPr sz="1300" b="0">
                          <a:solidFill>
                            <a:srgbClr val="52514E"/>
                          </a:solidFill>
                          <a:latin typeface="Calibri"/>
                        </a:rPr>
                        <a:t>STDP vs matched random</a:t>
                      </a:r>
                    </a:p>
                  </a:txBody>
                  <a:tcPr>
                    <a:solidFill>
                      <a:srgbClr val="FFFFFF"/>
                    </a:solidFill>
                  </a:tcPr>
                </a:tc>
                <a:tc>
                  <a:txBody>
                    <a:bodyPr/>
                    <a:lstStyle/>
                    <a:p>
                      <a:pPr algn="ctr"/>
                      <a:r>
                        <a:rPr sz="1300" b="0">
                          <a:solidFill>
                            <a:srgbClr val="52514E"/>
                          </a:solidFill>
                          <a:latin typeface="Calibri"/>
                        </a:rPr>
                        <a:t>+0.00 [−0.34, +0.34]</a:t>
                      </a:r>
                    </a:p>
                  </a:txBody>
                  <a:tcPr>
                    <a:solidFill>
                      <a:srgbClr val="FFFFFF"/>
                    </a:solidFill>
                  </a:tcPr>
                </a:tc>
                <a:tc>
                  <a:txBody>
                    <a:bodyPr/>
                    <a:lstStyle/>
                    <a:p>
                      <a:pPr algn="ctr"/>
                      <a:r>
                        <a:rPr sz="1300" b="0">
                          <a:solidFill>
                            <a:srgbClr val="52514E"/>
                          </a:solidFill>
                          <a:latin typeface="Calibri"/>
                        </a:rPr>
                        <a:t>1.000 (1.000)</a:t>
                      </a:r>
                    </a:p>
                  </a:txBody>
                  <a:tcPr>
                    <a:solidFill>
                      <a:srgbClr val="FFFFFF"/>
                    </a:solidFill>
                  </a:tcPr>
                </a:tc>
                <a:tc>
                  <a:txBody>
                    <a:bodyPr/>
                    <a:lstStyle/>
                    <a:p>
                      <a:pPr algn="ctr"/>
                      <a:r>
                        <a:rPr sz="1300" b="0">
                          <a:solidFill>
                            <a:srgbClr val="52514E"/>
                          </a:solidFill>
                          <a:latin typeface="Calibri"/>
                        </a:rPr>
                        <a:t>+0.033 [−0.260, +0.326]</a:t>
                      </a:r>
                    </a:p>
                  </a:txBody>
                  <a:tcPr>
                    <a:solidFill>
                      <a:srgbClr val="FFFFFF"/>
                    </a:solidFill>
                  </a:tcPr>
                </a:tc>
                <a:tc>
                  <a:txBody>
                    <a:bodyPr/>
                    <a:lstStyle/>
                    <a:p>
                      <a:pPr algn="ctr"/>
                      <a:r>
                        <a:rPr sz="1300" b="0">
                          <a:solidFill>
                            <a:srgbClr val="52514E"/>
                          </a:solidFill>
                          <a:latin typeface="Calibri"/>
                        </a:rPr>
                        <a:t>0.818 (0.818)</a:t>
                      </a:r>
                    </a:p>
                  </a:txBody>
                  <a:tcPr>
                    <a:solidFill>
                      <a:srgbClr val="FFFFFF"/>
                    </a:solidFill>
                  </a:tcPr>
                </a:tc>
              </a:tr>
              <a:tr h="502920">
                <a:tc>
                  <a:txBody>
                    <a:bodyPr/>
                    <a:lstStyle/>
                    <a:p>
                      <a:pPr algn="l"/>
                      <a:r>
                        <a:rPr sz="1300" b="0">
                          <a:solidFill>
                            <a:srgbClr val="52514E"/>
                          </a:solidFill>
                          <a:latin typeface="Calibri"/>
                        </a:rPr>
                        <a:t>homeostasis vs backprop</a:t>
                      </a:r>
                    </a:p>
                  </a:txBody>
                  <a:tcPr>
                    <a:solidFill>
                      <a:srgbClr val="FFFFFF"/>
                    </a:solidFill>
                  </a:tcPr>
                </a:tc>
                <a:tc>
                  <a:txBody>
                    <a:bodyPr/>
                    <a:lstStyle/>
                    <a:p>
                      <a:pPr algn="ctr"/>
                      <a:r>
                        <a:rPr sz="1300" b="0">
                          <a:solidFill>
                            <a:srgbClr val="52514E"/>
                          </a:solidFill>
                          <a:latin typeface="Calibri"/>
                        </a:rPr>
                        <a:t>+0.20 [−0.11, +0.51]</a:t>
                      </a:r>
                    </a:p>
                  </a:txBody>
                  <a:tcPr>
                    <a:solidFill>
                      <a:srgbClr val="FFFFFF"/>
                    </a:solidFill>
                  </a:tcPr>
                </a:tc>
                <a:tc>
                  <a:txBody>
                    <a:bodyPr/>
                    <a:lstStyle/>
                    <a:p>
                      <a:pPr algn="ctr"/>
                      <a:r>
                        <a:rPr sz="1300" b="0">
                          <a:solidFill>
                            <a:srgbClr val="52514E"/>
                          </a:solidFill>
                          <a:latin typeface="Calibri"/>
                        </a:rPr>
                        <a:t>0.474 (1.000)</a:t>
                      </a:r>
                    </a:p>
                  </a:txBody>
                  <a:tcPr>
                    <a:solidFill>
                      <a:srgbClr val="FFFFFF"/>
                    </a:solidFill>
                  </a:tcPr>
                </a:tc>
                <a:tc>
                  <a:txBody>
                    <a:bodyPr/>
                    <a:lstStyle/>
                    <a:p>
                      <a:pPr algn="ctr"/>
                      <a:r>
                        <a:rPr sz="1300" b="0">
                          <a:solidFill>
                            <a:srgbClr val="52514E"/>
                          </a:solidFill>
                          <a:latin typeface="Calibri"/>
                        </a:rPr>
                        <a:t>+0.200 [+0.024, +0.377]</a:t>
                      </a:r>
                    </a:p>
                  </a:txBody>
                  <a:tcPr>
                    <a:solidFill>
                      <a:srgbClr val="FFFFFF"/>
                    </a:solidFill>
                  </a:tcPr>
                </a:tc>
                <a:tc>
                  <a:txBody>
                    <a:bodyPr/>
                    <a:lstStyle/>
                    <a:p>
                      <a:pPr algn="ctr"/>
                      <a:r>
                        <a:rPr sz="1300" b="0">
                          <a:solidFill>
                            <a:srgbClr val="52514E"/>
                          </a:solidFill>
                          <a:latin typeface="Calibri"/>
                        </a:rPr>
                        <a:t>0.029 (0.117)</a:t>
                      </a:r>
                    </a:p>
                  </a:txBody>
                  <a:tcPr>
                    <a:solidFill>
                      <a:srgbClr val="FFFFFF"/>
                    </a:solidFill>
                  </a:tcPr>
                </a:tc>
              </a:tr>
              <a:tr h="502920">
                <a:tc>
                  <a:txBody>
                    <a:bodyPr/>
                    <a:lstStyle/>
                    <a:p>
                      <a:pPr algn="l"/>
                      <a:r>
                        <a:rPr sz="1300" b="0">
                          <a:solidFill>
                            <a:srgbClr val="52514E"/>
                          </a:solidFill>
                          <a:latin typeface="Calibri"/>
                        </a:rPr>
                        <a:t>random vs homeostasis</a:t>
                      </a:r>
                    </a:p>
                  </a:txBody>
                  <a:tcPr>
                    <a:solidFill>
                      <a:srgbClr val="FFFFFF"/>
                    </a:solidFill>
                  </a:tcPr>
                </a:tc>
                <a:tc>
                  <a:txBody>
                    <a:bodyPr/>
                    <a:lstStyle/>
                    <a:p>
                      <a:pPr algn="ctr"/>
                      <a:r>
                        <a:rPr sz="1300" b="0">
                          <a:solidFill>
                            <a:srgbClr val="52514E"/>
                          </a:solidFill>
                          <a:latin typeface="Calibri"/>
                        </a:rPr>
                        <a:t>−0.20 [−0.51, +0.11]</a:t>
                      </a:r>
                    </a:p>
                  </a:txBody>
                  <a:tcPr>
                    <a:solidFill>
                      <a:srgbClr val="FFFFFF"/>
                    </a:solidFill>
                  </a:tcPr>
                </a:tc>
                <a:tc>
                  <a:txBody>
                    <a:bodyPr/>
                    <a:lstStyle/>
                    <a:p>
                      <a:pPr algn="ctr"/>
                      <a:r>
                        <a:rPr sz="1300" b="0">
                          <a:solidFill>
                            <a:srgbClr val="52514E"/>
                          </a:solidFill>
                          <a:latin typeface="Calibri"/>
                        </a:rPr>
                        <a:t>0.474 (1.000)</a:t>
                      </a:r>
                    </a:p>
                  </a:txBody>
                  <a:tcPr>
                    <a:solidFill>
                      <a:srgbClr val="FFFFFF"/>
                    </a:solidFill>
                  </a:tcPr>
                </a:tc>
                <a:tc>
                  <a:txBody>
                    <a:bodyPr/>
                    <a:lstStyle/>
                    <a:p>
                      <a:pPr algn="ctr"/>
                      <a:r>
                        <a:rPr sz="1300" b="0">
                          <a:solidFill>
                            <a:srgbClr val="52514E"/>
                          </a:solidFill>
                          <a:latin typeface="Calibri"/>
                        </a:rPr>
                        <a:t>−0.134 [−0.372, +0.104]</a:t>
                      </a:r>
                    </a:p>
                  </a:txBody>
                  <a:tcPr>
                    <a:solidFill>
                      <a:srgbClr val="FFFFFF"/>
                    </a:solidFill>
                  </a:tcPr>
                </a:tc>
                <a:tc>
                  <a:txBody>
                    <a:bodyPr/>
                    <a:lstStyle/>
                    <a:p>
                      <a:pPr algn="ctr"/>
                      <a:r>
                        <a:rPr sz="1300" b="0">
                          <a:solidFill>
                            <a:srgbClr val="52514E"/>
                          </a:solidFill>
                          <a:latin typeface="Calibri"/>
                        </a:rPr>
                        <a:t>0.241 (0.724)</a:t>
                      </a:r>
                    </a:p>
                  </a:txBody>
                  <a:tcPr>
                    <a:solidFill>
                      <a:srgbClr val="FFFFFF"/>
                    </a:solidFill>
                  </a:tcPr>
                </a:tc>
              </a:tr>
              <a:tr h="502920">
                <a:tc>
                  <a:txBody>
                    <a:bodyPr/>
                    <a:lstStyle/>
                    <a:p>
                      <a:pPr algn="l"/>
                      <a:r>
                        <a:rPr sz="1300" b="0">
                          <a:solidFill>
                            <a:srgbClr val="52514E"/>
                          </a:solidFill>
                          <a:latin typeface="Calibri"/>
                        </a:rPr>
                        <a:t>DFA + homeostasis vs DFA</a:t>
                      </a:r>
                    </a:p>
                  </a:txBody>
                  <a:tcPr>
                    <a:solidFill>
                      <a:srgbClr val="F4F4F1"/>
                    </a:solidFill>
                  </a:tcPr>
                </a:tc>
                <a:tc>
                  <a:txBody>
                    <a:bodyPr/>
                    <a:lstStyle/>
                    <a:p>
                      <a:pPr algn="ctr"/>
                      <a:r>
                        <a:rPr sz="1300" b="0">
                          <a:solidFill>
                            <a:srgbClr val="52514E"/>
                          </a:solidFill>
                          <a:latin typeface="Calibri"/>
                        </a:rPr>
                        <a:t>+0.50 [+0.07, +0.74]</a:t>
                      </a:r>
                    </a:p>
                  </a:txBody>
                  <a:tcPr>
                    <a:solidFill>
                      <a:srgbClr val="F4F4F1"/>
                    </a:solidFill>
                  </a:tcPr>
                </a:tc>
                <a:tc>
                  <a:txBody>
                    <a:bodyPr/>
                    <a:lstStyle/>
                    <a:p>
                      <a:pPr algn="ctr"/>
                      <a:r>
                        <a:rPr sz="1300" b="0">
                          <a:solidFill>
                            <a:srgbClr val="52514E"/>
                          </a:solidFill>
                          <a:latin typeface="Calibri"/>
                        </a:rPr>
                        <a:t>0.070 (0.070)</a:t>
                      </a:r>
                    </a:p>
                  </a:txBody>
                  <a:tcPr>
                    <a:solidFill>
                      <a:srgbClr val="F4F4F1"/>
                    </a:solidFill>
                  </a:tcPr>
                </a:tc>
                <a:tc>
                  <a:txBody>
                    <a:bodyPr/>
                    <a:lstStyle/>
                    <a:p>
                      <a:pPr algn="ctr"/>
                      <a:r>
                        <a:rPr sz="1300" b="0">
                          <a:solidFill>
                            <a:srgbClr val="52514E"/>
                          </a:solidFill>
                          <a:latin typeface="Calibri"/>
                        </a:rPr>
                        <a:t>+0.326 [+0.101, +0.551]</a:t>
                      </a:r>
                    </a:p>
                  </a:txBody>
                  <a:tcPr>
                    <a:solidFill>
                      <a:srgbClr val="F4F4F1"/>
                    </a:solidFill>
                  </a:tcPr>
                </a:tc>
                <a:tc>
                  <a:txBody>
                    <a:bodyPr/>
                    <a:lstStyle/>
                    <a:p>
                      <a:pPr algn="ctr"/>
                      <a:r>
                        <a:rPr sz="1300" b="0">
                          <a:solidFill>
                            <a:srgbClr val="52514E"/>
                          </a:solidFill>
                          <a:latin typeface="Calibri"/>
                        </a:rPr>
                        <a:t>0.009 (0.017)</a:t>
                      </a:r>
                    </a:p>
                  </a:txBody>
                  <a:tcPr>
                    <a:solidFill>
                      <a:srgbClr val="F4F4F1"/>
                    </a:solidFill>
                  </a:tcPr>
                </a:tc>
              </a:tr>
            </a:tbl>
          </a:graphicData>
        </a:graphic>
      </p:graphicFrame>
      <p:sp>
        <p:nvSpPr>
          <p:cNvPr id="5" name="TextBox 4"/>
          <p:cNvSpPr txBox="1"/>
          <p:nvPr/>
        </p:nvSpPr>
        <p:spPr>
          <a:xfrm>
            <a:off x="548640" y="5074920"/>
            <a:ext cx="11094415" cy="731520"/>
          </a:xfrm>
          <a:prstGeom prst="rect">
            <a:avLst/>
          </a:prstGeom>
          <a:noFill/>
        </p:spPr>
        <p:txBody>
          <a:bodyPr wrap="square" anchor="t" lIns="0" rIns="0" tIns="0" bIns="0">
            <a:spAutoFit/>
          </a:bodyPr>
          <a:lstStyle/>
          <a:p>
            <a:pPr algn="l"/>
            <a:r>
              <a:rPr sz="1200" b="0" i="0">
                <a:solidFill>
                  <a:srgbClr val="85837D"/>
                </a:solidFill>
                <a:latin typeface="Calibri"/>
              </a:rPr>
              <a:t>DoorKey-6x6, 10 seeds per arm. First four rows: one Holm family per statistic (backprop as the global signal). Last row: the DFA family (pre-registered separately). Newcombe CIs for solve rates, Welch for AUC.</a:t>
            </a:r>
          </a:p>
        </p:txBody>
      </p:sp>
      <p:sp>
        <p:nvSpPr>
          <p:cNvPr id="6" name="TextBox 5"/>
          <p:cNvSpPr txBox="1"/>
          <p:nvPr/>
        </p:nvSpPr>
        <p:spPr>
          <a:xfrm>
            <a:off x="548640" y="6446520"/>
            <a:ext cx="5486400" cy="274320"/>
          </a:xfrm>
          <a:prstGeom prst="rect">
            <a:avLst/>
          </a:prstGeom>
          <a:noFill/>
        </p:spPr>
        <p:txBody>
          <a:bodyPr wrap="square" anchor="t" lIns="0" rIns="0" tIns="0" bIns="0">
            <a:spAutoFit/>
          </a:bodyPr>
          <a:lstStyle/>
          <a:p>
            <a:pPr algn="l"/>
            <a:r>
              <a:rPr sz="1000" b="0" i="0">
                <a:solidFill>
                  <a:srgbClr val="85837D"/>
                </a:solidFill>
                <a:latin typeface="Calibri"/>
              </a:rPr>
              <a:t>NeuroPlast · final review</a:t>
            </a:r>
          </a:p>
        </p:txBody>
      </p:sp>
      <p:sp>
        <p:nvSpPr>
          <p:cNvPr id="7" name="TextBox 6"/>
          <p:cNvSpPr txBox="1"/>
          <p:nvPr/>
        </p:nvSpPr>
        <p:spPr>
          <a:xfrm>
            <a:off x="9814255" y="6446520"/>
            <a:ext cx="1828800" cy="274320"/>
          </a:xfrm>
          <a:prstGeom prst="rect">
            <a:avLst/>
          </a:prstGeom>
          <a:noFill/>
        </p:spPr>
        <p:txBody>
          <a:bodyPr wrap="square" anchor="t" lIns="0" rIns="0" tIns="0" bIns="0">
            <a:spAutoFit/>
          </a:bodyPr>
          <a:lstStyle/>
          <a:p>
            <a:pPr algn="r"/>
            <a:r>
              <a:rPr sz="1000" b="0" i="0">
                <a:solidFill>
                  <a:srgbClr val="85837D"/>
                </a:solidFill>
                <a:latin typeface="Calibri"/>
              </a:rPr>
              <a:t>B2 / 15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320040"/>
          </a:xfrm>
          <a:prstGeom prst="rect">
            <a:avLst/>
          </a:prstGeom>
          <a:noFill/>
        </p:spPr>
        <p:txBody>
          <a:bodyPr wrap="square" anchor="t" lIns="0" rIns="0" tIns="0" bIns="0">
            <a:spAutoFit/>
          </a:bodyPr>
          <a:lstStyle/>
          <a:p>
            <a:pPr algn="l"/>
            <a:r>
              <a:rPr sz="1200" b="1" i="0">
                <a:solidFill>
                  <a:srgbClr val="2A78D6"/>
                </a:solidFill>
                <a:latin typeface="Calibri"/>
              </a:rPr>
              <a:t>BACKUP</a:t>
            </a:r>
          </a:p>
        </p:txBody>
      </p:sp>
      <p:sp>
        <p:nvSpPr>
          <p:cNvPr id="3" name="TextBox 2"/>
          <p:cNvSpPr txBox="1"/>
          <p:nvPr/>
        </p:nvSpPr>
        <p:spPr>
          <a:xfrm>
            <a:off x="548640" y="740664"/>
            <a:ext cx="11094415" cy="822960"/>
          </a:xfrm>
          <a:prstGeom prst="rect">
            <a:avLst/>
          </a:prstGeom>
          <a:noFill/>
        </p:spPr>
        <p:txBody>
          <a:bodyPr wrap="square" anchor="t" lIns="0" rIns="0" tIns="0" bIns="0">
            <a:spAutoFit/>
          </a:bodyPr>
          <a:lstStyle/>
          <a:p>
            <a:pPr algn="l"/>
            <a:r>
              <a:rPr sz="3000" b="1" i="0">
                <a:solidFill>
                  <a:srgbClr val="151514"/>
                </a:solidFill>
                <a:latin typeface="Cambria"/>
              </a:rPr>
              <a:t>Backup: protocol constants</a:t>
            </a:r>
          </a:p>
        </p:txBody>
      </p:sp>
      <p:sp>
        <p:nvSpPr>
          <p:cNvPr id="4" name="Rounded Rectangle 3"/>
          <p:cNvSpPr/>
          <p:nvPr/>
        </p:nvSpPr>
        <p:spPr>
          <a:xfrm>
            <a:off x="548640" y="1783080"/>
            <a:ext cx="11094415" cy="457200"/>
          </a:xfrm>
          <a:prstGeom prst="roundRect">
            <a:avLst>
              <a:gd name="adj" fmla="val 20000"/>
            </a:avLst>
          </a:prstGeom>
          <a:solidFill>
            <a:srgbClr val="F4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31520" y="1783080"/>
            <a:ext cx="2377440" cy="457200"/>
          </a:xfrm>
          <a:prstGeom prst="rect">
            <a:avLst/>
          </a:prstGeom>
          <a:noFill/>
        </p:spPr>
        <p:txBody>
          <a:bodyPr wrap="square" anchor="ctr" lIns="0" rIns="0" tIns="0" bIns="0">
            <a:spAutoFit/>
          </a:bodyPr>
          <a:lstStyle/>
          <a:p>
            <a:pPr algn="l"/>
            <a:r>
              <a:rPr sz="1400" b="1" i="0">
                <a:solidFill>
                  <a:srgbClr val="151514"/>
                </a:solidFill>
                <a:latin typeface="Calibri"/>
              </a:rPr>
              <a:t>PPO</a:t>
            </a:r>
          </a:p>
        </p:txBody>
      </p:sp>
      <p:sp>
        <p:nvSpPr>
          <p:cNvPr id="6" name="TextBox 5"/>
          <p:cNvSpPr txBox="1"/>
          <p:nvPr/>
        </p:nvSpPr>
        <p:spPr>
          <a:xfrm>
            <a:off x="3017520" y="1783080"/>
            <a:ext cx="8534095" cy="457200"/>
          </a:xfrm>
          <a:prstGeom prst="rect">
            <a:avLst/>
          </a:prstGeom>
          <a:noFill/>
        </p:spPr>
        <p:txBody>
          <a:bodyPr wrap="square" anchor="ctr" lIns="0" rIns="0" tIns="0" bIns="0">
            <a:spAutoFit/>
          </a:bodyPr>
          <a:lstStyle/>
          <a:p>
            <a:pPr algn="l"/>
            <a:r>
              <a:rPr sz="1350" b="0" i="0">
                <a:solidFill>
                  <a:srgbClr val="52514E"/>
                </a:solidFill>
                <a:latin typeface="Calibri"/>
              </a:rPr>
              <a:t>16 envs × 128 steps, 4 epochs, minibatch 256, clip 0.2, γ = 0.99, GAE λ = 0.95, KL stop 0.03</a:t>
            </a:r>
          </a:p>
        </p:txBody>
      </p:sp>
      <p:sp>
        <p:nvSpPr>
          <p:cNvPr id="7" name="Rounded Rectangle 6"/>
          <p:cNvSpPr/>
          <p:nvPr/>
        </p:nvSpPr>
        <p:spPr>
          <a:xfrm>
            <a:off x="548640" y="2313432"/>
            <a:ext cx="11094415" cy="457200"/>
          </a:xfrm>
          <a:prstGeom prst="roundRect">
            <a:avLst>
              <a:gd name="adj" fmla="val 20000"/>
            </a:avLst>
          </a:prstGeom>
          <a:solidFill>
            <a:srgbClr val="FA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31520" y="2313432"/>
            <a:ext cx="2377440" cy="457200"/>
          </a:xfrm>
          <a:prstGeom prst="rect">
            <a:avLst/>
          </a:prstGeom>
          <a:noFill/>
        </p:spPr>
        <p:txBody>
          <a:bodyPr wrap="square" anchor="ctr" lIns="0" rIns="0" tIns="0" bIns="0">
            <a:spAutoFit/>
          </a:bodyPr>
          <a:lstStyle/>
          <a:p>
            <a:pPr algn="l"/>
            <a:r>
              <a:rPr sz="1400" b="1" i="0">
                <a:solidFill>
                  <a:srgbClr val="151514"/>
                </a:solidFill>
                <a:latin typeface="Calibri"/>
              </a:rPr>
              <a:t>Learning rate</a:t>
            </a:r>
          </a:p>
        </p:txBody>
      </p:sp>
      <p:sp>
        <p:nvSpPr>
          <p:cNvPr id="9" name="TextBox 8"/>
          <p:cNvSpPr txBox="1"/>
          <p:nvPr/>
        </p:nvSpPr>
        <p:spPr>
          <a:xfrm>
            <a:off x="3017520" y="2313432"/>
            <a:ext cx="8534095" cy="457200"/>
          </a:xfrm>
          <a:prstGeom prst="rect">
            <a:avLst/>
          </a:prstGeom>
          <a:noFill/>
        </p:spPr>
        <p:txBody>
          <a:bodyPr wrap="square" anchor="ctr" lIns="0" rIns="0" tIns="0" bIns="0">
            <a:spAutoFit/>
          </a:bodyPr>
          <a:lstStyle/>
          <a:p>
            <a:pPr algn="l"/>
            <a:r>
              <a:rPr sz="1350" b="0" i="0">
                <a:solidFill>
                  <a:srgbClr val="52514E"/>
                </a:solidFill>
                <a:latin typeface="Calibri"/>
              </a:rPr>
              <a:t>0.001 (CNN, SNN); 0.0003 (SNN+Transformer)</a:t>
            </a:r>
          </a:p>
        </p:txBody>
      </p:sp>
      <p:sp>
        <p:nvSpPr>
          <p:cNvPr id="10" name="Rounded Rectangle 9"/>
          <p:cNvSpPr/>
          <p:nvPr/>
        </p:nvSpPr>
        <p:spPr>
          <a:xfrm>
            <a:off x="548640" y="2843784"/>
            <a:ext cx="11094415" cy="457200"/>
          </a:xfrm>
          <a:prstGeom prst="roundRect">
            <a:avLst>
              <a:gd name="adj" fmla="val 20000"/>
            </a:avLst>
          </a:prstGeom>
          <a:solidFill>
            <a:srgbClr val="F4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31520" y="2843784"/>
            <a:ext cx="2377440" cy="457200"/>
          </a:xfrm>
          <a:prstGeom prst="rect">
            <a:avLst/>
          </a:prstGeom>
          <a:noFill/>
        </p:spPr>
        <p:txBody>
          <a:bodyPr wrap="square" anchor="ctr" lIns="0" rIns="0" tIns="0" bIns="0">
            <a:spAutoFit/>
          </a:bodyPr>
          <a:lstStyle/>
          <a:p>
            <a:pPr algn="l"/>
            <a:r>
              <a:rPr sz="1400" b="1" i="0">
                <a:solidFill>
                  <a:srgbClr val="151514"/>
                </a:solidFill>
                <a:latin typeface="Calibri"/>
              </a:rPr>
              <a:t>Frames per task</a:t>
            </a:r>
          </a:p>
        </p:txBody>
      </p:sp>
      <p:sp>
        <p:nvSpPr>
          <p:cNvPr id="12" name="TextBox 11"/>
          <p:cNvSpPr txBox="1"/>
          <p:nvPr/>
        </p:nvSpPr>
        <p:spPr>
          <a:xfrm>
            <a:off x="3017520" y="2843784"/>
            <a:ext cx="8534095" cy="457200"/>
          </a:xfrm>
          <a:prstGeom prst="rect">
            <a:avLst/>
          </a:prstGeom>
          <a:noFill/>
        </p:spPr>
        <p:txBody>
          <a:bodyPr wrap="square" anchor="ctr" lIns="0" rIns="0" tIns="0" bIns="0">
            <a:spAutoFit/>
          </a:bodyPr>
          <a:lstStyle/>
          <a:p>
            <a:pPr algn="l"/>
            <a:r>
              <a:rPr sz="1350" b="0" i="0">
                <a:solidFill>
                  <a:srgbClr val="52514E"/>
                </a:solidFill>
                <a:latin typeface="Calibri"/>
              </a:rPr>
              <a:t>150k (CNN, SNN); 400k (SNN+Transformer); 450k (5-task SNN, fair budget)</a:t>
            </a:r>
          </a:p>
        </p:txBody>
      </p:sp>
      <p:sp>
        <p:nvSpPr>
          <p:cNvPr id="13" name="Rounded Rectangle 12"/>
          <p:cNvSpPr/>
          <p:nvPr/>
        </p:nvSpPr>
        <p:spPr>
          <a:xfrm>
            <a:off x="548640" y="3374135"/>
            <a:ext cx="11094415" cy="457200"/>
          </a:xfrm>
          <a:prstGeom prst="roundRect">
            <a:avLst>
              <a:gd name="adj" fmla="val 20000"/>
            </a:avLst>
          </a:prstGeom>
          <a:solidFill>
            <a:srgbClr val="FA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31520" y="3374135"/>
            <a:ext cx="2377440" cy="457200"/>
          </a:xfrm>
          <a:prstGeom prst="rect">
            <a:avLst/>
          </a:prstGeom>
          <a:noFill/>
        </p:spPr>
        <p:txBody>
          <a:bodyPr wrap="square" anchor="ctr" lIns="0" rIns="0" tIns="0" bIns="0">
            <a:spAutoFit/>
          </a:bodyPr>
          <a:lstStyle/>
          <a:p>
            <a:pPr algn="l"/>
            <a:r>
              <a:rPr sz="1400" b="1" i="0">
                <a:solidFill>
                  <a:srgbClr val="151514"/>
                </a:solidFill>
                <a:latin typeface="Calibri"/>
              </a:rPr>
              <a:t>SNN</a:t>
            </a:r>
          </a:p>
        </p:txBody>
      </p:sp>
      <p:sp>
        <p:nvSpPr>
          <p:cNvPr id="15" name="TextBox 14"/>
          <p:cNvSpPr txBox="1"/>
          <p:nvPr/>
        </p:nvSpPr>
        <p:spPr>
          <a:xfrm>
            <a:off x="3017520" y="3374135"/>
            <a:ext cx="8534095" cy="457200"/>
          </a:xfrm>
          <a:prstGeom prst="rect">
            <a:avLst/>
          </a:prstGeom>
          <a:noFill/>
        </p:spPr>
        <p:txBody>
          <a:bodyPr wrap="square" anchor="ctr" lIns="0" rIns="0" tIns="0" bIns="0">
            <a:spAutoFit/>
          </a:bodyPr>
          <a:lstStyle/>
          <a:p>
            <a:pPr algn="l"/>
            <a:r>
              <a:rPr sz="1350" b="0" i="0">
                <a:solidFill>
                  <a:srgbClr val="52514E"/>
                </a:solidFill>
                <a:latin typeface="Calibri"/>
              </a:rPr>
              <a:t>4 time steps, learnable leak (init 0.9), surrogate slope 25, membrane reset each frame</a:t>
            </a:r>
          </a:p>
        </p:txBody>
      </p:sp>
      <p:sp>
        <p:nvSpPr>
          <p:cNvPr id="16" name="Rounded Rectangle 15"/>
          <p:cNvSpPr/>
          <p:nvPr/>
        </p:nvSpPr>
        <p:spPr>
          <a:xfrm>
            <a:off x="548640" y="3904487"/>
            <a:ext cx="11094415" cy="457200"/>
          </a:xfrm>
          <a:prstGeom prst="roundRect">
            <a:avLst>
              <a:gd name="adj" fmla="val 20000"/>
            </a:avLst>
          </a:prstGeom>
          <a:solidFill>
            <a:srgbClr val="F4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31520" y="3904487"/>
            <a:ext cx="2377440" cy="457200"/>
          </a:xfrm>
          <a:prstGeom prst="rect">
            <a:avLst/>
          </a:prstGeom>
          <a:noFill/>
        </p:spPr>
        <p:txBody>
          <a:bodyPr wrap="square" anchor="ctr" lIns="0" rIns="0" tIns="0" bIns="0">
            <a:spAutoFit/>
          </a:bodyPr>
          <a:lstStyle/>
          <a:p>
            <a:pPr algn="l"/>
            <a:r>
              <a:rPr sz="1400" b="1" i="0">
                <a:solidFill>
                  <a:srgbClr val="151514"/>
                </a:solidFill>
                <a:latin typeface="Calibri"/>
              </a:rPr>
              <a:t>Plasticity</a:t>
            </a:r>
          </a:p>
        </p:txBody>
      </p:sp>
      <p:sp>
        <p:nvSpPr>
          <p:cNvPr id="18" name="TextBox 17"/>
          <p:cNvSpPr txBox="1"/>
          <p:nvPr/>
        </p:nvSpPr>
        <p:spPr>
          <a:xfrm>
            <a:off x="3017520" y="3904487"/>
            <a:ext cx="8534095" cy="457200"/>
          </a:xfrm>
          <a:prstGeom prst="rect">
            <a:avLst/>
          </a:prstGeom>
          <a:noFill/>
        </p:spPr>
        <p:txBody>
          <a:bodyPr wrap="square" anchor="ctr" lIns="0" rIns="0" tIns="0" bIns="0">
            <a:spAutoFit/>
          </a:bodyPr>
          <a:lstStyle/>
          <a:p>
            <a:pPr algn="l"/>
            <a:r>
              <a:rPr sz="1350" b="0" i="0">
                <a:solidFill>
                  <a:srgbClr val="52514E"/>
                </a:solidFill>
                <a:latin typeface="Calibri"/>
              </a:rPr>
              <a:t>α = 0.03; homeostasis target 0.15, rate 0.01</a:t>
            </a:r>
          </a:p>
        </p:txBody>
      </p:sp>
      <p:sp>
        <p:nvSpPr>
          <p:cNvPr id="19" name="Rounded Rectangle 18"/>
          <p:cNvSpPr/>
          <p:nvPr/>
        </p:nvSpPr>
        <p:spPr>
          <a:xfrm>
            <a:off x="548640" y="4434840"/>
            <a:ext cx="11094415" cy="457200"/>
          </a:xfrm>
          <a:prstGeom prst="roundRect">
            <a:avLst>
              <a:gd name="adj" fmla="val 20000"/>
            </a:avLst>
          </a:prstGeom>
          <a:solidFill>
            <a:srgbClr val="FA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31520" y="4434840"/>
            <a:ext cx="2377440" cy="457200"/>
          </a:xfrm>
          <a:prstGeom prst="rect">
            <a:avLst/>
          </a:prstGeom>
          <a:noFill/>
        </p:spPr>
        <p:txBody>
          <a:bodyPr wrap="square" anchor="ctr" lIns="0" rIns="0" tIns="0" bIns="0">
            <a:spAutoFit/>
          </a:bodyPr>
          <a:lstStyle/>
          <a:p>
            <a:pPr algn="l"/>
            <a:r>
              <a:rPr sz="1400" b="1" i="0">
                <a:solidFill>
                  <a:srgbClr val="151514"/>
                </a:solidFill>
                <a:latin typeface="Calibri"/>
              </a:rPr>
              <a:t>Sleep</a:t>
            </a:r>
          </a:p>
        </p:txBody>
      </p:sp>
      <p:sp>
        <p:nvSpPr>
          <p:cNvPr id="21" name="TextBox 20"/>
          <p:cNvSpPr txBox="1"/>
          <p:nvPr/>
        </p:nvSpPr>
        <p:spPr>
          <a:xfrm>
            <a:off x="3017520" y="4434840"/>
            <a:ext cx="8534095" cy="457200"/>
          </a:xfrm>
          <a:prstGeom prst="rect">
            <a:avLst/>
          </a:prstGeom>
          <a:noFill/>
        </p:spPr>
        <p:txBody>
          <a:bodyPr wrap="square" anchor="ctr" lIns="0" rIns="0" tIns="0" bIns="0">
            <a:spAutoFit/>
          </a:bodyPr>
          <a:lstStyle/>
          <a:p>
            <a:pPr algn="l"/>
            <a:r>
              <a:rPr sz="1350" b="0" i="0">
                <a:solidFill>
                  <a:srgbClr val="52514E"/>
                </a:solidFill>
                <a:latin typeface="Calibri"/>
              </a:rPr>
              <a:t>every 25 updates + task end; 700 steps per phase; 5,000 states per task</a:t>
            </a:r>
          </a:p>
        </p:txBody>
      </p:sp>
      <p:sp>
        <p:nvSpPr>
          <p:cNvPr id="22" name="Rounded Rectangle 21"/>
          <p:cNvSpPr/>
          <p:nvPr/>
        </p:nvSpPr>
        <p:spPr>
          <a:xfrm>
            <a:off x="548640" y="4965192"/>
            <a:ext cx="11094415" cy="457200"/>
          </a:xfrm>
          <a:prstGeom prst="roundRect">
            <a:avLst>
              <a:gd name="adj" fmla="val 20000"/>
            </a:avLst>
          </a:prstGeom>
          <a:solidFill>
            <a:srgbClr val="F4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31520" y="4965192"/>
            <a:ext cx="2377440" cy="457200"/>
          </a:xfrm>
          <a:prstGeom prst="rect">
            <a:avLst/>
          </a:prstGeom>
          <a:noFill/>
        </p:spPr>
        <p:txBody>
          <a:bodyPr wrap="square" anchor="ctr" lIns="0" rIns="0" tIns="0" bIns="0">
            <a:spAutoFit/>
          </a:bodyPr>
          <a:lstStyle/>
          <a:p>
            <a:pPr algn="l"/>
            <a:r>
              <a:rPr sz="1400" b="1" i="0">
                <a:solidFill>
                  <a:srgbClr val="151514"/>
                </a:solidFill>
                <a:latin typeface="Calibri"/>
              </a:rPr>
              <a:t>Evaluation</a:t>
            </a:r>
          </a:p>
        </p:txBody>
      </p:sp>
      <p:sp>
        <p:nvSpPr>
          <p:cNvPr id="24" name="TextBox 23"/>
          <p:cNvSpPr txBox="1"/>
          <p:nvPr/>
        </p:nvSpPr>
        <p:spPr>
          <a:xfrm>
            <a:off x="3017520" y="4965192"/>
            <a:ext cx="8534095" cy="457200"/>
          </a:xfrm>
          <a:prstGeom prst="rect">
            <a:avLst/>
          </a:prstGeom>
          <a:noFill/>
        </p:spPr>
        <p:txBody>
          <a:bodyPr wrap="square" anchor="ctr" lIns="0" rIns="0" tIns="0" bIns="0">
            <a:spAutoFit/>
          </a:bodyPr>
          <a:lstStyle/>
          <a:p>
            <a:pPr algn="l"/>
            <a:r>
              <a:rPr sz="1350" b="0" i="0">
                <a:solidFill>
                  <a:srgbClr val="52514E"/>
                </a:solidFill>
                <a:latin typeface="Calibri"/>
              </a:rPr>
              <a:t>100 episodes per task (continual); 200 (single task)</a:t>
            </a:r>
          </a:p>
        </p:txBody>
      </p:sp>
      <p:sp>
        <p:nvSpPr>
          <p:cNvPr id="25" name="Rounded Rectangle 24"/>
          <p:cNvSpPr/>
          <p:nvPr/>
        </p:nvSpPr>
        <p:spPr>
          <a:xfrm>
            <a:off x="548640" y="5495544"/>
            <a:ext cx="11094415" cy="457200"/>
          </a:xfrm>
          <a:prstGeom prst="roundRect">
            <a:avLst>
              <a:gd name="adj" fmla="val 20000"/>
            </a:avLst>
          </a:prstGeom>
          <a:solidFill>
            <a:srgbClr val="FA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31520" y="5495544"/>
            <a:ext cx="2377440" cy="457200"/>
          </a:xfrm>
          <a:prstGeom prst="rect">
            <a:avLst/>
          </a:prstGeom>
          <a:noFill/>
        </p:spPr>
        <p:txBody>
          <a:bodyPr wrap="square" anchor="ctr" lIns="0" rIns="0" tIns="0" bIns="0">
            <a:spAutoFit/>
          </a:bodyPr>
          <a:lstStyle/>
          <a:p>
            <a:pPr algn="l"/>
            <a:r>
              <a:rPr sz="1400" b="1" i="0">
                <a:solidFill>
                  <a:srgbClr val="151514"/>
                </a:solidFill>
                <a:latin typeface="Calibri"/>
              </a:rPr>
              <a:t>Memory accounting</a:t>
            </a:r>
          </a:p>
        </p:txBody>
      </p:sp>
      <p:sp>
        <p:nvSpPr>
          <p:cNvPr id="27" name="TextBox 26"/>
          <p:cNvSpPr txBox="1"/>
          <p:nvPr/>
        </p:nvSpPr>
        <p:spPr>
          <a:xfrm>
            <a:off x="3017520" y="5495544"/>
            <a:ext cx="8534095" cy="457200"/>
          </a:xfrm>
          <a:prstGeom prst="rect">
            <a:avLst/>
          </a:prstGeom>
          <a:noFill/>
        </p:spPr>
        <p:txBody>
          <a:bodyPr wrap="square" anchor="ctr" lIns="0" rIns="0" tIns="0" bIns="0">
            <a:spAutoFit/>
          </a:bodyPr>
          <a:lstStyle/>
          <a:p>
            <a:pPr algn="l"/>
            <a:r>
              <a:rPr sz="1350" b="0" i="0">
                <a:solidFill>
                  <a:srgbClr val="52514E"/>
                </a:solidFill>
                <a:latin typeface="Calibri"/>
              </a:rPr>
              <a:t>188 B/state (CNN, SNN); 632 B/state (SNN+Transformer)</a:t>
            </a:r>
          </a:p>
        </p:txBody>
      </p:sp>
      <p:sp>
        <p:nvSpPr>
          <p:cNvPr id="28" name="TextBox 27"/>
          <p:cNvSpPr txBox="1"/>
          <p:nvPr/>
        </p:nvSpPr>
        <p:spPr>
          <a:xfrm>
            <a:off x="548640" y="6446520"/>
            <a:ext cx="5486400" cy="274320"/>
          </a:xfrm>
          <a:prstGeom prst="rect">
            <a:avLst/>
          </a:prstGeom>
          <a:noFill/>
        </p:spPr>
        <p:txBody>
          <a:bodyPr wrap="square" anchor="t" lIns="0" rIns="0" tIns="0" bIns="0">
            <a:spAutoFit/>
          </a:bodyPr>
          <a:lstStyle/>
          <a:p>
            <a:pPr algn="l"/>
            <a:r>
              <a:rPr sz="1000" b="0" i="0">
                <a:solidFill>
                  <a:srgbClr val="85837D"/>
                </a:solidFill>
                <a:latin typeface="Calibri"/>
              </a:rPr>
              <a:t>NeuroPlast · final review</a:t>
            </a:r>
          </a:p>
        </p:txBody>
      </p:sp>
      <p:sp>
        <p:nvSpPr>
          <p:cNvPr id="29" name="TextBox 28"/>
          <p:cNvSpPr txBox="1"/>
          <p:nvPr/>
        </p:nvSpPr>
        <p:spPr>
          <a:xfrm>
            <a:off x="9814255" y="6446520"/>
            <a:ext cx="1828800" cy="274320"/>
          </a:xfrm>
          <a:prstGeom prst="rect">
            <a:avLst/>
          </a:prstGeom>
          <a:noFill/>
        </p:spPr>
        <p:txBody>
          <a:bodyPr wrap="square" anchor="t" lIns="0" rIns="0" tIns="0" bIns="0">
            <a:spAutoFit/>
          </a:bodyPr>
          <a:lstStyle/>
          <a:p>
            <a:pPr algn="r"/>
            <a:r>
              <a:rPr sz="1000" b="0" i="0">
                <a:solidFill>
                  <a:srgbClr val="85837D"/>
                </a:solidFill>
                <a:latin typeface="Calibri"/>
              </a:rPr>
              <a:t>B3 / 15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320040"/>
          </a:xfrm>
          <a:prstGeom prst="rect">
            <a:avLst/>
          </a:prstGeom>
          <a:noFill/>
        </p:spPr>
        <p:txBody>
          <a:bodyPr wrap="square" anchor="t" lIns="0" rIns="0" tIns="0" bIns="0">
            <a:spAutoFit/>
          </a:bodyPr>
          <a:lstStyle/>
          <a:p>
            <a:pPr algn="l"/>
            <a:r>
              <a:rPr sz="1200" b="1" i="0">
                <a:solidFill>
                  <a:srgbClr val="2A78D6"/>
                </a:solidFill>
                <a:latin typeface="Calibri"/>
              </a:rPr>
              <a:t>BACKUP</a:t>
            </a:r>
          </a:p>
        </p:txBody>
      </p:sp>
      <p:sp>
        <p:nvSpPr>
          <p:cNvPr id="3" name="TextBox 2"/>
          <p:cNvSpPr txBox="1"/>
          <p:nvPr/>
        </p:nvSpPr>
        <p:spPr>
          <a:xfrm>
            <a:off x="548640" y="740664"/>
            <a:ext cx="11094415" cy="822960"/>
          </a:xfrm>
          <a:prstGeom prst="rect">
            <a:avLst/>
          </a:prstGeom>
          <a:noFill/>
        </p:spPr>
        <p:txBody>
          <a:bodyPr wrap="square" anchor="t" lIns="0" rIns="0" tIns="0" bIns="0">
            <a:spAutoFit/>
          </a:bodyPr>
          <a:lstStyle/>
          <a:p>
            <a:pPr algn="l"/>
            <a:r>
              <a:rPr sz="3000" b="1" i="0">
                <a:solidFill>
                  <a:srgbClr val="151514"/>
                </a:solidFill>
                <a:latin typeface="Cambria"/>
              </a:rPr>
              <a:t>Backup: references</a:t>
            </a:r>
          </a:p>
        </p:txBody>
      </p:sp>
      <p:sp>
        <p:nvSpPr>
          <p:cNvPr id="4" name="TextBox 3"/>
          <p:cNvSpPr txBox="1"/>
          <p:nvPr/>
        </p:nvSpPr>
        <p:spPr>
          <a:xfrm>
            <a:off x="548640" y="1737360"/>
            <a:ext cx="5394960" cy="4572000"/>
          </a:xfrm>
          <a:prstGeom prst="rect">
            <a:avLst/>
          </a:prstGeom>
          <a:noFill/>
        </p:spPr>
        <p:txBody>
          <a:bodyPr wrap="square" anchor="t" lIns="0" rIns="0" tIns="0" bIns="0">
            <a:spAutoFit/>
          </a:bodyPr>
          <a:lstStyle/>
          <a:p>
            <a:pPr algn="l">
              <a:spcAft>
                <a:spcPts val="500"/>
              </a:spcAft>
            </a:pPr>
            <a:r>
              <a:rPr sz="1150" b="0" i="0">
                <a:solidFill>
                  <a:srgbClr val="52514E"/>
                </a:solidFill>
                <a:latin typeface="Calibri"/>
              </a:rPr>
              <a:t>Bi &amp; Poo (1998). Synaptic modifications in cultured hippocampal neurons. J. Neurosci.</a:t>
            </a:r>
          </a:p>
          <a:p>
            <a:pPr algn="l">
              <a:spcAft>
                <a:spcPts val="500"/>
              </a:spcAft>
            </a:pPr>
            <a:r>
              <a:rPr sz="1150" b="0" i="0">
                <a:solidFill>
                  <a:srgbClr val="52514E"/>
                </a:solidFill>
                <a:latin typeface="Calibri"/>
              </a:rPr>
              <a:t>Chaudhry et al. (2018). Riemannian walk for incremental learning. ECCV.</a:t>
            </a:r>
          </a:p>
          <a:p>
            <a:pPr algn="l">
              <a:spcAft>
                <a:spcPts val="500"/>
              </a:spcAft>
            </a:pPr>
            <a:r>
              <a:rPr sz="1150" b="0" i="0">
                <a:solidFill>
                  <a:srgbClr val="52514E"/>
                </a:solidFill>
                <a:latin typeface="Calibri"/>
              </a:rPr>
              <a:t>Chevalier-Boisvert et al. (2023). Minigrid &amp; Miniworld. NeurIPS Datasets and Benchmarks.</a:t>
            </a:r>
          </a:p>
          <a:p>
            <a:pPr algn="l">
              <a:spcAft>
                <a:spcPts val="500"/>
              </a:spcAft>
            </a:pPr>
            <a:r>
              <a:rPr sz="1150" b="0" i="0">
                <a:solidFill>
                  <a:srgbClr val="52514E"/>
                </a:solidFill>
                <a:latin typeface="Calibri"/>
              </a:rPr>
              <a:t>Frémaux &amp; Gerstner (2016). Neuromodulated STDP and three-factor learning rules. Front. Neural Circuits.</a:t>
            </a:r>
          </a:p>
          <a:p>
            <a:pPr algn="l">
              <a:spcAft>
                <a:spcPts val="500"/>
              </a:spcAft>
            </a:pPr>
            <a:r>
              <a:rPr sz="1150" b="0" i="0">
                <a:solidFill>
                  <a:srgbClr val="52514E"/>
                </a:solidFill>
                <a:latin typeface="Calibri"/>
              </a:rPr>
              <a:t>Holm (1979). A simple sequentially rejective multiple test procedure. Scand. J. Statistics.</a:t>
            </a:r>
          </a:p>
          <a:p>
            <a:pPr algn="l">
              <a:spcAft>
                <a:spcPts val="500"/>
              </a:spcAft>
            </a:pPr>
            <a:r>
              <a:rPr sz="1150" b="0" i="0">
                <a:solidFill>
                  <a:srgbClr val="52514E"/>
                </a:solidFill>
                <a:latin typeface="Calibri"/>
              </a:rPr>
              <a:t>Khetarpal et al. (2022). Towards continual reinforcement learning: a review. JAIR.</a:t>
            </a:r>
          </a:p>
          <a:p>
            <a:pPr algn="l">
              <a:spcAft>
                <a:spcPts val="500"/>
              </a:spcAft>
            </a:pPr>
            <a:r>
              <a:rPr sz="1150" b="0" i="0">
                <a:solidFill>
                  <a:srgbClr val="52514E"/>
                </a:solidFill>
                <a:latin typeface="Calibri"/>
              </a:rPr>
              <a:t>Kirkpatrick et al. (2017). Overcoming catastrophic forgetting in neural networks. PNAS.</a:t>
            </a:r>
          </a:p>
          <a:p>
            <a:pPr algn="l">
              <a:spcAft>
                <a:spcPts val="500"/>
              </a:spcAft>
            </a:pPr>
            <a:r>
              <a:rPr sz="1150" b="0" i="0">
                <a:solidFill>
                  <a:srgbClr val="52514E"/>
                </a:solidFill>
                <a:latin typeface="Calibri"/>
              </a:rPr>
              <a:t>Mallya &amp; Lazebnik (2018). PackNet. CVPR.</a:t>
            </a:r>
          </a:p>
          <a:p>
            <a:pPr algn="l">
              <a:spcAft>
                <a:spcPts val="500"/>
              </a:spcAft>
            </a:pPr>
            <a:r>
              <a:rPr sz="1150" b="0" i="0">
                <a:solidFill>
                  <a:srgbClr val="52514E"/>
                </a:solidFill>
                <a:latin typeface="Calibri"/>
              </a:rPr>
              <a:t>Neftci, Mostafa &amp; Zenke (2019). Surrogate gradient learning in SNNs. IEEE Signal Proc. Mag.</a:t>
            </a:r>
          </a:p>
        </p:txBody>
      </p:sp>
      <p:sp>
        <p:nvSpPr>
          <p:cNvPr id="5" name="TextBox 4"/>
          <p:cNvSpPr txBox="1"/>
          <p:nvPr/>
        </p:nvSpPr>
        <p:spPr>
          <a:xfrm>
            <a:off x="6126479" y="1737360"/>
            <a:ext cx="5394960" cy="4572000"/>
          </a:xfrm>
          <a:prstGeom prst="rect">
            <a:avLst/>
          </a:prstGeom>
          <a:noFill/>
        </p:spPr>
        <p:txBody>
          <a:bodyPr wrap="square" anchor="t" lIns="0" rIns="0" tIns="0" bIns="0">
            <a:spAutoFit/>
          </a:bodyPr>
          <a:lstStyle/>
          <a:p>
            <a:pPr algn="l">
              <a:spcAft>
                <a:spcPts val="500"/>
              </a:spcAft>
            </a:pPr>
            <a:r>
              <a:rPr sz="1150" b="0" i="0">
                <a:solidFill>
                  <a:srgbClr val="52514E"/>
                </a:solidFill>
                <a:latin typeface="Calibri"/>
              </a:rPr>
              <a:t>Nøkland (2016). Direct feedback alignment. NeurIPS.</a:t>
            </a:r>
          </a:p>
          <a:p>
            <a:pPr algn="l">
              <a:spcAft>
                <a:spcPts val="500"/>
              </a:spcAft>
            </a:pPr>
            <a:r>
              <a:rPr sz="1150" b="0" i="0">
                <a:solidFill>
                  <a:srgbClr val="52514E"/>
                </a:solidFill>
                <a:latin typeface="Calibri"/>
              </a:rPr>
              <a:t>Pandey &amp; Biswas (2025). Spiking decision transformers. arXiv:2508.21505.</a:t>
            </a:r>
          </a:p>
          <a:p>
            <a:pPr algn="l">
              <a:spcAft>
                <a:spcPts val="500"/>
              </a:spcAft>
            </a:pPr>
            <a:r>
              <a:rPr sz="1150" b="0" i="0">
                <a:solidFill>
                  <a:srgbClr val="52514E"/>
                </a:solidFill>
                <a:latin typeface="Calibri"/>
              </a:rPr>
              <a:t>Rolnick et al. (2019). Experience replay for continual learning (CLEAR). NeurIPS.</a:t>
            </a:r>
          </a:p>
          <a:p>
            <a:pPr algn="l">
              <a:spcAft>
                <a:spcPts val="500"/>
              </a:spcAft>
            </a:pPr>
            <a:r>
              <a:rPr sz="1150" b="0" i="0">
                <a:solidFill>
                  <a:srgbClr val="52514E"/>
                </a:solidFill>
                <a:latin typeface="Calibri"/>
              </a:rPr>
              <a:t>Schulman et al. (2017). Proximal policy optimization algorithms. arXiv:1707.06347.</a:t>
            </a:r>
          </a:p>
          <a:p>
            <a:pPr algn="l">
              <a:spcAft>
                <a:spcPts val="500"/>
              </a:spcAft>
            </a:pPr>
            <a:r>
              <a:rPr sz="1150" b="0" i="0">
                <a:solidFill>
                  <a:srgbClr val="52514E"/>
                </a:solidFill>
                <a:latin typeface="Calibri"/>
              </a:rPr>
              <a:t>Tadros et al. (2022). Sleep-like unsupervised replay reduces catastrophic forgetting. Nat. Commun.</a:t>
            </a:r>
          </a:p>
          <a:p>
            <a:pPr algn="l">
              <a:spcAft>
                <a:spcPts val="500"/>
              </a:spcAft>
            </a:pPr>
            <a:r>
              <a:rPr sz="1150" b="0" i="0">
                <a:solidFill>
                  <a:srgbClr val="52514E"/>
                </a:solidFill>
                <a:latin typeface="Calibri"/>
              </a:rPr>
              <a:t>Turrigiano &amp; Nelson (2004). Homeostatic plasticity in the developing nervous system. Nat. Rev. Neurosci.</a:t>
            </a:r>
          </a:p>
          <a:p>
            <a:pPr algn="l">
              <a:spcAft>
                <a:spcPts val="500"/>
              </a:spcAft>
            </a:pPr>
            <a:r>
              <a:rPr sz="1150" b="0" i="0">
                <a:solidFill>
                  <a:srgbClr val="52514E"/>
                </a:solidFill>
                <a:latin typeface="Calibri"/>
              </a:rPr>
              <a:t>Van den Berghe et al. (2025). Adaptive surrogate gradients for sequential RL in SNNs. NeurIPS.</a:t>
            </a:r>
          </a:p>
          <a:p>
            <a:pPr algn="l">
              <a:spcAft>
                <a:spcPts val="500"/>
              </a:spcAft>
            </a:pPr>
            <a:r>
              <a:rPr sz="1150" b="0" i="0">
                <a:solidFill>
                  <a:srgbClr val="52514E"/>
                </a:solidFill>
                <a:latin typeface="Calibri"/>
              </a:rPr>
              <a:t>Wołczyk et al. (2021). Continual World. NeurIPS.</a:t>
            </a:r>
          </a:p>
        </p:txBody>
      </p:sp>
      <p:sp>
        <p:nvSpPr>
          <p:cNvPr id="6" name="TextBox 5"/>
          <p:cNvSpPr txBox="1"/>
          <p:nvPr/>
        </p:nvSpPr>
        <p:spPr>
          <a:xfrm>
            <a:off x="548640" y="6446520"/>
            <a:ext cx="5486400" cy="274320"/>
          </a:xfrm>
          <a:prstGeom prst="rect">
            <a:avLst/>
          </a:prstGeom>
          <a:noFill/>
        </p:spPr>
        <p:txBody>
          <a:bodyPr wrap="square" anchor="t" lIns="0" rIns="0" tIns="0" bIns="0">
            <a:spAutoFit/>
          </a:bodyPr>
          <a:lstStyle/>
          <a:p>
            <a:pPr algn="l"/>
            <a:r>
              <a:rPr sz="1000" b="0" i="0">
                <a:solidFill>
                  <a:srgbClr val="85837D"/>
                </a:solidFill>
                <a:latin typeface="Calibri"/>
              </a:rPr>
              <a:t>NeuroPlast · final review</a:t>
            </a:r>
          </a:p>
        </p:txBody>
      </p:sp>
      <p:sp>
        <p:nvSpPr>
          <p:cNvPr id="7" name="TextBox 6"/>
          <p:cNvSpPr txBox="1"/>
          <p:nvPr/>
        </p:nvSpPr>
        <p:spPr>
          <a:xfrm>
            <a:off x="9814255" y="6446520"/>
            <a:ext cx="1828800" cy="274320"/>
          </a:xfrm>
          <a:prstGeom prst="rect">
            <a:avLst/>
          </a:prstGeom>
          <a:noFill/>
        </p:spPr>
        <p:txBody>
          <a:bodyPr wrap="square" anchor="t" lIns="0" rIns="0" tIns="0" bIns="0">
            <a:spAutoFit/>
          </a:bodyPr>
          <a:lstStyle/>
          <a:p>
            <a:pPr algn="r"/>
            <a:r>
              <a:rPr sz="1000" b="0" i="0">
                <a:solidFill>
                  <a:srgbClr val="85837D"/>
                </a:solidFill>
                <a:latin typeface="Calibri"/>
              </a:rPr>
              <a:t>B4 / 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